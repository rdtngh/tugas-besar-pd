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ptos Bold" charset="1" panose="020B0004020202020204"/>
      <p:regular r:id="rId19"/>
    </p:embeddedFont>
    <p:embeddedFont>
      <p:font typeface="Aptos" charset="1" panose="020B00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211074"/>
            <a:chOff x="0" y="0"/>
            <a:chExt cx="24408790" cy="2814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3364" cy="256032"/>
            </a:xfrm>
            <a:custGeom>
              <a:avLst/>
              <a:gdLst/>
              <a:ahLst/>
              <a:cxnLst/>
              <a:rect r="r" b="b" t="t" l="l"/>
              <a:pathLst>
                <a:path h="25603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81432"/>
            </a:xfrm>
            <a:custGeom>
              <a:avLst/>
              <a:gdLst/>
              <a:ahLst/>
              <a:cxnLst/>
              <a:rect r="r" b="b" t="t" l="l"/>
              <a:pathLst>
                <a:path h="281432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268732"/>
                  </a:lnTo>
                  <a:cubicBezTo>
                    <a:pt x="24408764" y="275717"/>
                    <a:pt x="24403050" y="281432"/>
                    <a:pt x="24396064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24396064" y="256032"/>
                  </a:lnTo>
                  <a:lnTo>
                    <a:pt x="24396064" y="268732"/>
                  </a:lnTo>
                  <a:lnTo>
                    <a:pt x="24383364" y="268732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655445" y="7945755"/>
            <a:ext cx="4408170" cy="4408170"/>
            <a:chOff x="0" y="0"/>
            <a:chExt cx="5877560" cy="5877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566160" y="1645059"/>
            <a:ext cx="12070080" cy="2195419"/>
            <a:chOff x="0" y="0"/>
            <a:chExt cx="16093440" cy="29272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093439" cy="2927226"/>
            </a:xfrm>
            <a:custGeom>
              <a:avLst/>
              <a:gdLst/>
              <a:ahLst/>
              <a:cxnLst/>
              <a:rect r="r" b="b" t="t" l="l"/>
              <a:pathLst>
                <a:path h="2927226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2927226"/>
                  </a:lnTo>
                  <a:lnTo>
                    <a:pt x="0" y="29272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17" r="0" b="-502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16093440" cy="2917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PERBANDINGAN METODE IMPUTASI</a:t>
              </a:r>
            </a:p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MISSING VALUE TERHADAP KINERJA</a:t>
              </a:r>
            </a:p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 KLASIFIKASI PADA DATASET DIABETES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59505" y="4360545"/>
            <a:ext cx="3996690" cy="457962"/>
            <a:chOff x="0" y="0"/>
            <a:chExt cx="5328920" cy="6106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00" y="12700"/>
              <a:ext cx="530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5303520">
                  <a:moveTo>
                    <a:pt x="0" y="146304"/>
                  </a:moveTo>
                  <a:cubicBezTo>
                    <a:pt x="0" y="65532"/>
                    <a:pt x="68072" y="0"/>
                    <a:pt x="151892" y="0"/>
                  </a:cubicBezTo>
                  <a:lnTo>
                    <a:pt x="5151628" y="0"/>
                  </a:lnTo>
                  <a:cubicBezTo>
                    <a:pt x="5235575" y="0"/>
                    <a:pt x="5303520" y="65532"/>
                    <a:pt x="5303520" y="146304"/>
                  </a:cubicBezTo>
                  <a:lnTo>
                    <a:pt x="5303520" y="438912"/>
                  </a:lnTo>
                  <a:cubicBezTo>
                    <a:pt x="5303520" y="519684"/>
                    <a:pt x="5235448" y="585216"/>
                    <a:pt x="5151628" y="585216"/>
                  </a:cubicBezTo>
                  <a:lnTo>
                    <a:pt x="151892" y="585216"/>
                  </a:lnTo>
                  <a:cubicBezTo>
                    <a:pt x="68072" y="585216"/>
                    <a:pt x="0" y="519684"/>
                    <a:pt x="0" y="438912"/>
                  </a:cubicBezTo>
                  <a:close/>
                </a:path>
              </a:pathLst>
            </a:custGeom>
            <a:solidFill>
              <a:srgbClr val="EAF4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8920" cy="610616"/>
            </a:xfrm>
            <a:custGeom>
              <a:avLst/>
              <a:gdLst/>
              <a:ahLst/>
              <a:cxnLst/>
              <a:rect r="r" b="b" t="t" l="l"/>
              <a:pathLst>
                <a:path h="610616" w="5328920">
                  <a:moveTo>
                    <a:pt x="0" y="159004"/>
                  </a:moveTo>
                  <a:cubicBezTo>
                    <a:pt x="0" y="70739"/>
                    <a:pt x="74168" y="0"/>
                    <a:pt x="164592" y="0"/>
                  </a:cubicBezTo>
                  <a:lnTo>
                    <a:pt x="5164328" y="0"/>
                  </a:lnTo>
                  <a:lnTo>
                    <a:pt x="5164328" y="12700"/>
                  </a:lnTo>
                  <a:lnTo>
                    <a:pt x="5164328" y="0"/>
                  </a:lnTo>
                  <a:cubicBezTo>
                    <a:pt x="5254752" y="0"/>
                    <a:pt x="5328920" y="70739"/>
                    <a:pt x="5328920" y="159004"/>
                  </a:cubicBezTo>
                  <a:lnTo>
                    <a:pt x="5316220" y="159004"/>
                  </a:lnTo>
                  <a:lnTo>
                    <a:pt x="5328920" y="159004"/>
                  </a:lnTo>
                  <a:lnTo>
                    <a:pt x="5328920" y="451612"/>
                  </a:lnTo>
                  <a:lnTo>
                    <a:pt x="5316220" y="451612"/>
                  </a:lnTo>
                  <a:lnTo>
                    <a:pt x="5328920" y="451612"/>
                  </a:lnTo>
                  <a:cubicBezTo>
                    <a:pt x="5328920" y="539877"/>
                    <a:pt x="5254752" y="610616"/>
                    <a:pt x="5164328" y="610616"/>
                  </a:cubicBezTo>
                  <a:lnTo>
                    <a:pt x="5164328" y="597916"/>
                  </a:lnTo>
                  <a:lnTo>
                    <a:pt x="5164328" y="610616"/>
                  </a:lnTo>
                  <a:lnTo>
                    <a:pt x="164592" y="610616"/>
                  </a:lnTo>
                  <a:lnTo>
                    <a:pt x="164592" y="597916"/>
                  </a:lnTo>
                  <a:lnTo>
                    <a:pt x="164592" y="610616"/>
                  </a:lnTo>
                  <a:cubicBezTo>
                    <a:pt x="74168" y="610616"/>
                    <a:pt x="0" y="539877"/>
                    <a:pt x="0" y="451612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451612"/>
                  </a:lnTo>
                  <a:lnTo>
                    <a:pt x="12700" y="451612"/>
                  </a:lnTo>
                  <a:lnTo>
                    <a:pt x="25400" y="451612"/>
                  </a:lnTo>
                  <a:cubicBezTo>
                    <a:pt x="25400" y="524891"/>
                    <a:pt x="87249" y="585216"/>
                    <a:pt x="164592" y="585216"/>
                  </a:cubicBezTo>
                  <a:lnTo>
                    <a:pt x="5164328" y="585216"/>
                  </a:lnTo>
                  <a:cubicBezTo>
                    <a:pt x="5241671" y="585216"/>
                    <a:pt x="5303520" y="524891"/>
                    <a:pt x="5303520" y="451612"/>
                  </a:cubicBezTo>
                  <a:lnTo>
                    <a:pt x="5303520" y="159004"/>
                  </a:lnTo>
                  <a:cubicBezTo>
                    <a:pt x="5303520" y="85725"/>
                    <a:pt x="5241671" y="25400"/>
                    <a:pt x="5164328" y="25400"/>
                  </a:cubicBezTo>
                  <a:lnTo>
                    <a:pt x="164592" y="25400"/>
                  </a:lnTo>
                  <a:lnTo>
                    <a:pt x="164592" y="12700"/>
                  </a:lnTo>
                  <a:lnTo>
                    <a:pt x="164592" y="25400"/>
                  </a:lnTo>
                  <a:cubicBezTo>
                    <a:pt x="87249" y="25400"/>
                    <a:pt x="25400" y="85725"/>
                    <a:pt x="25400" y="159004"/>
                  </a:cubicBezTo>
                  <a:close/>
                </a:path>
              </a:pathLst>
            </a:custGeom>
            <a:solidFill>
              <a:srgbClr val="EAF4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778758" y="4472940"/>
            <a:ext cx="3758184" cy="246888"/>
            <a:chOff x="0" y="0"/>
            <a:chExt cx="5010912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10912" cy="329184"/>
            </a:xfrm>
            <a:custGeom>
              <a:avLst/>
              <a:gdLst/>
              <a:ahLst/>
              <a:cxnLst/>
              <a:rect r="r" b="b" t="t" l="l"/>
              <a:pathLst>
                <a:path h="329184" w="5010912">
                  <a:moveTo>
                    <a:pt x="0" y="0"/>
                  </a:moveTo>
                  <a:lnTo>
                    <a:pt x="5010912" y="0"/>
                  </a:lnTo>
                  <a:lnTo>
                    <a:pt x="501091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605" r="0" b="-24660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01091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6"/>
                </a:lnSpc>
              </a:pPr>
              <a:r>
                <a:rPr lang="en-US" sz="130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Tugas Besar Data Mining • Semester 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84033" y="4360545"/>
            <a:ext cx="3448050" cy="457962"/>
            <a:chOff x="0" y="0"/>
            <a:chExt cx="4597400" cy="6106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4572000" cy="585216"/>
            </a:xfrm>
            <a:custGeom>
              <a:avLst/>
              <a:gdLst/>
              <a:ahLst/>
              <a:cxnLst/>
              <a:rect r="r" b="b" t="t" l="l"/>
              <a:pathLst>
                <a:path h="585216" w="4572000">
                  <a:moveTo>
                    <a:pt x="0" y="146304"/>
                  </a:moveTo>
                  <a:cubicBezTo>
                    <a:pt x="0" y="65532"/>
                    <a:pt x="67945" y="0"/>
                    <a:pt x="151765" y="0"/>
                  </a:cubicBezTo>
                  <a:lnTo>
                    <a:pt x="4420235" y="0"/>
                  </a:lnTo>
                  <a:cubicBezTo>
                    <a:pt x="4504055" y="0"/>
                    <a:pt x="4572000" y="65532"/>
                    <a:pt x="4572000" y="146304"/>
                  </a:cubicBezTo>
                  <a:lnTo>
                    <a:pt x="4572000" y="438912"/>
                  </a:lnTo>
                  <a:cubicBezTo>
                    <a:pt x="4572000" y="519684"/>
                    <a:pt x="4504055" y="585216"/>
                    <a:pt x="4420235" y="585216"/>
                  </a:cubicBezTo>
                  <a:lnTo>
                    <a:pt x="151765" y="585216"/>
                  </a:lnTo>
                  <a:cubicBezTo>
                    <a:pt x="67945" y="585216"/>
                    <a:pt x="0" y="519684"/>
                    <a:pt x="0" y="438912"/>
                  </a:cubicBezTo>
                  <a:close/>
                </a:path>
              </a:pathLst>
            </a:custGeom>
            <a:solidFill>
              <a:srgbClr val="EAFBF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97400" cy="610616"/>
            </a:xfrm>
            <a:custGeom>
              <a:avLst/>
              <a:gdLst/>
              <a:ahLst/>
              <a:cxnLst/>
              <a:rect r="r" b="b" t="t" l="l"/>
              <a:pathLst>
                <a:path h="610616" w="4597400">
                  <a:moveTo>
                    <a:pt x="0" y="159004"/>
                  </a:moveTo>
                  <a:cubicBezTo>
                    <a:pt x="0" y="70739"/>
                    <a:pt x="74041" y="0"/>
                    <a:pt x="164465" y="0"/>
                  </a:cubicBezTo>
                  <a:lnTo>
                    <a:pt x="4432935" y="0"/>
                  </a:lnTo>
                  <a:lnTo>
                    <a:pt x="4432935" y="12700"/>
                  </a:lnTo>
                  <a:lnTo>
                    <a:pt x="4432935" y="0"/>
                  </a:lnTo>
                  <a:cubicBezTo>
                    <a:pt x="4523359" y="0"/>
                    <a:pt x="4597400" y="70739"/>
                    <a:pt x="4597400" y="159004"/>
                  </a:cubicBezTo>
                  <a:lnTo>
                    <a:pt x="4584700" y="159004"/>
                  </a:lnTo>
                  <a:lnTo>
                    <a:pt x="4597400" y="159004"/>
                  </a:lnTo>
                  <a:lnTo>
                    <a:pt x="4597400" y="451612"/>
                  </a:lnTo>
                  <a:lnTo>
                    <a:pt x="4584700" y="451612"/>
                  </a:lnTo>
                  <a:lnTo>
                    <a:pt x="4597400" y="451612"/>
                  </a:lnTo>
                  <a:cubicBezTo>
                    <a:pt x="4597400" y="539877"/>
                    <a:pt x="4523359" y="610616"/>
                    <a:pt x="4432935" y="610616"/>
                  </a:cubicBezTo>
                  <a:lnTo>
                    <a:pt x="4432935" y="597916"/>
                  </a:lnTo>
                  <a:lnTo>
                    <a:pt x="4432935" y="610616"/>
                  </a:lnTo>
                  <a:lnTo>
                    <a:pt x="164465" y="610616"/>
                  </a:lnTo>
                  <a:lnTo>
                    <a:pt x="164465" y="597916"/>
                  </a:lnTo>
                  <a:lnTo>
                    <a:pt x="164465" y="610616"/>
                  </a:lnTo>
                  <a:cubicBezTo>
                    <a:pt x="74041" y="610616"/>
                    <a:pt x="0" y="539877"/>
                    <a:pt x="0" y="451612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451612"/>
                  </a:lnTo>
                  <a:lnTo>
                    <a:pt x="12700" y="451612"/>
                  </a:lnTo>
                  <a:lnTo>
                    <a:pt x="25400" y="451612"/>
                  </a:lnTo>
                  <a:cubicBezTo>
                    <a:pt x="25400" y="525018"/>
                    <a:pt x="87249" y="585216"/>
                    <a:pt x="164465" y="585216"/>
                  </a:cubicBezTo>
                  <a:lnTo>
                    <a:pt x="4432935" y="585216"/>
                  </a:lnTo>
                  <a:cubicBezTo>
                    <a:pt x="4510151" y="585216"/>
                    <a:pt x="4572000" y="525018"/>
                    <a:pt x="4572000" y="451612"/>
                  </a:cubicBezTo>
                  <a:lnTo>
                    <a:pt x="4572000" y="159004"/>
                  </a:lnTo>
                  <a:cubicBezTo>
                    <a:pt x="4572000" y="85598"/>
                    <a:pt x="4510151" y="25400"/>
                    <a:pt x="4432935" y="25400"/>
                  </a:cubicBezTo>
                  <a:lnTo>
                    <a:pt x="164465" y="25400"/>
                  </a:lnTo>
                  <a:lnTo>
                    <a:pt x="164465" y="12700"/>
                  </a:lnTo>
                  <a:lnTo>
                    <a:pt x="164465" y="25400"/>
                  </a:lnTo>
                  <a:cubicBezTo>
                    <a:pt x="87249" y="25400"/>
                    <a:pt x="25400" y="85598"/>
                    <a:pt x="25400" y="159004"/>
                  </a:cubicBezTo>
                  <a:close/>
                </a:path>
              </a:pathLst>
            </a:custGeom>
            <a:solidFill>
              <a:srgbClr val="EAFBF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003286" y="4472940"/>
            <a:ext cx="3209544" cy="246888"/>
            <a:chOff x="0" y="0"/>
            <a:chExt cx="4279392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79392" cy="329184"/>
            </a:xfrm>
            <a:custGeom>
              <a:avLst/>
              <a:gdLst/>
              <a:ahLst/>
              <a:cxnLst/>
              <a:rect r="r" b="b" t="t" l="l"/>
              <a:pathLst>
                <a:path h="329184" w="4279392">
                  <a:moveTo>
                    <a:pt x="0" y="0"/>
                  </a:moveTo>
                  <a:lnTo>
                    <a:pt x="4279392" y="0"/>
                  </a:lnTo>
                  <a:lnTo>
                    <a:pt x="427939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27939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6"/>
                </a:lnSpc>
              </a:pPr>
              <a:r>
                <a:rPr lang="en-US" sz="1305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Dataset Pima Indians Diabetes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546205" y="4360545"/>
            <a:ext cx="3996690" cy="457962"/>
            <a:chOff x="0" y="0"/>
            <a:chExt cx="5328920" cy="6106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00" y="12700"/>
              <a:ext cx="5303520" cy="585216"/>
            </a:xfrm>
            <a:custGeom>
              <a:avLst/>
              <a:gdLst/>
              <a:ahLst/>
              <a:cxnLst/>
              <a:rect r="r" b="b" t="t" l="l"/>
              <a:pathLst>
                <a:path h="585216" w="5303520">
                  <a:moveTo>
                    <a:pt x="0" y="146304"/>
                  </a:moveTo>
                  <a:cubicBezTo>
                    <a:pt x="0" y="65532"/>
                    <a:pt x="68072" y="0"/>
                    <a:pt x="151892" y="0"/>
                  </a:cubicBezTo>
                  <a:lnTo>
                    <a:pt x="5151628" y="0"/>
                  </a:lnTo>
                  <a:cubicBezTo>
                    <a:pt x="5235575" y="0"/>
                    <a:pt x="5303520" y="65532"/>
                    <a:pt x="5303520" y="146304"/>
                  </a:cubicBezTo>
                  <a:lnTo>
                    <a:pt x="5303520" y="438912"/>
                  </a:lnTo>
                  <a:cubicBezTo>
                    <a:pt x="5303520" y="519684"/>
                    <a:pt x="5235448" y="585216"/>
                    <a:pt x="5151628" y="585216"/>
                  </a:cubicBezTo>
                  <a:lnTo>
                    <a:pt x="151892" y="585216"/>
                  </a:lnTo>
                  <a:cubicBezTo>
                    <a:pt x="68072" y="585216"/>
                    <a:pt x="0" y="519684"/>
                    <a:pt x="0" y="438912"/>
                  </a:cubicBezTo>
                  <a:close/>
                </a:path>
              </a:pathLst>
            </a:custGeom>
            <a:solidFill>
              <a:srgbClr val="FFF7E6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28920" cy="610616"/>
            </a:xfrm>
            <a:custGeom>
              <a:avLst/>
              <a:gdLst/>
              <a:ahLst/>
              <a:cxnLst/>
              <a:rect r="r" b="b" t="t" l="l"/>
              <a:pathLst>
                <a:path h="610616" w="5328920">
                  <a:moveTo>
                    <a:pt x="0" y="159004"/>
                  </a:moveTo>
                  <a:cubicBezTo>
                    <a:pt x="0" y="70739"/>
                    <a:pt x="74168" y="0"/>
                    <a:pt x="164592" y="0"/>
                  </a:cubicBezTo>
                  <a:lnTo>
                    <a:pt x="5164328" y="0"/>
                  </a:lnTo>
                  <a:lnTo>
                    <a:pt x="5164328" y="12700"/>
                  </a:lnTo>
                  <a:lnTo>
                    <a:pt x="5164328" y="0"/>
                  </a:lnTo>
                  <a:cubicBezTo>
                    <a:pt x="5254752" y="0"/>
                    <a:pt x="5328920" y="70739"/>
                    <a:pt x="5328920" y="159004"/>
                  </a:cubicBezTo>
                  <a:lnTo>
                    <a:pt x="5316220" y="159004"/>
                  </a:lnTo>
                  <a:lnTo>
                    <a:pt x="5328920" y="159004"/>
                  </a:lnTo>
                  <a:lnTo>
                    <a:pt x="5328920" y="451612"/>
                  </a:lnTo>
                  <a:lnTo>
                    <a:pt x="5316220" y="451612"/>
                  </a:lnTo>
                  <a:lnTo>
                    <a:pt x="5328920" y="451612"/>
                  </a:lnTo>
                  <a:cubicBezTo>
                    <a:pt x="5328920" y="539877"/>
                    <a:pt x="5254752" y="610616"/>
                    <a:pt x="5164328" y="610616"/>
                  </a:cubicBezTo>
                  <a:lnTo>
                    <a:pt x="5164328" y="597916"/>
                  </a:lnTo>
                  <a:lnTo>
                    <a:pt x="5164328" y="610616"/>
                  </a:lnTo>
                  <a:lnTo>
                    <a:pt x="164592" y="610616"/>
                  </a:lnTo>
                  <a:lnTo>
                    <a:pt x="164592" y="597916"/>
                  </a:lnTo>
                  <a:lnTo>
                    <a:pt x="164592" y="610616"/>
                  </a:lnTo>
                  <a:cubicBezTo>
                    <a:pt x="74168" y="610616"/>
                    <a:pt x="0" y="539877"/>
                    <a:pt x="0" y="451612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451612"/>
                  </a:lnTo>
                  <a:lnTo>
                    <a:pt x="12700" y="451612"/>
                  </a:lnTo>
                  <a:lnTo>
                    <a:pt x="25400" y="451612"/>
                  </a:lnTo>
                  <a:cubicBezTo>
                    <a:pt x="25400" y="524891"/>
                    <a:pt x="87249" y="585216"/>
                    <a:pt x="164592" y="585216"/>
                  </a:cubicBezTo>
                  <a:lnTo>
                    <a:pt x="5164328" y="585216"/>
                  </a:lnTo>
                  <a:cubicBezTo>
                    <a:pt x="5241671" y="585216"/>
                    <a:pt x="5303520" y="524891"/>
                    <a:pt x="5303520" y="451612"/>
                  </a:cubicBezTo>
                  <a:lnTo>
                    <a:pt x="5303520" y="159004"/>
                  </a:lnTo>
                  <a:cubicBezTo>
                    <a:pt x="5303520" y="85725"/>
                    <a:pt x="5241671" y="25400"/>
                    <a:pt x="5164328" y="25400"/>
                  </a:cubicBezTo>
                  <a:lnTo>
                    <a:pt x="164592" y="25400"/>
                  </a:lnTo>
                  <a:lnTo>
                    <a:pt x="164592" y="12700"/>
                  </a:lnTo>
                  <a:lnTo>
                    <a:pt x="164592" y="25400"/>
                  </a:lnTo>
                  <a:cubicBezTo>
                    <a:pt x="87249" y="25400"/>
                    <a:pt x="25400" y="85725"/>
                    <a:pt x="25400" y="159004"/>
                  </a:cubicBezTo>
                  <a:close/>
                </a:path>
              </a:pathLst>
            </a:custGeom>
            <a:solidFill>
              <a:srgbClr val="FFF7E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665458" y="4472940"/>
            <a:ext cx="3758184" cy="246888"/>
            <a:chOff x="0" y="0"/>
            <a:chExt cx="5010912" cy="3291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10912" cy="329184"/>
            </a:xfrm>
            <a:custGeom>
              <a:avLst/>
              <a:gdLst/>
              <a:ahLst/>
              <a:cxnLst/>
              <a:rect r="r" b="b" t="t" l="l"/>
              <a:pathLst>
                <a:path h="329184" w="5010912">
                  <a:moveTo>
                    <a:pt x="0" y="0"/>
                  </a:moveTo>
                  <a:lnTo>
                    <a:pt x="5010912" y="0"/>
                  </a:lnTo>
                  <a:lnTo>
                    <a:pt x="501091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605" r="0" b="-24660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01091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6"/>
                </a:lnSpc>
              </a:pPr>
              <a:r>
                <a:rPr lang="en-US" sz="1305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Random Forest • Mean • KNN • MICE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659505" y="5594985"/>
            <a:ext cx="11746230" cy="2350770"/>
            <a:chOff x="0" y="0"/>
            <a:chExt cx="15661640" cy="3134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15636239" cy="3108960"/>
            </a:xfrm>
            <a:custGeom>
              <a:avLst/>
              <a:gdLst/>
              <a:ahLst/>
              <a:cxnLst/>
              <a:rect r="r" b="b" t="t" l="l"/>
              <a:pathLst>
                <a:path h="3108960" w="15636239">
                  <a:moveTo>
                    <a:pt x="0" y="146304"/>
                  </a:moveTo>
                  <a:cubicBezTo>
                    <a:pt x="0" y="65532"/>
                    <a:pt x="65913" y="0"/>
                    <a:pt x="147320" y="0"/>
                  </a:cubicBezTo>
                  <a:lnTo>
                    <a:pt x="15488920" y="0"/>
                  </a:lnTo>
                  <a:cubicBezTo>
                    <a:pt x="15570200" y="0"/>
                    <a:pt x="15636239" y="65532"/>
                    <a:pt x="15636239" y="146304"/>
                  </a:cubicBezTo>
                  <a:lnTo>
                    <a:pt x="15636239" y="2962656"/>
                  </a:lnTo>
                  <a:cubicBezTo>
                    <a:pt x="15636239" y="3043428"/>
                    <a:pt x="15570327" y="3108960"/>
                    <a:pt x="15488920" y="3108960"/>
                  </a:cubicBezTo>
                  <a:lnTo>
                    <a:pt x="147320" y="3108960"/>
                  </a:lnTo>
                  <a:cubicBezTo>
                    <a:pt x="66040" y="3108960"/>
                    <a:pt x="0" y="3043428"/>
                    <a:pt x="0" y="29626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661639" cy="3134360"/>
            </a:xfrm>
            <a:custGeom>
              <a:avLst/>
              <a:gdLst/>
              <a:ahLst/>
              <a:cxnLst/>
              <a:rect r="r" b="b" t="t" l="l"/>
              <a:pathLst>
                <a:path h="3134360" w="15661639">
                  <a:moveTo>
                    <a:pt x="0" y="159004"/>
                  </a:moveTo>
                  <a:cubicBezTo>
                    <a:pt x="0" y="71120"/>
                    <a:pt x="71755" y="0"/>
                    <a:pt x="160020" y="0"/>
                  </a:cubicBezTo>
                  <a:lnTo>
                    <a:pt x="15501620" y="0"/>
                  </a:lnTo>
                  <a:lnTo>
                    <a:pt x="15501620" y="12700"/>
                  </a:lnTo>
                  <a:lnTo>
                    <a:pt x="15501620" y="0"/>
                  </a:lnTo>
                  <a:cubicBezTo>
                    <a:pt x="15589884" y="0"/>
                    <a:pt x="15661639" y="71120"/>
                    <a:pt x="15661639" y="159004"/>
                  </a:cubicBezTo>
                  <a:lnTo>
                    <a:pt x="15648939" y="159004"/>
                  </a:lnTo>
                  <a:lnTo>
                    <a:pt x="15661639" y="159004"/>
                  </a:lnTo>
                  <a:lnTo>
                    <a:pt x="15661639" y="2975356"/>
                  </a:lnTo>
                  <a:lnTo>
                    <a:pt x="15648939" y="2975356"/>
                  </a:lnTo>
                  <a:lnTo>
                    <a:pt x="15661639" y="2975356"/>
                  </a:lnTo>
                  <a:cubicBezTo>
                    <a:pt x="15661639" y="3063240"/>
                    <a:pt x="15589884" y="3134360"/>
                    <a:pt x="15501620" y="3134360"/>
                  </a:cubicBezTo>
                  <a:lnTo>
                    <a:pt x="15501620" y="3121660"/>
                  </a:lnTo>
                  <a:lnTo>
                    <a:pt x="15501620" y="3134360"/>
                  </a:lnTo>
                  <a:lnTo>
                    <a:pt x="160020" y="3134360"/>
                  </a:lnTo>
                  <a:lnTo>
                    <a:pt x="160020" y="3121660"/>
                  </a:lnTo>
                  <a:lnTo>
                    <a:pt x="160020" y="3134360"/>
                  </a:lnTo>
                  <a:cubicBezTo>
                    <a:pt x="71755" y="3134360"/>
                    <a:pt x="0" y="3063240"/>
                    <a:pt x="0" y="29753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2975356"/>
                  </a:lnTo>
                  <a:lnTo>
                    <a:pt x="12700" y="2975356"/>
                  </a:lnTo>
                  <a:lnTo>
                    <a:pt x="25400" y="2975356"/>
                  </a:lnTo>
                  <a:cubicBezTo>
                    <a:pt x="25400" y="3049016"/>
                    <a:pt x="85598" y="3108960"/>
                    <a:pt x="160020" y="3108960"/>
                  </a:cubicBezTo>
                  <a:lnTo>
                    <a:pt x="15501620" y="3108960"/>
                  </a:lnTo>
                  <a:cubicBezTo>
                    <a:pt x="15576042" y="3108960"/>
                    <a:pt x="15636239" y="3049016"/>
                    <a:pt x="15636239" y="2975356"/>
                  </a:cubicBezTo>
                  <a:lnTo>
                    <a:pt x="15636239" y="159004"/>
                  </a:lnTo>
                  <a:cubicBezTo>
                    <a:pt x="15636239" y="85344"/>
                    <a:pt x="15576042" y="25400"/>
                    <a:pt x="15501620" y="25400"/>
                  </a:cubicBezTo>
                  <a:lnTo>
                    <a:pt x="160020" y="25400"/>
                  </a:lnTo>
                  <a:lnTo>
                    <a:pt x="160020" y="12700"/>
                  </a:lnTo>
                  <a:lnTo>
                    <a:pt x="160020" y="25400"/>
                  </a:lnTo>
                  <a:cubicBezTo>
                    <a:pt x="85598" y="25400"/>
                    <a:pt x="25400" y="85344"/>
                    <a:pt x="25400" y="159004"/>
                  </a:cubicBezTo>
                  <a:close/>
                </a:path>
              </a:pathLst>
            </a:custGeom>
            <a:solidFill>
              <a:srgbClr val="D7E7F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321177" y="5594985"/>
            <a:ext cx="128778" cy="2350770"/>
            <a:chOff x="0" y="0"/>
            <a:chExt cx="171704" cy="3134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2700" y="12700"/>
              <a:ext cx="146304" cy="3108960"/>
            </a:xfrm>
            <a:custGeom>
              <a:avLst/>
              <a:gdLst/>
              <a:ahLst/>
              <a:cxnLst/>
              <a:rect r="r" b="b" t="t" l="l"/>
              <a:pathLst>
                <a:path h="31089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1704" cy="3134360"/>
            </a:xfrm>
            <a:custGeom>
              <a:avLst/>
              <a:gdLst/>
              <a:ahLst/>
              <a:cxnLst/>
              <a:rect r="r" b="b" t="t" l="l"/>
              <a:pathLst>
                <a:path h="31343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121660"/>
                  </a:lnTo>
                  <a:cubicBezTo>
                    <a:pt x="171704" y="3128645"/>
                    <a:pt x="165989" y="3134360"/>
                    <a:pt x="159004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159004" y="3108960"/>
                  </a:lnTo>
                  <a:lnTo>
                    <a:pt x="159004" y="3121660"/>
                  </a:lnTo>
                  <a:lnTo>
                    <a:pt x="146304" y="31216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984498" y="5878830"/>
            <a:ext cx="3840480" cy="464027"/>
            <a:chOff x="0" y="0"/>
            <a:chExt cx="5120640" cy="61870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618702"/>
            </a:xfrm>
            <a:custGeom>
              <a:avLst/>
              <a:gdLst/>
              <a:ahLst/>
              <a:cxnLst/>
              <a:rect r="r" b="b" t="t" l="l"/>
              <a:pathLst>
                <a:path h="61870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18702"/>
                  </a:lnTo>
                  <a:lnTo>
                    <a:pt x="0" y="618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795" r="0" b="-9673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5120640" cy="6091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Anggota Kelompok 05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984498" y="6427470"/>
            <a:ext cx="5486400" cy="1113848"/>
            <a:chOff x="0" y="0"/>
            <a:chExt cx="7315200" cy="148513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0" cy="1485130"/>
            </a:xfrm>
            <a:custGeom>
              <a:avLst/>
              <a:gdLst/>
              <a:ahLst/>
              <a:cxnLst/>
              <a:rect r="r" b="b" t="t" l="l"/>
              <a:pathLst>
                <a:path h="148513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85130"/>
                  </a:lnTo>
                  <a:lnTo>
                    <a:pt x="0" y="1485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645" r="0" b="-4030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7315200" cy="148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Najlatika (123140078)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Bening Apni Prameswari (123140089)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Falent Antonius Panjaitan (123140124)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76638" y="6427470"/>
            <a:ext cx="5349240" cy="1113848"/>
            <a:chOff x="0" y="0"/>
            <a:chExt cx="7132320" cy="14851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32320" cy="1485130"/>
            </a:xfrm>
            <a:custGeom>
              <a:avLst/>
              <a:gdLst/>
              <a:ahLst/>
              <a:cxnLst/>
              <a:rect r="r" b="b" t="t" l="l"/>
              <a:pathLst>
                <a:path h="148513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485130"/>
                  </a:lnTo>
                  <a:lnTo>
                    <a:pt x="0" y="1485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45" r="0" b="-3790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7132320" cy="148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Raditya Alrasyid Nugroho (123140125)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Raisya Syifa Saleh (123140169)</a:t>
              </a:r>
            </a:p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Muhamad Arif Ardani (123140186)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213580" y="9710928"/>
            <a:ext cx="411480" cy="342900"/>
            <a:chOff x="0" y="0"/>
            <a:chExt cx="548640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864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486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73430" y="9710928"/>
            <a:ext cx="10972800" cy="315468"/>
            <a:chOff x="0" y="0"/>
            <a:chExt cx="14630400" cy="4206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10" r="0" b="-61687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463040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Penambangan Data IF-32025 • Kelompok 05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211074"/>
            <a:chOff x="0" y="0"/>
            <a:chExt cx="24408790" cy="2814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3364" cy="256032"/>
            </a:xfrm>
            <a:custGeom>
              <a:avLst/>
              <a:gdLst/>
              <a:ahLst/>
              <a:cxnLst/>
              <a:rect r="r" b="b" t="t" l="l"/>
              <a:pathLst>
                <a:path h="25603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281432"/>
            </a:xfrm>
            <a:custGeom>
              <a:avLst/>
              <a:gdLst/>
              <a:ahLst/>
              <a:cxnLst/>
              <a:rect r="r" b="b" t="t" l="l"/>
              <a:pathLst>
                <a:path h="281432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268732"/>
                  </a:lnTo>
                  <a:cubicBezTo>
                    <a:pt x="24408764" y="275717"/>
                    <a:pt x="24403050" y="281432"/>
                    <a:pt x="24396064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24396064" y="256032"/>
                  </a:lnTo>
                  <a:lnTo>
                    <a:pt x="24396064" y="268732"/>
                  </a:lnTo>
                  <a:lnTo>
                    <a:pt x="24383364" y="268732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215235" y="-1518285"/>
            <a:ext cx="4682490" cy="4682490"/>
            <a:chOff x="0" y="0"/>
            <a:chExt cx="6243320" cy="6243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  <a:lnTo>
                    <a:pt x="0" y="3108960"/>
                  </a:lnTo>
                  <a:close/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08960" y="0"/>
              <a:ext cx="3134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13436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736725" y="0"/>
                    <a:pt x="3134360" y="1397635"/>
                    <a:pt x="3134360" y="3121660"/>
                  </a:cubicBezTo>
                  <a:cubicBezTo>
                    <a:pt x="3134360" y="3128645"/>
                    <a:pt x="3128645" y="3134360"/>
                    <a:pt x="312166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3121660" y="3108960"/>
                  </a:lnTo>
                  <a:lnTo>
                    <a:pt x="3121660" y="3121660"/>
                  </a:lnTo>
                  <a:lnTo>
                    <a:pt x="3108960" y="3121660"/>
                  </a:lnTo>
                  <a:cubicBezTo>
                    <a:pt x="3108960" y="1411605"/>
                    <a:pt x="1722755" y="25400"/>
                    <a:pt x="1270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21660" y="0"/>
              <a:ext cx="3121660" cy="3121660"/>
            </a:xfrm>
            <a:custGeom>
              <a:avLst/>
              <a:gdLst/>
              <a:ahLst/>
              <a:cxnLst/>
              <a:rect r="r" b="b" t="t" l="l"/>
              <a:pathLst>
                <a:path h="3121660" w="312166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724025" y="0"/>
                    <a:pt x="3121660" y="1397635"/>
                    <a:pt x="3121660" y="3121660"/>
                  </a:cubicBezTo>
                  <a:lnTo>
                    <a:pt x="3096260" y="3121660"/>
                  </a:lnTo>
                  <a:cubicBezTo>
                    <a:pt x="3096260" y="1411605"/>
                    <a:pt x="1710055" y="25400"/>
                    <a:pt x="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655445" y="7945755"/>
            <a:ext cx="4408170" cy="4408170"/>
            <a:chOff x="0" y="0"/>
            <a:chExt cx="5877560" cy="5877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54380" y="576072"/>
            <a:ext cx="16459200" cy="757684"/>
            <a:chOff x="0" y="0"/>
            <a:chExt cx="21945600" cy="10102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010246"/>
            </a:xfrm>
            <a:custGeom>
              <a:avLst/>
              <a:gdLst/>
              <a:ahLst/>
              <a:cxnLst/>
              <a:rect r="r" b="b" t="t" l="l"/>
              <a:pathLst>
                <a:path h="101024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10246"/>
                  </a:lnTo>
                  <a:lnTo>
                    <a:pt x="0" y="1010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258" r="0" b="-36128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945600" cy="10102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Urgensi &amp; Tujuan Penelitian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8096" y="1179576"/>
            <a:ext cx="15773400" cy="384048"/>
            <a:chOff x="0" y="0"/>
            <a:chExt cx="2103120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031200" cy="512064"/>
            </a:xfrm>
            <a:custGeom>
              <a:avLst/>
              <a:gdLst/>
              <a:ahLst/>
              <a:cxnLst/>
              <a:rect r="r" b="b" t="t" l="l"/>
              <a:pathLst>
                <a:path h="51206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278" r="0" b="-75027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031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Mengapa missing value perlu ditangani dengan tepat pada data medis?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82015" y="1938147"/>
            <a:ext cx="7974330" cy="6465570"/>
            <a:chOff x="0" y="0"/>
            <a:chExt cx="10632440" cy="8620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10607040" cy="8595361"/>
            </a:xfrm>
            <a:custGeom>
              <a:avLst/>
              <a:gdLst/>
              <a:ahLst/>
              <a:cxnLst/>
              <a:rect r="r" b="b" t="t" l="l"/>
              <a:pathLst>
                <a:path h="8595361" w="10607040">
                  <a:moveTo>
                    <a:pt x="0" y="146304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0460609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8449056"/>
                  </a:lnTo>
                  <a:cubicBezTo>
                    <a:pt x="10607040" y="8529828"/>
                    <a:pt x="10541508" y="8595361"/>
                    <a:pt x="10460609" y="8595361"/>
                  </a:cubicBezTo>
                  <a:lnTo>
                    <a:pt x="146431" y="8595361"/>
                  </a:lnTo>
                  <a:cubicBezTo>
                    <a:pt x="65532" y="8595360"/>
                    <a:pt x="0" y="8529828"/>
                    <a:pt x="0" y="84490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32440" cy="8620761"/>
            </a:xfrm>
            <a:custGeom>
              <a:avLst/>
              <a:gdLst/>
              <a:ahLst/>
              <a:cxnLst/>
              <a:rect r="r" b="b" t="t" l="l"/>
              <a:pathLst>
                <a:path h="8620761" w="10632440">
                  <a:moveTo>
                    <a:pt x="0" y="159004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473309" y="0"/>
                  </a:lnTo>
                  <a:lnTo>
                    <a:pt x="10473309" y="12700"/>
                  </a:lnTo>
                  <a:lnTo>
                    <a:pt x="10473309" y="0"/>
                  </a:lnTo>
                  <a:cubicBezTo>
                    <a:pt x="10561193" y="0"/>
                    <a:pt x="10632440" y="71120"/>
                    <a:pt x="10632440" y="159004"/>
                  </a:cubicBezTo>
                  <a:lnTo>
                    <a:pt x="10619740" y="159004"/>
                  </a:lnTo>
                  <a:lnTo>
                    <a:pt x="10632440" y="159004"/>
                  </a:lnTo>
                  <a:lnTo>
                    <a:pt x="10632440" y="8461756"/>
                  </a:lnTo>
                  <a:lnTo>
                    <a:pt x="10619740" y="8461756"/>
                  </a:lnTo>
                  <a:lnTo>
                    <a:pt x="10632440" y="8461756"/>
                  </a:lnTo>
                  <a:cubicBezTo>
                    <a:pt x="10632440" y="8549513"/>
                    <a:pt x="10561193" y="8620761"/>
                    <a:pt x="10473309" y="8620761"/>
                  </a:cubicBezTo>
                  <a:lnTo>
                    <a:pt x="10473309" y="8608061"/>
                  </a:lnTo>
                  <a:lnTo>
                    <a:pt x="10473309" y="8620761"/>
                  </a:lnTo>
                  <a:lnTo>
                    <a:pt x="159131" y="8620761"/>
                  </a:lnTo>
                  <a:lnTo>
                    <a:pt x="159131" y="8608061"/>
                  </a:lnTo>
                  <a:lnTo>
                    <a:pt x="159131" y="8620761"/>
                  </a:lnTo>
                  <a:cubicBezTo>
                    <a:pt x="71247" y="8620760"/>
                    <a:pt x="0" y="8549640"/>
                    <a:pt x="0" y="84617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461756"/>
                  </a:lnTo>
                  <a:lnTo>
                    <a:pt x="12700" y="8461756"/>
                  </a:lnTo>
                  <a:lnTo>
                    <a:pt x="25400" y="8461756"/>
                  </a:lnTo>
                  <a:cubicBezTo>
                    <a:pt x="25400" y="8535543"/>
                    <a:pt x="85217" y="8595361"/>
                    <a:pt x="159131" y="8595361"/>
                  </a:cubicBezTo>
                  <a:lnTo>
                    <a:pt x="10473309" y="8595361"/>
                  </a:lnTo>
                  <a:cubicBezTo>
                    <a:pt x="10547096" y="8595361"/>
                    <a:pt x="10607040" y="8535543"/>
                    <a:pt x="10607040" y="8461756"/>
                  </a:cubicBezTo>
                  <a:lnTo>
                    <a:pt x="10607040" y="159004"/>
                  </a:lnTo>
                  <a:cubicBezTo>
                    <a:pt x="10607040" y="85217"/>
                    <a:pt x="10547223" y="25400"/>
                    <a:pt x="10473309" y="25400"/>
                  </a:cubicBezTo>
                  <a:lnTo>
                    <a:pt x="159131" y="25400"/>
                  </a:lnTo>
                  <a:lnTo>
                    <a:pt x="159131" y="12700"/>
                  </a:lnTo>
                  <a:lnTo>
                    <a:pt x="159131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82015" y="1938147"/>
            <a:ext cx="128778" cy="6465570"/>
            <a:chOff x="0" y="0"/>
            <a:chExt cx="171704" cy="8620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463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595360"/>
                  </a:lnTo>
                  <a:lnTo>
                    <a:pt x="0" y="859536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1704" cy="8620760"/>
            </a:xfrm>
            <a:custGeom>
              <a:avLst/>
              <a:gdLst/>
              <a:ahLst/>
              <a:cxnLst/>
              <a:rect r="r" b="b" t="t" l="l"/>
              <a:pathLst>
                <a:path h="86207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608060"/>
                  </a:lnTo>
                  <a:cubicBezTo>
                    <a:pt x="171704" y="8615045"/>
                    <a:pt x="165989" y="8620760"/>
                    <a:pt x="159004" y="8620760"/>
                  </a:cubicBezTo>
                  <a:lnTo>
                    <a:pt x="12700" y="8620760"/>
                  </a:lnTo>
                  <a:cubicBezTo>
                    <a:pt x="5715" y="8620760"/>
                    <a:pt x="0" y="8615045"/>
                    <a:pt x="0" y="8608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608060"/>
                  </a:lnTo>
                  <a:lnTo>
                    <a:pt x="12700" y="8608060"/>
                  </a:lnTo>
                  <a:lnTo>
                    <a:pt x="12700" y="8595360"/>
                  </a:lnTo>
                  <a:lnTo>
                    <a:pt x="159004" y="8595360"/>
                  </a:lnTo>
                  <a:lnTo>
                    <a:pt x="159004" y="8608060"/>
                  </a:lnTo>
                  <a:lnTo>
                    <a:pt x="146304" y="86080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34440" y="2304288"/>
            <a:ext cx="4800600" cy="558737"/>
            <a:chOff x="0" y="0"/>
            <a:chExt cx="6400800" cy="7449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0800" cy="744983"/>
            </a:xfrm>
            <a:custGeom>
              <a:avLst/>
              <a:gdLst/>
              <a:ahLst/>
              <a:cxnLst/>
              <a:rect r="r" b="b" t="t" l="l"/>
              <a:pathLst>
                <a:path h="744983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44983"/>
                  </a:lnTo>
                  <a:lnTo>
                    <a:pt x="0" y="7449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409" r="0" b="-9441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6400800" cy="735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URGENSI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4440" y="3164205"/>
            <a:ext cx="7063740" cy="4794200"/>
            <a:chOff x="0" y="0"/>
            <a:chExt cx="9418320" cy="63922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18320" cy="6392266"/>
            </a:xfrm>
            <a:custGeom>
              <a:avLst/>
              <a:gdLst/>
              <a:ahLst/>
              <a:cxnLst/>
              <a:rect r="r" b="b" t="t" l="l"/>
              <a:pathLst>
                <a:path h="6392266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6392266"/>
                  </a:lnTo>
                  <a:lnTo>
                    <a:pt x="0" y="6392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65" t="0" r="-17265" b="227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9418320" cy="6392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18157" indent="-259078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medis sering berisi nilai kosong atau nilai tidak valid yang tidak boleh langsung dipakai untuk melatih model.</a:t>
              </a:r>
            </a:p>
            <a:p>
              <a:pPr algn="l" marL="518157" indent="-259078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Pada dataset diabetes, nilai 0 pada fitur seperti Glucose, BloodPressure, SkinThickness, Insulin, dan BMI dianggap sebagai missing value tersembunyi.</a:t>
              </a:r>
            </a:p>
            <a:p>
              <a:pPr algn="l" marL="518157" indent="-259078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Jika missing value ditangani secara asal, model dapat belajar dari data yang bias sehingga hasil klasifikasi menjadi kurang akurat.</a:t>
              </a:r>
            </a:p>
            <a:p>
              <a:pPr algn="l" marL="518157" indent="-259078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Konteks medis menuntut perhatian pada recall karena kesalahan tidak mendeteksi pasien positif diabetes berisiko lebih besar.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85935" y="1938147"/>
            <a:ext cx="7974330" cy="6465570"/>
            <a:chOff x="0" y="0"/>
            <a:chExt cx="10632440" cy="86207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2700" y="12700"/>
              <a:ext cx="10607040" cy="8595361"/>
            </a:xfrm>
            <a:custGeom>
              <a:avLst/>
              <a:gdLst/>
              <a:ahLst/>
              <a:cxnLst/>
              <a:rect r="r" b="b" t="t" l="l"/>
              <a:pathLst>
                <a:path h="8595361" w="10607040">
                  <a:moveTo>
                    <a:pt x="0" y="146304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0460609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8449056"/>
                  </a:lnTo>
                  <a:cubicBezTo>
                    <a:pt x="10607040" y="8529828"/>
                    <a:pt x="10541508" y="8595361"/>
                    <a:pt x="10460609" y="8595361"/>
                  </a:cubicBezTo>
                  <a:lnTo>
                    <a:pt x="146431" y="8595361"/>
                  </a:lnTo>
                  <a:cubicBezTo>
                    <a:pt x="65532" y="8595360"/>
                    <a:pt x="0" y="8529828"/>
                    <a:pt x="0" y="84490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32440" cy="8620761"/>
            </a:xfrm>
            <a:custGeom>
              <a:avLst/>
              <a:gdLst/>
              <a:ahLst/>
              <a:cxnLst/>
              <a:rect r="r" b="b" t="t" l="l"/>
              <a:pathLst>
                <a:path h="8620761" w="10632440">
                  <a:moveTo>
                    <a:pt x="0" y="159004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473309" y="0"/>
                  </a:lnTo>
                  <a:lnTo>
                    <a:pt x="10473309" y="12700"/>
                  </a:lnTo>
                  <a:lnTo>
                    <a:pt x="10473309" y="0"/>
                  </a:lnTo>
                  <a:cubicBezTo>
                    <a:pt x="10561193" y="0"/>
                    <a:pt x="10632440" y="71120"/>
                    <a:pt x="10632440" y="159004"/>
                  </a:cubicBezTo>
                  <a:lnTo>
                    <a:pt x="10619740" y="159004"/>
                  </a:lnTo>
                  <a:lnTo>
                    <a:pt x="10632440" y="159004"/>
                  </a:lnTo>
                  <a:lnTo>
                    <a:pt x="10632440" y="8461756"/>
                  </a:lnTo>
                  <a:lnTo>
                    <a:pt x="10619740" y="8461756"/>
                  </a:lnTo>
                  <a:lnTo>
                    <a:pt x="10632440" y="8461756"/>
                  </a:lnTo>
                  <a:cubicBezTo>
                    <a:pt x="10632440" y="8549513"/>
                    <a:pt x="10561193" y="8620761"/>
                    <a:pt x="10473309" y="8620761"/>
                  </a:cubicBezTo>
                  <a:lnTo>
                    <a:pt x="10473309" y="8608061"/>
                  </a:lnTo>
                  <a:lnTo>
                    <a:pt x="10473309" y="8620761"/>
                  </a:lnTo>
                  <a:lnTo>
                    <a:pt x="159131" y="8620761"/>
                  </a:lnTo>
                  <a:lnTo>
                    <a:pt x="159131" y="8608061"/>
                  </a:lnTo>
                  <a:lnTo>
                    <a:pt x="159131" y="8620761"/>
                  </a:lnTo>
                  <a:cubicBezTo>
                    <a:pt x="71247" y="8620760"/>
                    <a:pt x="0" y="8549640"/>
                    <a:pt x="0" y="84617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461756"/>
                  </a:lnTo>
                  <a:lnTo>
                    <a:pt x="12700" y="8461756"/>
                  </a:lnTo>
                  <a:lnTo>
                    <a:pt x="25400" y="8461756"/>
                  </a:lnTo>
                  <a:cubicBezTo>
                    <a:pt x="25400" y="8535543"/>
                    <a:pt x="85217" y="8595361"/>
                    <a:pt x="159131" y="8595361"/>
                  </a:cubicBezTo>
                  <a:lnTo>
                    <a:pt x="10473309" y="8595361"/>
                  </a:lnTo>
                  <a:cubicBezTo>
                    <a:pt x="10547096" y="8595361"/>
                    <a:pt x="10607040" y="8535543"/>
                    <a:pt x="10607040" y="8461756"/>
                  </a:cubicBezTo>
                  <a:lnTo>
                    <a:pt x="10607040" y="159004"/>
                  </a:lnTo>
                  <a:cubicBezTo>
                    <a:pt x="10607040" y="85217"/>
                    <a:pt x="10547223" y="25400"/>
                    <a:pt x="10473309" y="25400"/>
                  </a:cubicBezTo>
                  <a:lnTo>
                    <a:pt x="159131" y="25400"/>
                  </a:lnTo>
                  <a:lnTo>
                    <a:pt x="159131" y="12700"/>
                  </a:lnTo>
                  <a:lnTo>
                    <a:pt x="159131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385935" y="1938147"/>
            <a:ext cx="128778" cy="6465570"/>
            <a:chOff x="0" y="0"/>
            <a:chExt cx="171704" cy="86207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1463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595360"/>
                  </a:lnTo>
                  <a:lnTo>
                    <a:pt x="0" y="8595360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1704" cy="8620760"/>
            </a:xfrm>
            <a:custGeom>
              <a:avLst/>
              <a:gdLst/>
              <a:ahLst/>
              <a:cxnLst/>
              <a:rect r="r" b="b" t="t" l="l"/>
              <a:pathLst>
                <a:path h="86207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608060"/>
                  </a:lnTo>
                  <a:cubicBezTo>
                    <a:pt x="171704" y="8615045"/>
                    <a:pt x="165989" y="8620760"/>
                    <a:pt x="159004" y="8620760"/>
                  </a:cubicBezTo>
                  <a:lnTo>
                    <a:pt x="12700" y="8620760"/>
                  </a:lnTo>
                  <a:cubicBezTo>
                    <a:pt x="5715" y="8620760"/>
                    <a:pt x="0" y="8615045"/>
                    <a:pt x="0" y="8608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608060"/>
                  </a:lnTo>
                  <a:lnTo>
                    <a:pt x="12700" y="8608060"/>
                  </a:lnTo>
                  <a:lnTo>
                    <a:pt x="12700" y="8595360"/>
                  </a:lnTo>
                  <a:lnTo>
                    <a:pt x="159004" y="8595360"/>
                  </a:lnTo>
                  <a:lnTo>
                    <a:pt x="159004" y="8608060"/>
                  </a:lnTo>
                  <a:lnTo>
                    <a:pt x="146304" y="86080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738360" y="2304288"/>
            <a:ext cx="4800600" cy="558737"/>
            <a:chOff x="0" y="0"/>
            <a:chExt cx="6400800" cy="7449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00800" cy="744983"/>
            </a:xfrm>
            <a:custGeom>
              <a:avLst/>
              <a:gdLst/>
              <a:ahLst/>
              <a:cxnLst/>
              <a:rect r="r" b="b" t="t" l="l"/>
              <a:pathLst>
                <a:path h="744983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44983"/>
                  </a:lnTo>
                  <a:lnTo>
                    <a:pt x="0" y="7449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409" r="0" b="-9441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6400800" cy="735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TUJUAN PENELITIAN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733788" y="3164205"/>
            <a:ext cx="7063740" cy="4070300"/>
            <a:chOff x="0" y="0"/>
            <a:chExt cx="9418320" cy="542706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418320" cy="5427066"/>
            </a:xfrm>
            <a:custGeom>
              <a:avLst/>
              <a:gdLst/>
              <a:ahLst/>
              <a:cxnLst/>
              <a:rect r="r" b="b" t="t" l="l"/>
              <a:pathLst>
                <a:path h="5427066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5427066"/>
                  </a:lnTo>
                  <a:lnTo>
                    <a:pt x="0" y="5427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265" t="0" r="-17265" b="901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9418320" cy="5427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18157" indent="-259078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Membandingkan performa beberapa metode imputasi: Mean, KNN, MICE, dan baseline Drop NA.</a:t>
              </a:r>
            </a:p>
            <a:p>
              <a:pPr algn="l" marL="518157" indent="-259078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Mengukur pengaruh setiap metode terhadap performa Random Forest Classifier.</a:t>
              </a:r>
            </a:p>
            <a:p>
              <a:pPr algn="l" marL="518157" indent="-259078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Menentukan metode terbaik berdasarkan Accuracy, Recall, F1-Score, ROC-AUC, dan Confusion Matrix.</a:t>
              </a:r>
            </a:p>
            <a:p>
              <a:pPr algn="l" marL="518157" indent="-259078" lvl="1">
                <a:lnSpc>
                  <a:spcPts val="2879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Memberi rekomendasi metode imputasi yang paling stabil dan mudah diterapkan untuk dataset ini.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213580" y="9710928"/>
            <a:ext cx="411480" cy="342900"/>
            <a:chOff x="0" y="0"/>
            <a:chExt cx="548640" cy="457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4864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486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73430" y="9710928"/>
            <a:ext cx="10972800" cy="315468"/>
            <a:chOff x="0" y="0"/>
            <a:chExt cx="14630400" cy="4206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10" r="0" b="-61687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463040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Penambangan Data IF-32025 • Kelompok 05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B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13728700"/>
                  </a:lnTo>
                  <a:cubicBezTo>
                    <a:pt x="24408764" y="13735686"/>
                    <a:pt x="24403050" y="13741400"/>
                    <a:pt x="24396064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064" y="13716000"/>
                  </a:lnTo>
                  <a:lnTo>
                    <a:pt x="24396064" y="13728700"/>
                  </a:lnTo>
                  <a:lnTo>
                    <a:pt x="24383364" y="13728700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7FB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-9525"/>
            <a:ext cx="18306593" cy="211074"/>
            <a:chOff x="0" y="0"/>
            <a:chExt cx="24408790" cy="281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3364" cy="256032"/>
            </a:xfrm>
            <a:custGeom>
              <a:avLst/>
              <a:gdLst/>
              <a:ahLst/>
              <a:cxnLst/>
              <a:rect r="r" b="b" t="t" l="l"/>
              <a:pathLst>
                <a:path h="25603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8764" cy="281432"/>
            </a:xfrm>
            <a:custGeom>
              <a:avLst/>
              <a:gdLst/>
              <a:ahLst/>
              <a:cxnLst/>
              <a:rect r="r" b="b" t="t" l="l"/>
              <a:pathLst>
                <a:path h="281432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268732"/>
                  </a:lnTo>
                  <a:cubicBezTo>
                    <a:pt x="24408764" y="275717"/>
                    <a:pt x="24403050" y="281432"/>
                    <a:pt x="24396064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24396064" y="256032"/>
                  </a:lnTo>
                  <a:lnTo>
                    <a:pt x="24396064" y="268732"/>
                  </a:lnTo>
                  <a:lnTo>
                    <a:pt x="24383364" y="268732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15235" y="-1518285"/>
            <a:ext cx="4682490" cy="4682490"/>
            <a:chOff x="0" y="0"/>
            <a:chExt cx="6243320" cy="624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  <a:lnTo>
                    <a:pt x="0" y="3108960"/>
                  </a:lnTo>
                  <a:close/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08960" y="0"/>
              <a:ext cx="3134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13436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736725" y="0"/>
                    <a:pt x="3134360" y="1397635"/>
                    <a:pt x="3134360" y="3121660"/>
                  </a:cubicBezTo>
                  <a:cubicBezTo>
                    <a:pt x="3134360" y="3128645"/>
                    <a:pt x="3128645" y="3134360"/>
                    <a:pt x="312166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3121660" y="3108960"/>
                  </a:lnTo>
                  <a:lnTo>
                    <a:pt x="3121660" y="3121660"/>
                  </a:lnTo>
                  <a:lnTo>
                    <a:pt x="3108960" y="3121660"/>
                  </a:lnTo>
                  <a:cubicBezTo>
                    <a:pt x="3108960" y="1411605"/>
                    <a:pt x="1722755" y="25400"/>
                    <a:pt x="1270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21660" y="0"/>
              <a:ext cx="3121660" cy="3121660"/>
            </a:xfrm>
            <a:custGeom>
              <a:avLst/>
              <a:gdLst/>
              <a:ahLst/>
              <a:cxnLst/>
              <a:rect r="r" b="b" t="t" l="l"/>
              <a:pathLst>
                <a:path h="3121660" w="312166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724025" y="0"/>
                    <a:pt x="3121660" y="1397635"/>
                    <a:pt x="3121660" y="3121660"/>
                  </a:cubicBezTo>
                  <a:lnTo>
                    <a:pt x="3096260" y="3121660"/>
                  </a:lnTo>
                  <a:cubicBezTo>
                    <a:pt x="3096260" y="1411605"/>
                    <a:pt x="1710055" y="25400"/>
                    <a:pt x="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655445" y="7945755"/>
            <a:ext cx="4408170" cy="4408170"/>
            <a:chOff x="0" y="0"/>
            <a:chExt cx="5877560" cy="5877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" y="576072"/>
            <a:ext cx="16459200" cy="576072"/>
            <a:chOff x="0" y="0"/>
            <a:chExt cx="2194560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9456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Alur Penelitian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8096" y="1179576"/>
            <a:ext cx="15773400" cy="384048"/>
            <a:chOff x="0" y="0"/>
            <a:chExt cx="2103120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31200" cy="512064"/>
            </a:xfrm>
            <a:custGeom>
              <a:avLst/>
              <a:gdLst/>
              <a:ahLst/>
              <a:cxnLst/>
              <a:rect r="r" b="b" t="t" l="l"/>
              <a:pathLst>
                <a:path h="51206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278" r="0" b="-7502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031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Tahapan kerja dari pengumpulan data sampai evaluasi model.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9175" y="2253615"/>
            <a:ext cx="2830830" cy="5093970"/>
            <a:chOff x="0" y="0"/>
            <a:chExt cx="3774440" cy="6791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3749040" cy="6766560"/>
            </a:xfrm>
            <a:custGeom>
              <a:avLst/>
              <a:gdLst/>
              <a:ahLst/>
              <a:cxnLst/>
              <a:rect r="r" b="b" t="t" l="l"/>
              <a:pathLst>
                <a:path h="6766560" w="3749040">
                  <a:moveTo>
                    <a:pt x="0" y="146685"/>
                  </a:moveTo>
                  <a:cubicBezTo>
                    <a:pt x="0" y="65659"/>
                    <a:pt x="65532" y="0"/>
                    <a:pt x="146304" y="0"/>
                  </a:cubicBezTo>
                  <a:lnTo>
                    <a:pt x="3602736" y="0"/>
                  </a:lnTo>
                  <a:cubicBezTo>
                    <a:pt x="3683508" y="0"/>
                    <a:pt x="3749040" y="65659"/>
                    <a:pt x="3749040" y="146685"/>
                  </a:cubicBezTo>
                  <a:lnTo>
                    <a:pt x="3749040" y="6619875"/>
                  </a:lnTo>
                  <a:cubicBezTo>
                    <a:pt x="3749040" y="6700901"/>
                    <a:pt x="3683508" y="6766560"/>
                    <a:pt x="3602736" y="6766560"/>
                  </a:cubicBezTo>
                  <a:lnTo>
                    <a:pt x="146304" y="6766560"/>
                  </a:lnTo>
                  <a:cubicBezTo>
                    <a:pt x="65532" y="6766560"/>
                    <a:pt x="0" y="6700901"/>
                    <a:pt x="0" y="66198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774440" cy="6791960"/>
            </a:xfrm>
            <a:custGeom>
              <a:avLst/>
              <a:gdLst/>
              <a:ahLst/>
              <a:cxnLst/>
              <a:rect r="r" b="b" t="t" l="l"/>
              <a:pathLst>
                <a:path h="6791960" w="3774440">
                  <a:moveTo>
                    <a:pt x="0" y="159385"/>
                  </a:moveTo>
                  <a:cubicBezTo>
                    <a:pt x="0" y="71374"/>
                    <a:pt x="71120" y="0"/>
                    <a:pt x="159004" y="0"/>
                  </a:cubicBezTo>
                  <a:lnTo>
                    <a:pt x="3615436" y="0"/>
                  </a:lnTo>
                  <a:lnTo>
                    <a:pt x="3615436" y="12700"/>
                  </a:lnTo>
                  <a:lnTo>
                    <a:pt x="3615436" y="0"/>
                  </a:lnTo>
                  <a:cubicBezTo>
                    <a:pt x="3703320" y="0"/>
                    <a:pt x="3774440" y="71374"/>
                    <a:pt x="3774440" y="159385"/>
                  </a:cubicBezTo>
                  <a:lnTo>
                    <a:pt x="3761740" y="159385"/>
                  </a:lnTo>
                  <a:lnTo>
                    <a:pt x="3774440" y="159385"/>
                  </a:lnTo>
                  <a:lnTo>
                    <a:pt x="3774440" y="6632575"/>
                  </a:lnTo>
                  <a:lnTo>
                    <a:pt x="3761740" y="6632575"/>
                  </a:lnTo>
                  <a:lnTo>
                    <a:pt x="3774440" y="6632575"/>
                  </a:lnTo>
                  <a:cubicBezTo>
                    <a:pt x="3774440" y="6720586"/>
                    <a:pt x="3703320" y="6791960"/>
                    <a:pt x="3615436" y="6791960"/>
                  </a:cubicBezTo>
                  <a:lnTo>
                    <a:pt x="3615436" y="6779260"/>
                  </a:lnTo>
                  <a:lnTo>
                    <a:pt x="3615436" y="6791960"/>
                  </a:lnTo>
                  <a:lnTo>
                    <a:pt x="159004" y="6791960"/>
                  </a:lnTo>
                  <a:lnTo>
                    <a:pt x="159004" y="6779260"/>
                  </a:lnTo>
                  <a:lnTo>
                    <a:pt x="159004" y="6791960"/>
                  </a:lnTo>
                  <a:cubicBezTo>
                    <a:pt x="71120" y="6791960"/>
                    <a:pt x="0" y="6720586"/>
                    <a:pt x="0" y="6632575"/>
                  </a:cubicBezTo>
                  <a:lnTo>
                    <a:pt x="0" y="159385"/>
                  </a:lnTo>
                  <a:lnTo>
                    <a:pt x="12700" y="159385"/>
                  </a:lnTo>
                  <a:lnTo>
                    <a:pt x="0" y="159385"/>
                  </a:lnTo>
                  <a:moveTo>
                    <a:pt x="25400" y="159385"/>
                  </a:moveTo>
                  <a:lnTo>
                    <a:pt x="25400" y="6632575"/>
                  </a:lnTo>
                  <a:lnTo>
                    <a:pt x="12700" y="6632575"/>
                  </a:lnTo>
                  <a:lnTo>
                    <a:pt x="25400" y="6632575"/>
                  </a:lnTo>
                  <a:cubicBezTo>
                    <a:pt x="25400" y="6706616"/>
                    <a:pt x="85217" y="6766560"/>
                    <a:pt x="159004" y="6766560"/>
                  </a:cubicBezTo>
                  <a:lnTo>
                    <a:pt x="3615436" y="6766560"/>
                  </a:lnTo>
                  <a:cubicBezTo>
                    <a:pt x="3689223" y="6766560"/>
                    <a:pt x="3749040" y="6706616"/>
                    <a:pt x="3749040" y="6632575"/>
                  </a:cubicBezTo>
                  <a:lnTo>
                    <a:pt x="3749040" y="159385"/>
                  </a:lnTo>
                  <a:cubicBezTo>
                    <a:pt x="3749040" y="85344"/>
                    <a:pt x="3689223" y="25400"/>
                    <a:pt x="361543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344"/>
                    <a:pt x="25400" y="159385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19175" y="2253615"/>
            <a:ext cx="128778" cy="5093970"/>
            <a:chOff x="0" y="0"/>
            <a:chExt cx="171704" cy="6791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146304" cy="6766560"/>
            </a:xfrm>
            <a:custGeom>
              <a:avLst/>
              <a:gdLst/>
              <a:ahLst/>
              <a:cxnLst/>
              <a:rect r="r" b="b" t="t" l="l"/>
              <a:pathLst>
                <a:path h="6766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766560"/>
                  </a:lnTo>
                  <a:lnTo>
                    <a:pt x="0" y="6766560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1704" cy="6791960"/>
            </a:xfrm>
            <a:custGeom>
              <a:avLst/>
              <a:gdLst/>
              <a:ahLst/>
              <a:cxnLst/>
              <a:rect r="r" b="b" t="t" l="l"/>
              <a:pathLst>
                <a:path h="67919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6779260"/>
                  </a:lnTo>
                  <a:cubicBezTo>
                    <a:pt x="171704" y="6786245"/>
                    <a:pt x="165989" y="6791960"/>
                    <a:pt x="159004" y="6791960"/>
                  </a:cubicBezTo>
                  <a:lnTo>
                    <a:pt x="12700" y="6791960"/>
                  </a:lnTo>
                  <a:cubicBezTo>
                    <a:pt x="5715" y="6791960"/>
                    <a:pt x="0" y="6786245"/>
                    <a:pt x="0" y="6779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779260"/>
                  </a:lnTo>
                  <a:lnTo>
                    <a:pt x="12700" y="6779260"/>
                  </a:lnTo>
                  <a:lnTo>
                    <a:pt x="12700" y="6766560"/>
                  </a:lnTo>
                  <a:lnTo>
                    <a:pt x="159004" y="6766560"/>
                  </a:lnTo>
                  <a:lnTo>
                    <a:pt x="159004" y="6779260"/>
                  </a:lnTo>
                  <a:lnTo>
                    <a:pt x="146304" y="67792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2496312"/>
            <a:ext cx="493776" cy="493776"/>
            <a:chOff x="0" y="0"/>
            <a:chExt cx="658368" cy="6583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-1524" y="-1524"/>
              <a:ext cx="661416" cy="661416"/>
            </a:xfrm>
            <a:custGeom>
              <a:avLst/>
              <a:gdLst/>
              <a:ahLst/>
              <a:cxnLst/>
              <a:rect r="r" b="b" t="t" l="l"/>
              <a:pathLst>
                <a:path h="661416" w="661416">
                  <a:moveTo>
                    <a:pt x="1524" y="0"/>
                  </a:moveTo>
                  <a:lnTo>
                    <a:pt x="659892" y="0"/>
                  </a:lnTo>
                  <a:cubicBezTo>
                    <a:pt x="660781" y="0"/>
                    <a:pt x="661416" y="762"/>
                    <a:pt x="661416" y="1524"/>
                  </a:cubicBezTo>
                  <a:lnTo>
                    <a:pt x="661416" y="659892"/>
                  </a:lnTo>
                  <a:cubicBezTo>
                    <a:pt x="661416" y="660781"/>
                    <a:pt x="660654" y="661416"/>
                    <a:pt x="659892" y="661416"/>
                  </a:cubicBezTo>
                  <a:lnTo>
                    <a:pt x="1524" y="661416"/>
                  </a:lnTo>
                  <a:cubicBezTo>
                    <a:pt x="635" y="661416"/>
                    <a:pt x="0" y="660654"/>
                    <a:pt x="0" y="659892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659892"/>
                  </a:lnTo>
                  <a:lnTo>
                    <a:pt x="1524" y="659892"/>
                  </a:lnTo>
                  <a:lnTo>
                    <a:pt x="1524" y="658368"/>
                  </a:lnTo>
                  <a:lnTo>
                    <a:pt x="659892" y="658368"/>
                  </a:lnTo>
                  <a:lnTo>
                    <a:pt x="659892" y="659892"/>
                  </a:lnTo>
                  <a:lnTo>
                    <a:pt x="658368" y="659892"/>
                  </a:lnTo>
                  <a:lnTo>
                    <a:pt x="658368" y="1524"/>
                  </a:lnTo>
                  <a:lnTo>
                    <a:pt x="659892" y="1524"/>
                  </a:lnTo>
                  <a:lnTo>
                    <a:pt x="659892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58368" cy="65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75588" y="3223260"/>
            <a:ext cx="2194560" cy="576072"/>
            <a:chOff x="0" y="0"/>
            <a:chExt cx="2926080" cy="7680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26080" cy="768096"/>
            </a:xfrm>
            <a:custGeom>
              <a:avLst/>
              <a:gdLst/>
              <a:ahLst/>
              <a:cxnLst/>
              <a:rect r="r" b="b" t="t" l="l"/>
              <a:pathLst>
                <a:path h="76809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9260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Dataset Kaggle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03020" y="4183380"/>
            <a:ext cx="2221992" cy="2057400"/>
            <a:chOff x="0" y="0"/>
            <a:chExt cx="2962656" cy="2743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62656" cy="2743200"/>
            </a:xfrm>
            <a:custGeom>
              <a:avLst/>
              <a:gdLst/>
              <a:ahLst/>
              <a:cxnLst/>
              <a:rect r="r" b="b" t="t" l="l"/>
              <a:pathLst>
                <a:path h="274320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799" t="0" r="-68799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962656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7"/>
                </a:lnSpc>
              </a:pPr>
              <a:r>
                <a:rPr lang="en-US" sz="1514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Menggunakan Pima Indians Diabetes Dataset sebagai data klasifikasi medis.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872103" y="4105275"/>
            <a:ext cx="499110" cy="773430"/>
            <a:chOff x="0" y="0"/>
            <a:chExt cx="665480" cy="1031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640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">
                  <a:moveTo>
                    <a:pt x="0" y="0"/>
                  </a:moveTo>
                  <a:lnTo>
                    <a:pt x="320040" y="0"/>
                  </a:lnTo>
                  <a:lnTo>
                    <a:pt x="640080" y="502920"/>
                  </a:lnTo>
                  <a:lnTo>
                    <a:pt x="320040" y="1005840"/>
                  </a:lnTo>
                  <a:lnTo>
                    <a:pt x="0" y="1005840"/>
                  </a:lnTo>
                  <a:lnTo>
                    <a:pt x="320040" y="502920"/>
                  </a:lnTo>
                  <a:close/>
                </a:path>
              </a:pathLst>
            </a:custGeom>
            <a:solidFill>
              <a:srgbClr val="C8E4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-56" y="0"/>
              <a:ext cx="665504" cy="1031113"/>
            </a:xfrm>
            <a:custGeom>
              <a:avLst/>
              <a:gdLst/>
              <a:ahLst/>
              <a:cxnLst/>
              <a:rect r="r" b="b" t="t" l="l"/>
              <a:pathLst>
                <a:path h="1031113" w="665504">
                  <a:moveTo>
                    <a:pt x="12756" y="0"/>
                  </a:moveTo>
                  <a:lnTo>
                    <a:pt x="332796" y="0"/>
                  </a:lnTo>
                  <a:cubicBezTo>
                    <a:pt x="337114" y="0"/>
                    <a:pt x="341178" y="2159"/>
                    <a:pt x="343464" y="5842"/>
                  </a:cubicBezTo>
                  <a:lnTo>
                    <a:pt x="663504" y="508762"/>
                  </a:lnTo>
                  <a:cubicBezTo>
                    <a:pt x="666171" y="512953"/>
                    <a:pt x="666171" y="518287"/>
                    <a:pt x="663504" y="522351"/>
                  </a:cubicBezTo>
                  <a:lnTo>
                    <a:pt x="343464" y="1025271"/>
                  </a:lnTo>
                  <a:cubicBezTo>
                    <a:pt x="341178" y="1028954"/>
                    <a:pt x="337114" y="1031113"/>
                    <a:pt x="332796" y="1031113"/>
                  </a:cubicBezTo>
                  <a:lnTo>
                    <a:pt x="12756" y="1031113"/>
                  </a:lnTo>
                  <a:cubicBezTo>
                    <a:pt x="8184" y="1031113"/>
                    <a:pt x="3866" y="1028573"/>
                    <a:pt x="1580" y="1024509"/>
                  </a:cubicBezTo>
                  <a:cubicBezTo>
                    <a:pt x="-706" y="1020445"/>
                    <a:pt x="-452" y="1015492"/>
                    <a:pt x="1961" y="1011555"/>
                  </a:cubicBezTo>
                  <a:lnTo>
                    <a:pt x="322001" y="508635"/>
                  </a:lnTo>
                  <a:lnTo>
                    <a:pt x="332669" y="515493"/>
                  </a:lnTo>
                  <a:lnTo>
                    <a:pt x="322001" y="522351"/>
                  </a:lnTo>
                  <a:lnTo>
                    <a:pt x="2088" y="19558"/>
                  </a:lnTo>
                  <a:cubicBezTo>
                    <a:pt x="-452" y="15621"/>
                    <a:pt x="-579" y="10668"/>
                    <a:pt x="1580" y="6604"/>
                  </a:cubicBezTo>
                  <a:cubicBezTo>
                    <a:pt x="3739" y="2540"/>
                    <a:pt x="8184" y="0"/>
                    <a:pt x="12756" y="0"/>
                  </a:cubicBezTo>
                  <a:moveTo>
                    <a:pt x="12756" y="25400"/>
                  </a:moveTo>
                  <a:lnTo>
                    <a:pt x="12756" y="12700"/>
                  </a:lnTo>
                  <a:lnTo>
                    <a:pt x="23424" y="5842"/>
                  </a:lnTo>
                  <a:lnTo>
                    <a:pt x="343464" y="508762"/>
                  </a:lnTo>
                  <a:cubicBezTo>
                    <a:pt x="346131" y="512953"/>
                    <a:pt x="346131" y="518287"/>
                    <a:pt x="343464" y="522351"/>
                  </a:cubicBezTo>
                  <a:lnTo>
                    <a:pt x="23424" y="1025398"/>
                  </a:lnTo>
                  <a:lnTo>
                    <a:pt x="12756" y="1018540"/>
                  </a:lnTo>
                  <a:lnTo>
                    <a:pt x="12756" y="1005840"/>
                  </a:lnTo>
                  <a:lnTo>
                    <a:pt x="332796" y="1005840"/>
                  </a:lnTo>
                  <a:lnTo>
                    <a:pt x="332796" y="1018540"/>
                  </a:lnTo>
                  <a:lnTo>
                    <a:pt x="322128" y="1011682"/>
                  </a:lnTo>
                  <a:lnTo>
                    <a:pt x="642168" y="508762"/>
                  </a:lnTo>
                  <a:lnTo>
                    <a:pt x="652836" y="515620"/>
                  </a:lnTo>
                  <a:lnTo>
                    <a:pt x="642168" y="522478"/>
                  </a:lnTo>
                  <a:lnTo>
                    <a:pt x="322128" y="19558"/>
                  </a:lnTo>
                  <a:lnTo>
                    <a:pt x="332796" y="12700"/>
                  </a:lnTo>
                  <a:lnTo>
                    <a:pt x="332796" y="25400"/>
                  </a:lnTo>
                  <a:lnTo>
                    <a:pt x="12756" y="25400"/>
                  </a:lnTo>
                  <a:close/>
                </a:path>
              </a:pathLst>
            </a:custGeom>
            <a:solidFill>
              <a:srgbClr val="C8E4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448175" y="2253615"/>
            <a:ext cx="2830830" cy="5093970"/>
            <a:chOff x="0" y="0"/>
            <a:chExt cx="3774440" cy="6791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3749040" cy="6766560"/>
            </a:xfrm>
            <a:custGeom>
              <a:avLst/>
              <a:gdLst/>
              <a:ahLst/>
              <a:cxnLst/>
              <a:rect r="r" b="b" t="t" l="l"/>
              <a:pathLst>
                <a:path h="6766560" w="3749040">
                  <a:moveTo>
                    <a:pt x="0" y="146685"/>
                  </a:moveTo>
                  <a:cubicBezTo>
                    <a:pt x="0" y="65659"/>
                    <a:pt x="65532" y="0"/>
                    <a:pt x="146304" y="0"/>
                  </a:cubicBezTo>
                  <a:lnTo>
                    <a:pt x="3602736" y="0"/>
                  </a:lnTo>
                  <a:cubicBezTo>
                    <a:pt x="3683508" y="0"/>
                    <a:pt x="3749040" y="65659"/>
                    <a:pt x="3749040" y="146685"/>
                  </a:cubicBezTo>
                  <a:lnTo>
                    <a:pt x="3749040" y="6619875"/>
                  </a:lnTo>
                  <a:cubicBezTo>
                    <a:pt x="3749040" y="6700901"/>
                    <a:pt x="3683508" y="6766560"/>
                    <a:pt x="3602736" y="6766560"/>
                  </a:cubicBezTo>
                  <a:lnTo>
                    <a:pt x="146304" y="6766560"/>
                  </a:lnTo>
                  <a:cubicBezTo>
                    <a:pt x="65532" y="6766560"/>
                    <a:pt x="0" y="6700901"/>
                    <a:pt x="0" y="6619875"/>
                  </a:cubicBezTo>
                  <a:close/>
                </a:path>
              </a:pathLst>
            </a:custGeom>
            <a:solidFill>
              <a:srgbClr val="FDFE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74440" cy="6791960"/>
            </a:xfrm>
            <a:custGeom>
              <a:avLst/>
              <a:gdLst/>
              <a:ahLst/>
              <a:cxnLst/>
              <a:rect r="r" b="b" t="t" l="l"/>
              <a:pathLst>
                <a:path h="6791960" w="3774440">
                  <a:moveTo>
                    <a:pt x="0" y="159385"/>
                  </a:moveTo>
                  <a:cubicBezTo>
                    <a:pt x="0" y="71374"/>
                    <a:pt x="71120" y="0"/>
                    <a:pt x="159004" y="0"/>
                  </a:cubicBezTo>
                  <a:lnTo>
                    <a:pt x="3615436" y="0"/>
                  </a:lnTo>
                  <a:lnTo>
                    <a:pt x="3615436" y="12700"/>
                  </a:lnTo>
                  <a:lnTo>
                    <a:pt x="3615436" y="0"/>
                  </a:lnTo>
                  <a:cubicBezTo>
                    <a:pt x="3703320" y="0"/>
                    <a:pt x="3774440" y="71374"/>
                    <a:pt x="3774440" y="159385"/>
                  </a:cubicBezTo>
                  <a:lnTo>
                    <a:pt x="3761740" y="159385"/>
                  </a:lnTo>
                  <a:lnTo>
                    <a:pt x="3774440" y="159385"/>
                  </a:lnTo>
                  <a:lnTo>
                    <a:pt x="3774440" y="6632575"/>
                  </a:lnTo>
                  <a:lnTo>
                    <a:pt x="3761740" y="6632575"/>
                  </a:lnTo>
                  <a:lnTo>
                    <a:pt x="3774440" y="6632575"/>
                  </a:lnTo>
                  <a:cubicBezTo>
                    <a:pt x="3774440" y="6720586"/>
                    <a:pt x="3703320" y="6791960"/>
                    <a:pt x="3615436" y="6791960"/>
                  </a:cubicBezTo>
                  <a:lnTo>
                    <a:pt x="3615436" y="6779260"/>
                  </a:lnTo>
                  <a:lnTo>
                    <a:pt x="3615436" y="6791960"/>
                  </a:lnTo>
                  <a:lnTo>
                    <a:pt x="159004" y="6791960"/>
                  </a:lnTo>
                  <a:lnTo>
                    <a:pt x="159004" y="6779260"/>
                  </a:lnTo>
                  <a:lnTo>
                    <a:pt x="159004" y="6791960"/>
                  </a:lnTo>
                  <a:cubicBezTo>
                    <a:pt x="71120" y="6791960"/>
                    <a:pt x="0" y="6720586"/>
                    <a:pt x="0" y="6632575"/>
                  </a:cubicBezTo>
                  <a:lnTo>
                    <a:pt x="0" y="159385"/>
                  </a:lnTo>
                  <a:lnTo>
                    <a:pt x="12700" y="159385"/>
                  </a:lnTo>
                  <a:lnTo>
                    <a:pt x="0" y="159385"/>
                  </a:lnTo>
                  <a:moveTo>
                    <a:pt x="25400" y="159385"/>
                  </a:moveTo>
                  <a:lnTo>
                    <a:pt x="25400" y="6632575"/>
                  </a:lnTo>
                  <a:lnTo>
                    <a:pt x="12700" y="6632575"/>
                  </a:lnTo>
                  <a:lnTo>
                    <a:pt x="25400" y="6632575"/>
                  </a:lnTo>
                  <a:cubicBezTo>
                    <a:pt x="25400" y="6706616"/>
                    <a:pt x="85217" y="6766560"/>
                    <a:pt x="159004" y="6766560"/>
                  </a:cubicBezTo>
                  <a:lnTo>
                    <a:pt x="3615436" y="6766560"/>
                  </a:lnTo>
                  <a:cubicBezTo>
                    <a:pt x="3689223" y="6766560"/>
                    <a:pt x="3749040" y="6706616"/>
                    <a:pt x="3749040" y="6632575"/>
                  </a:cubicBezTo>
                  <a:lnTo>
                    <a:pt x="3749040" y="159385"/>
                  </a:lnTo>
                  <a:cubicBezTo>
                    <a:pt x="3749040" y="85344"/>
                    <a:pt x="3689223" y="25400"/>
                    <a:pt x="361543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344"/>
                    <a:pt x="25400" y="159385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448175" y="2253615"/>
            <a:ext cx="128778" cy="5093970"/>
            <a:chOff x="0" y="0"/>
            <a:chExt cx="171704" cy="6791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2700" y="12700"/>
              <a:ext cx="146304" cy="6766560"/>
            </a:xfrm>
            <a:custGeom>
              <a:avLst/>
              <a:gdLst/>
              <a:ahLst/>
              <a:cxnLst/>
              <a:rect r="r" b="b" t="t" l="l"/>
              <a:pathLst>
                <a:path h="6766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766560"/>
                  </a:lnTo>
                  <a:lnTo>
                    <a:pt x="0" y="676656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1704" cy="6791960"/>
            </a:xfrm>
            <a:custGeom>
              <a:avLst/>
              <a:gdLst/>
              <a:ahLst/>
              <a:cxnLst/>
              <a:rect r="r" b="b" t="t" l="l"/>
              <a:pathLst>
                <a:path h="67919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6779260"/>
                  </a:lnTo>
                  <a:cubicBezTo>
                    <a:pt x="171704" y="6786245"/>
                    <a:pt x="165989" y="6791960"/>
                    <a:pt x="159004" y="6791960"/>
                  </a:cubicBezTo>
                  <a:lnTo>
                    <a:pt x="12700" y="6791960"/>
                  </a:lnTo>
                  <a:cubicBezTo>
                    <a:pt x="5715" y="6791960"/>
                    <a:pt x="0" y="6786245"/>
                    <a:pt x="0" y="6779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779260"/>
                  </a:lnTo>
                  <a:lnTo>
                    <a:pt x="12700" y="6779260"/>
                  </a:lnTo>
                  <a:lnTo>
                    <a:pt x="12700" y="6766560"/>
                  </a:lnTo>
                  <a:lnTo>
                    <a:pt x="159004" y="6766560"/>
                  </a:lnTo>
                  <a:lnTo>
                    <a:pt x="159004" y="6779260"/>
                  </a:lnTo>
                  <a:lnTo>
                    <a:pt x="146304" y="67792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4663440" y="2496312"/>
            <a:ext cx="493776" cy="493776"/>
            <a:chOff x="0" y="0"/>
            <a:chExt cx="658368" cy="6583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-1524" y="-1524"/>
              <a:ext cx="661416" cy="661416"/>
            </a:xfrm>
            <a:custGeom>
              <a:avLst/>
              <a:gdLst/>
              <a:ahLst/>
              <a:cxnLst/>
              <a:rect r="r" b="b" t="t" l="l"/>
              <a:pathLst>
                <a:path h="661416" w="661416">
                  <a:moveTo>
                    <a:pt x="1524" y="0"/>
                  </a:moveTo>
                  <a:lnTo>
                    <a:pt x="659892" y="0"/>
                  </a:lnTo>
                  <a:cubicBezTo>
                    <a:pt x="660781" y="0"/>
                    <a:pt x="661416" y="762"/>
                    <a:pt x="661416" y="1524"/>
                  </a:cubicBezTo>
                  <a:lnTo>
                    <a:pt x="661416" y="659892"/>
                  </a:lnTo>
                  <a:cubicBezTo>
                    <a:pt x="661416" y="660781"/>
                    <a:pt x="660654" y="661416"/>
                    <a:pt x="659892" y="661416"/>
                  </a:cubicBezTo>
                  <a:lnTo>
                    <a:pt x="1524" y="661416"/>
                  </a:lnTo>
                  <a:cubicBezTo>
                    <a:pt x="635" y="661416"/>
                    <a:pt x="0" y="660654"/>
                    <a:pt x="0" y="659892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659892"/>
                  </a:lnTo>
                  <a:lnTo>
                    <a:pt x="1524" y="659892"/>
                  </a:lnTo>
                  <a:lnTo>
                    <a:pt x="1524" y="658368"/>
                  </a:lnTo>
                  <a:lnTo>
                    <a:pt x="659892" y="658368"/>
                  </a:lnTo>
                  <a:lnTo>
                    <a:pt x="659892" y="659892"/>
                  </a:lnTo>
                  <a:lnTo>
                    <a:pt x="658368" y="659892"/>
                  </a:lnTo>
                  <a:lnTo>
                    <a:pt x="658368" y="1524"/>
                  </a:lnTo>
                  <a:lnTo>
                    <a:pt x="659892" y="1524"/>
                  </a:lnTo>
                  <a:lnTo>
                    <a:pt x="659892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658368" cy="65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704588" y="3223260"/>
            <a:ext cx="2194560" cy="576072"/>
            <a:chOff x="0" y="0"/>
            <a:chExt cx="2926080" cy="7680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26080" cy="768096"/>
            </a:xfrm>
            <a:custGeom>
              <a:avLst/>
              <a:gdLst/>
              <a:ahLst/>
              <a:cxnLst/>
              <a:rect r="r" b="b" t="t" l="l"/>
              <a:pathLst>
                <a:path h="76809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9260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EDA &amp; Missing Value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32020" y="4183380"/>
            <a:ext cx="2221992" cy="2057400"/>
            <a:chOff x="0" y="0"/>
            <a:chExt cx="2962656" cy="2743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62656" cy="2743200"/>
            </a:xfrm>
            <a:custGeom>
              <a:avLst/>
              <a:gdLst/>
              <a:ahLst/>
              <a:cxnLst/>
              <a:rect r="r" b="b" t="t" l="l"/>
              <a:pathLst>
                <a:path h="274320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799" t="0" r="-6879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962656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7"/>
                </a:lnSpc>
              </a:pPr>
              <a:r>
                <a:rPr lang="en-US" sz="1514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Mengecek distribusi, nilai 0 tidak valid, dan persentase data hilang.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301103" y="4105275"/>
            <a:ext cx="499110" cy="773430"/>
            <a:chOff x="0" y="0"/>
            <a:chExt cx="665480" cy="1031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2700" y="12700"/>
              <a:ext cx="640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">
                  <a:moveTo>
                    <a:pt x="0" y="0"/>
                  </a:moveTo>
                  <a:lnTo>
                    <a:pt x="320040" y="0"/>
                  </a:lnTo>
                  <a:lnTo>
                    <a:pt x="640080" y="502920"/>
                  </a:lnTo>
                  <a:lnTo>
                    <a:pt x="320040" y="1005840"/>
                  </a:lnTo>
                  <a:lnTo>
                    <a:pt x="0" y="1005840"/>
                  </a:lnTo>
                  <a:lnTo>
                    <a:pt x="320040" y="502920"/>
                  </a:lnTo>
                  <a:close/>
                </a:path>
              </a:pathLst>
            </a:custGeom>
            <a:solidFill>
              <a:srgbClr val="C8E4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-56" y="0"/>
              <a:ext cx="665504" cy="1031113"/>
            </a:xfrm>
            <a:custGeom>
              <a:avLst/>
              <a:gdLst/>
              <a:ahLst/>
              <a:cxnLst/>
              <a:rect r="r" b="b" t="t" l="l"/>
              <a:pathLst>
                <a:path h="1031113" w="665504">
                  <a:moveTo>
                    <a:pt x="12756" y="0"/>
                  </a:moveTo>
                  <a:lnTo>
                    <a:pt x="332796" y="0"/>
                  </a:lnTo>
                  <a:cubicBezTo>
                    <a:pt x="337114" y="0"/>
                    <a:pt x="341178" y="2159"/>
                    <a:pt x="343464" y="5842"/>
                  </a:cubicBezTo>
                  <a:lnTo>
                    <a:pt x="663504" y="508762"/>
                  </a:lnTo>
                  <a:cubicBezTo>
                    <a:pt x="666171" y="512953"/>
                    <a:pt x="666171" y="518287"/>
                    <a:pt x="663504" y="522351"/>
                  </a:cubicBezTo>
                  <a:lnTo>
                    <a:pt x="343464" y="1025271"/>
                  </a:lnTo>
                  <a:cubicBezTo>
                    <a:pt x="341178" y="1028954"/>
                    <a:pt x="337114" y="1031113"/>
                    <a:pt x="332796" y="1031113"/>
                  </a:cubicBezTo>
                  <a:lnTo>
                    <a:pt x="12756" y="1031113"/>
                  </a:lnTo>
                  <a:cubicBezTo>
                    <a:pt x="8184" y="1031113"/>
                    <a:pt x="3866" y="1028573"/>
                    <a:pt x="1580" y="1024509"/>
                  </a:cubicBezTo>
                  <a:cubicBezTo>
                    <a:pt x="-706" y="1020445"/>
                    <a:pt x="-452" y="1015492"/>
                    <a:pt x="1961" y="1011555"/>
                  </a:cubicBezTo>
                  <a:lnTo>
                    <a:pt x="322001" y="508635"/>
                  </a:lnTo>
                  <a:lnTo>
                    <a:pt x="332669" y="515493"/>
                  </a:lnTo>
                  <a:lnTo>
                    <a:pt x="322001" y="522351"/>
                  </a:lnTo>
                  <a:lnTo>
                    <a:pt x="2088" y="19558"/>
                  </a:lnTo>
                  <a:cubicBezTo>
                    <a:pt x="-452" y="15621"/>
                    <a:pt x="-579" y="10668"/>
                    <a:pt x="1580" y="6604"/>
                  </a:cubicBezTo>
                  <a:cubicBezTo>
                    <a:pt x="3739" y="2540"/>
                    <a:pt x="8184" y="0"/>
                    <a:pt x="12756" y="0"/>
                  </a:cubicBezTo>
                  <a:moveTo>
                    <a:pt x="12756" y="25400"/>
                  </a:moveTo>
                  <a:lnTo>
                    <a:pt x="12756" y="12700"/>
                  </a:lnTo>
                  <a:lnTo>
                    <a:pt x="23424" y="5842"/>
                  </a:lnTo>
                  <a:lnTo>
                    <a:pt x="343464" y="508762"/>
                  </a:lnTo>
                  <a:cubicBezTo>
                    <a:pt x="346131" y="512953"/>
                    <a:pt x="346131" y="518287"/>
                    <a:pt x="343464" y="522351"/>
                  </a:cubicBezTo>
                  <a:lnTo>
                    <a:pt x="23424" y="1025398"/>
                  </a:lnTo>
                  <a:lnTo>
                    <a:pt x="12756" y="1018540"/>
                  </a:lnTo>
                  <a:lnTo>
                    <a:pt x="12756" y="1005840"/>
                  </a:lnTo>
                  <a:lnTo>
                    <a:pt x="332796" y="1005840"/>
                  </a:lnTo>
                  <a:lnTo>
                    <a:pt x="332796" y="1018540"/>
                  </a:lnTo>
                  <a:lnTo>
                    <a:pt x="322128" y="1011682"/>
                  </a:lnTo>
                  <a:lnTo>
                    <a:pt x="642168" y="508762"/>
                  </a:lnTo>
                  <a:lnTo>
                    <a:pt x="652836" y="515620"/>
                  </a:lnTo>
                  <a:lnTo>
                    <a:pt x="642168" y="522478"/>
                  </a:lnTo>
                  <a:lnTo>
                    <a:pt x="322128" y="19558"/>
                  </a:lnTo>
                  <a:lnTo>
                    <a:pt x="332796" y="12700"/>
                  </a:lnTo>
                  <a:lnTo>
                    <a:pt x="332796" y="25400"/>
                  </a:lnTo>
                  <a:lnTo>
                    <a:pt x="12756" y="25400"/>
                  </a:lnTo>
                  <a:close/>
                </a:path>
              </a:pathLst>
            </a:custGeom>
            <a:solidFill>
              <a:srgbClr val="C8E4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877175" y="2253615"/>
            <a:ext cx="2830830" cy="5093970"/>
            <a:chOff x="0" y="0"/>
            <a:chExt cx="3774440" cy="67919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2700" y="12700"/>
              <a:ext cx="3749040" cy="6766560"/>
            </a:xfrm>
            <a:custGeom>
              <a:avLst/>
              <a:gdLst/>
              <a:ahLst/>
              <a:cxnLst/>
              <a:rect r="r" b="b" t="t" l="l"/>
              <a:pathLst>
                <a:path h="6766560" w="3749040">
                  <a:moveTo>
                    <a:pt x="0" y="146685"/>
                  </a:moveTo>
                  <a:cubicBezTo>
                    <a:pt x="0" y="65659"/>
                    <a:pt x="65532" y="0"/>
                    <a:pt x="146304" y="0"/>
                  </a:cubicBezTo>
                  <a:lnTo>
                    <a:pt x="3602736" y="0"/>
                  </a:lnTo>
                  <a:cubicBezTo>
                    <a:pt x="3683508" y="0"/>
                    <a:pt x="3749040" y="65659"/>
                    <a:pt x="3749040" y="146685"/>
                  </a:cubicBezTo>
                  <a:lnTo>
                    <a:pt x="3749040" y="6619875"/>
                  </a:lnTo>
                  <a:cubicBezTo>
                    <a:pt x="3749040" y="6700901"/>
                    <a:pt x="3683508" y="6766560"/>
                    <a:pt x="3602736" y="6766560"/>
                  </a:cubicBezTo>
                  <a:lnTo>
                    <a:pt x="146304" y="6766560"/>
                  </a:lnTo>
                  <a:cubicBezTo>
                    <a:pt x="65532" y="6766560"/>
                    <a:pt x="0" y="6700901"/>
                    <a:pt x="0" y="66198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774440" cy="6791960"/>
            </a:xfrm>
            <a:custGeom>
              <a:avLst/>
              <a:gdLst/>
              <a:ahLst/>
              <a:cxnLst/>
              <a:rect r="r" b="b" t="t" l="l"/>
              <a:pathLst>
                <a:path h="6791960" w="3774440">
                  <a:moveTo>
                    <a:pt x="0" y="159385"/>
                  </a:moveTo>
                  <a:cubicBezTo>
                    <a:pt x="0" y="71374"/>
                    <a:pt x="71120" y="0"/>
                    <a:pt x="159004" y="0"/>
                  </a:cubicBezTo>
                  <a:lnTo>
                    <a:pt x="3615436" y="0"/>
                  </a:lnTo>
                  <a:lnTo>
                    <a:pt x="3615436" y="12700"/>
                  </a:lnTo>
                  <a:lnTo>
                    <a:pt x="3615436" y="0"/>
                  </a:lnTo>
                  <a:cubicBezTo>
                    <a:pt x="3703320" y="0"/>
                    <a:pt x="3774440" y="71374"/>
                    <a:pt x="3774440" y="159385"/>
                  </a:cubicBezTo>
                  <a:lnTo>
                    <a:pt x="3761740" y="159385"/>
                  </a:lnTo>
                  <a:lnTo>
                    <a:pt x="3774440" y="159385"/>
                  </a:lnTo>
                  <a:lnTo>
                    <a:pt x="3774440" y="6632575"/>
                  </a:lnTo>
                  <a:lnTo>
                    <a:pt x="3761740" y="6632575"/>
                  </a:lnTo>
                  <a:lnTo>
                    <a:pt x="3774440" y="6632575"/>
                  </a:lnTo>
                  <a:cubicBezTo>
                    <a:pt x="3774440" y="6720586"/>
                    <a:pt x="3703320" y="6791960"/>
                    <a:pt x="3615436" y="6791960"/>
                  </a:cubicBezTo>
                  <a:lnTo>
                    <a:pt x="3615436" y="6779260"/>
                  </a:lnTo>
                  <a:lnTo>
                    <a:pt x="3615436" y="6791960"/>
                  </a:lnTo>
                  <a:lnTo>
                    <a:pt x="159004" y="6791960"/>
                  </a:lnTo>
                  <a:lnTo>
                    <a:pt x="159004" y="6779260"/>
                  </a:lnTo>
                  <a:lnTo>
                    <a:pt x="159004" y="6791960"/>
                  </a:lnTo>
                  <a:cubicBezTo>
                    <a:pt x="71120" y="6791960"/>
                    <a:pt x="0" y="6720586"/>
                    <a:pt x="0" y="6632575"/>
                  </a:cubicBezTo>
                  <a:lnTo>
                    <a:pt x="0" y="159385"/>
                  </a:lnTo>
                  <a:lnTo>
                    <a:pt x="12700" y="159385"/>
                  </a:lnTo>
                  <a:lnTo>
                    <a:pt x="0" y="159385"/>
                  </a:lnTo>
                  <a:moveTo>
                    <a:pt x="25400" y="159385"/>
                  </a:moveTo>
                  <a:lnTo>
                    <a:pt x="25400" y="6632575"/>
                  </a:lnTo>
                  <a:lnTo>
                    <a:pt x="12700" y="6632575"/>
                  </a:lnTo>
                  <a:lnTo>
                    <a:pt x="25400" y="6632575"/>
                  </a:lnTo>
                  <a:cubicBezTo>
                    <a:pt x="25400" y="6706616"/>
                    <a:pt x="85217" y="6766560"/>
                    <a:pt x="159004" y="6766560"/>
                  </a:cubicBezTo>
                  <a:lnTo>
                    <a:pt x="3615436" y="6766560"/>
                  </a:lnTo>
                  <a:cubicBezTo>
                    <a:pt x="3689223" y="6766560"/>
                    <a:pt x="3749040" y="6706616"/>
                    <a:pt x="3749040" y="6632575"/>
                  </a:cubicBezTo>
                  <a:lnTo>
                    <a:pt x="3749040" y="159385"/>
                  </a:lnTo>
                  <a:cubicBezTo>
                    <a:pt x="3749040" y="85344"/>
                    <a:pt x="3689223" y="25400"/>
                    <a:pt x="361543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344"/>
                    <a:pt x="25400" y="159385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877175" y="2253615"/>
            <a:ext cx="128778" cy="5093970"/>
            <a:chOff x="0" y="0"/>
            <a:chExt cx="171704" cy="6791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12700"/>
              <a:ext cx="146304" cy="6766560"/>
            </a:xfrm>
            <a:custGeom>
              <a:avLst/>
              <a:gdLst/>
              <a:ahLst/>
              <a:cxnLst/>
              <a:rect r="r" b="b" t="t" l="l"/>
              <a:pathLst>
                <a:path h="6766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766560"/>
                  </a:lnTo>
                  <a:lnTo>
                    <a:pt x="0" y="676656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1704" cy="6791960"/>
            </a:xfrm>
            <a:custGeom>
              <a:avLst/>
              <a:gdLst/>
              <a:ahLst/>
              <a:cxnLst/>
              <a:rect r="r" b="b" t="t" l="l"/>
              <a:pathLst>
                <a:path h="67919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6779260"/>
                  </a:lnTo>
                  <a:cubicBezTo>
                    <a:pt x="171704" y="6786245"/>
                    <a:pt x="165989" y="6791960"/>
                    <a:pt x="159004" y="6791960"/>
                  </a:cubicBezTo>
                  <a:lnTo>
                    <a:pt x="12700" y="6791960"/>
                  </a:lnTo>
                  <a:cubicBezTo>
                    <a:pt x="5715" y="6791960"/>
                    <a:pt x="0" y="6786245"/>
                    <a:pt x="0" y="6779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779260"/>
                  </a:lnTo>
                  <a:lnTo>
                    <a:pt x="12700" y="6779260"/>
                  </a:lnTo>
                  <a:lnTo>
                    <a:pt x="12700" y="6766560"/>
                  </a:lnTo>
                  <a:lnTo>
                    <a:pt x="159004" y="6766560"/>
                  </a:lnTo>
                  <a:lnTo>
                    <a:pt x="159004" y="6779260"/>
                  </a:lnTo>
                  <a:lnTo>
                    <a:pt x="146304" y="67792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092440" y="2496312"/>
            <a:ext cx="493776" cy="493776"/>
            <a:chOff x="0" y="0"/>
            <a:chExt cx="658368" cy="6583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-1524" y="-1524"/>
              <a:ext cx="661416" cy="661416"/>
            </a:xfrm>
            <a:custGeom>
              <a:avLst/>
              <a:gdLst/>
              <a:ahLst/>
              <a:cxnLst/>
              <a:rect r="r" b="b" t="t" l="l"/>
              <a:pathLst>
                <a:path h="661416" w="661416">
                  <a:moveTo>
                    <a:pt x="1524" y="0"/>
                  </a:moveTo>
                  <a:lnTo>
                    <a:pt x="659892" y="0"/>
                  </a:lnTo>
                  <a:cubicBezTo>
                    <a:pt x="660781" y="0"/>
                    <a:pt x="661416" y="762"/>
                    <a:pt x="661416" y="1524"/>
                  </a:cubicBezTo>
                  <a:lnTo>
                    <a:pt x="661416" y="659892"/>
                  </a:lnTo>
                  <a:cubicBezTo>
                    <a:pt x="661416" y="660781"/>
                    <a:pt x="660654" y="661416"/>
                    <a:pt x="659892" y="661416"/>
                  </a:cubicBezTo>
                  <a:lnTo>
                    <a:pt x="1524" y="661416"/>
                  </a:lnTo>
                  <a:cubicBezTo>
                    <a:pt x="635" y="661416"/>
                    <a:pt x="0" y="660654"/>
                    <a:pt x="0" y="659892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659892"/>
                  </a:lnTo>
                  <a:lnTo>
                    <a:pt x="1524" y="659892"/>
                  </a:lnTo>
                  <a:lnTo>
                    <a:pt x="1524" y="658368"/>
                  </a:lnTo>
                  <a:lnTo>
                    <a:pt x="659892" y="658368"/>
                  </a:lnTo>
                  <a:lnTo>
                    <a:pt x="659892" y="659892"/>
                  </a:lnTo>
                  <a:lnTo>
                    <a:pt x="658368" y="659892"/>
                  </a:lnTo>
                  <a:lnTo>
                    <a:pt x="658368" y="1524"/>
                  </a:lnTo>
                  <a:lnTo>
                    <a:pt x="659892" y="1524"/>
                  </a:lnTo>
                  <a:lnTo>
                    <a:pt x="659892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658368" cy="65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133588" y="3223260"/>
            <a:ext cx="2194560" cy="576072"/>
            <a:chOff x="0" y="0"/>
            <a:chExt cx="2926080" cy="7680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26080" cy="768096"/>
            </a:xfrm>
            <a:custGeom>
              <a:avLst/>
              <a:gdLst/>
              <a:ahLst/>
              <a:cxnLst/>
              <a:rect r="r" b="b" t="t" l="l"/>
              <a:pathLst>
                <a:path h="76809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29260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Train-Test Split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161020" y="4183380"/>
            <a:ext cx="2221992" cy="2057400"/>
            <a:chOff x="0" y="0"/>
            <a:chExt cx="2962656" cy="2743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962656" cy="2743200"/>
            </a:xfrm>
            <a:custGeom>
              <a:avLst/>
              <a:gdLst/>
              <a:ahLst/>
              <a:cxnLst/>
              <a:rect r="r" b="b" t="t" l="l"/>
              <a:pathLst>
                <a:path h="274320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799" t="0" r="-68799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2962656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7"/>
                </a:lnSpc>
              </a:pPr>
              <a:r>
                <a:rPr lang="en-US" sz="1514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Rasio 80:20 dengan stratified sampling agar proporsi kelas tetap seimbang.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730103" y="4105275"/>
            <a:ext cx="499110" cy="773430"/>
            <a:chOff x="0" y="0"/>
            <a:chExt cx="665480" cy="10312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2700" y="12700"/>
              <a:ext cx="640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">
                  <a:moveTo>
                    <a:pt x="0" y="0"/>
                  </a:moveTo>
                  <a:lnTo>
                    <a:pt x="320040" y="0"/>
                  </a:lnTo>
                  <a:lnTo>
                    <a:pt x="640080" y="502920"/>
                  </a:lnTo>
                  <a:lnTo>
                    <a:pt x="320040" y="1005840"/>
                  </a:lnTo>
                  <a:lnTo>
                    <a:pt x="0" y="1005840"/>
                  </a:lnTo>
                  <a:lnTo>
                    <a:pt x="320040" y="502920"/>
                  </a:lnTo>
                  <a:close/>
                </a:path>
              </a:pathLst>
            </a:custGeom>
            <a:solidFill>
              <a:srgbClr val="C8E4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-56" y="0"/>
              <a:ext cx="665504" cy="1031113"/>
            </a:xfrm>
            <a:custGeom>
              <a:avLst/>
              <a:gdLst/>
              <a:ahLst/>
              <a:cxnLst/>
              <a:rect r="r" b="b" t="t" l="l"/>
              <a:pathLst>
                <a:path h="1031113" w="665504">
                  <a:moveTo>
                    <a:pt x="12756" y="0"/>
                  </a:moveTo>
                  <a:lnTo>
                    <a:pt x="332796" y="0"/>
                  </a:lnTo>
                  <a:cubicBezTo>
                    <a:pt x="337114" y="0"/>
                    <a:pt x="341178" y="2159"/>
                    <a:pt x="343464" y="5842"/>
                  </a:cubicBezTo>
                  <a:lnTo>
                    <a:pt x="663504" y="508762"/>
                  </a:lnTo>
                  <a:cubicBezTo>
                    <a:pt x="666171" y="512953"/>
                    <a:pt x="666171" y="518287"/>
                    <a:pt x="663504" y="522351"/>
                  </a:cubicBezTo>
                  <a:lnTo>
                    <a:pt x="343464" y="1025271"/>
                  </a:lnTo>
                  <a:cubicBezTo>
                    <a:pt x="341178" y="1028954"/>
                    <a:pt x="337114" y="1031113"/>
                    <a:pt x="332796" y="1031113"/>
                  </a:cubicBezTo>
                  <a:lnTo>
                    <a:pt x="12756" y="1031113"/>
                  </a:lnTo>
                  <a:cubicBezTo>
                    <a:pt x="8184" y="1031113"/>
                    <a:pt x="3866" y="1028573"/>
                    <a:pt x="1580" y="1024509"/>
                  </a:cubicBezTo>
                  <a:cubicBezTo>
                    <a:pt x="-706" y="1020445"/>
                    <a:pt x="-452" y="1015492"/>
                    <a:pt x="1961" y="1011555"/>
                  </a:cubicBezTo>
                  <a:lnTo>
                    <a:pt x="322001" y="508635"/>
                  </a:lnTo>
                  <a:lnTo>
                    <a:pt x="332669" y="515493"/>
                  </a:lnTo>
                  <a:lnTo>
                    <a:pt x="322001" y="522351"/>
                  </a:lnTo>
                  <a:lnTo>
                    <a:pt x="2088" y="19558"/>
                  </a:lnTo>
                  <a:cubicBezTo>
                    <a:pt x="-452" y="15621"/>
                    <a:pt x="-579" y="10668"/>
                    <a:pt x="1580" y="6604"/>
                  </a:cubicBezTo>
                  <a:cubicBezTo>
                    <a:pt x="3739" y="2540"/>
                    <a:pt x="8184" y="0"/>
                    <a:pt x="12756" y="0"/>
                  </a:cubicBezTo>
                  <a:moveTo>
                    <a:pt x="12756" y="25400"/>
                  </a:moveTo>
                  <a:lnTo>
                    <a:pt x="12756" y="12700"/>
                  </a:lnTo>
                  <a:lnTo>
                    <a:pt x="23424" y="5842"/>
                  </a:lnTo>
                  <a:lnTo>
                    <a:pt x="343464" y="508762"/>
                  </a:lnTo>
                  <a:cubicBezTo>
                    <a:pt x="346131" y="512953"/>
                    <a:pt x="346131" y="518287"/>
                    <a:pt x="343464" y="522351"/>
                  </a:cubicBezTo>
                  <a:lnTo>
                    <a:pt x="23424" y="1025398"/>
                  </a:lnTo>
                  <a:lnTo>
                    <a:pt x="12756" y="1018540"/>
                  </a:lnTo>
                  <a:lnTo>
                    <a:pt x="12756" y="1005840"/>
                  </a:lnTo>
                  <a:lnTo>
                    <a:pt x="332796" y="1005840"/>
                  </a:lnTo>
                  <a:lnTo>
                    <a:pt x="332796" y="1018540"/>
                  </a:lnTo>
                  <a:lnTo>
                    <a:pt x="322128" y="1011682"/>
                  </a:lnTo>
                  <a:lnTo>
                    <a:pt x="642168" y="508762"/>
                  </a:lnTo>
                  <a:lnTo>
                    <a:pt x="652836" y="515620"/>
                  </a:lnTo>
                  <a:lnTo>
                    <a:pt x="642168" y="522478"/>
                  </a:lnTo>
                  <a:lnTo>
                    <a:pt x="322128" y="19558"/>
                  </a:lnTo>
                  <a:lnTo>
                    <a:pt x="332796" y="12700"/>
                  </a:lnTo>
                  <a:lnTo>
                    <a:pt x="332796" y="25400"/>
                  </a:lnTo>
                  <a:lnTo>
                    <a:pt x="12756" y="25400"/>
                  </a:lnTo>
                  <a:close/>
                </a:path>
              </a:pathLst>
            </a:custGeom>
            <a:solidFill>
              <a:srgbClr val="C8E4F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306175" y="2253615"/>
            <a:ext cx="2830830" cy="5093970"/>
            <a:chOff x="0" y="0"/>
            <a:chExt cx="3774440" cy="67919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2700" y="12700"/>
              <a:ext cx="3749040" cy="6766560"/>
            </a:xfrm>
            <a:custGeom>
              <a:avLst/>
              <a:gdLst/>
              <a:ahLst/>
              <a:cxnLst/>
              <a:rect r="r" b="b" t="t" l="l"/>
              <a:pathLst>
                <a:path h="6766560" w="3749040">
                  <a:moveTo>
                    <a:pt x="0" y="146685"/>
                  </a:moveTo>
                  <a:cubicBezTo>
                    <a:pt x="0" y="65659"/>
                    <a:pt x="65532" y="0"/>
                    <a:pt x="146304" y="0"/>
                  </a:cubicBezTo>
                  <a:lnTo>
                    <a:pt x="3602736" y="0"/>
                  </a:lnTo>
                  <a:cubicBezTo>
                    <a:pt x="3683508" y="0"/>
                    <a:pt x="3749040" y="65659"/>
                    <a:pt x="3749040" y="146685"/>
                  </a:cubicBezTo>
                  <a:lnTo>
                    <a:pt x="3749040" y="6619875"/>
                  </a:lnTo>
                  <a:cubicBezTo>
                    <a:pt x="3749040" y="6700901"/>
                    <a:pt x="3683508" y="6766560"/>
                    <a:pt x="3602736" y="6766560"/>
                  </a:cubicBezTo>
                  <a:lnTo>
                    <a:pt x="146304" y="6766560"/>
                  </a:lnTo>
                  <a:cubicBezTo>
                    <a:pt x="65532" y="6766560"/>
                    <a:pt x="0" y="6700901"/>
                    <a:pt x="0" y="6619875"/>
                  </a:cubicBezTo>
                  <a:close/>
                </a:path>
              </a:pathLst>
            </a:custGeom>
            <a:solidFill>
              <a:srgbClr val="FDFEFF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774440" cy="6791960"/>
            </a:xfrm>
            <a:custGeom>
              <a:avLst/>
              <a:gdLst/>
              <a:ahLst/>
              <a:cxnLst/>
              <a:rect r="r" b="b" t="t" l="l"/>
              <a:pathLst>
                <a:path h="6791960" w="3774440">
                  <a:moveTo>
                    <a:pt x="0" y="159385"/>
                  </a:moveTo>
                  <a:cubicBezTo>
                    <a:pt x="0" y="71374"/>
                    <a:pt x="71120" y="0"/>
                    <a:pt x="159004" y="0"/>
                  </a:cubicBezTo>
                  <a:lnTo>
                    <a:pt x="3615436" y="0"/>
                  </a:lnTo>
                  <a:lnTo>
                    <a:pt x="3615436" y="12700"/>
                  </a:lnTo>
                  <a:lnTo>
                    <a:pt x="3615436" y="0"/>
                  </a:lnTo>
                  <a:cubicBezTo>
                    <a:pt x="3703320" y="0"/>
                    <a:pt x="3774440" y="71374"/>
                    <a:pt x="3774440" y="159385"/>
                  </a:cubicBezTo>
                  <a:lnTo>
                    <a:pt x="3761740" y="159385"/>
                  </a:lnTo>
                  <a:lnTo>
                    <a:pt x="3774440" y="159385"/>
                  </a:lnTo>
                  <a:lnTo>
                    <a:pt x="3774440" y="6632575"/>
                  </a:lnTo>
                  <a:lnTo>
                    <a:pt x="3761740" y="6632575"/>
                  </a:lnTo>
                  <a:lnTo>
                    <a:pt x="3774440" y="6632575"/>
                  </a:lnTo>
                  <a:cubicBezTo>
                    <a:pt x="3774440" y="6720586"/>
                    <a:pt x="3703320" y="6791960"/>
                    <a:pt x="3615436" y="6791960"/>
                  </a:cubicBezTo>
                  <a:lnTo>
                    <a:pt x="3615436" y="6779260"/>
                  </a:lnTo>
                  <a:lnTo>
                    <a:pt x="3615436" y="6791960"/>
                  </a:lnTo>
                  <a:lnTo>
                    <a:pt x="159004" y="6791960"/>
                  </a:lnTo>
                  <a:lnTo>
                    <a:pt x="159004" y="6779260"/>
                  </a:lnTo>
                  <a:lnTo>
                    <a:pt x="159004" y="6791960"/>
                  </a:lnTo>
                  <a:cubicBezTo>
                    <a:pt x="71120" y="6791960"/>
                    <a:pt x="0" y="6720586"/>
                    <a:pt x="0" y="6632575"/>
                  </a:cubicBezTo>
                  <a:lnTo>
                    <a:pt x="0" y="159385"/>
                  </a:lnTo>
                  <a:lnTo>
                    <a:pt x="12700" y="159385"/>
                  </a:lnTo>
                  <a:lnTo>
                    <a:pt x="0" y="159385"/>
                  </a:lnTo>
                  <a:moveTo>
                    <a:pt x="25400" y="159385"/>
                  </a:moveTo>
                  <a:lnTo>
                    <a:pt x="25400" y="6632575"/>
                  </a:lnTo>
                  <a:lnTo>
                    <a:pt x="12700" y="6632575"/>
                  </a:lnTo>
                  <a:lnTo>
                    <a:pt x="25400" y="6632575"/>
                  </a:lnTo>
                  <a:cubicBezTo>
                    <a:pt x="25400" y="6706616"/>
                    <a:pt x="85217" y="6766560"/>
                    <a:pt x="159004" y="6766560"/>
                  </a:cubicBezTo>
                  <a:lnTo>
                    <a:pt x="3615436" y="6766560"/>
                  </a:lnTo>
                  <a:cubicBezTo>
                    <a:pt x="3689223" y="6766560"/>
                    <a:pt x="3749040" y="6706616"/>
                    <a:pt x="3749040" y="6632575"/>
                  </a:cubicBezTo>
                  <a:lnTo>
                    <a:pt x="3749040" y="159385"/>
                  </a:lnTo>
                  <a:cubicBezTo>
                    <a:pt x="3749040" y="85344"/>
                    <a:pt x="3689223" y="25400"/>
                    <a:pt x="361543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344"/>
                    <a:pt x="25400" y="159385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306175" y="2253615"/>
            <a:ext cx="128778" cy="5093970"/>
            <a:chOff x="0" y="0"/>
            <a:chExt cx="171704" cy="67919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2700" y="12700"/>
              <a:ext cx="146304" cy="6766560"/>
            </a:xfrm>
            <a:custGeom>
              <a:avLst/>
              <a:gdLst/>
              <a:ahLst/>
              <a:cxnLst/>
              <a:rect r="r" b="b" t="t" l="l"/>
              <a:pathLst>
                <a:path h="6766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766560"/>
                  </a:lnTo>
                  <a:lnTo>
                    <a:pt x="0" y="676656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71704" cy="6791960"/>
            </a:xfrm>
            <a:custGeom>
              <a:avLst/>
              <a:gdLst/>
              <a:ahLst/>
              <a:cxnLst/>
              <a:rect r="r" b="b" t="t" l="l"/>
              <a:pathLst>
                <a:path h="67919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6779260"/>
                  </a:lnTo>
                  <a:cubicBezTo>
                    <a:pt x="171704" y="6786245"/>
                    <a:pt x="165989" y="6791960"/>
                    <a:pt x="159004" y="6791960"/>
                  </a:cubicBezTo>
                  <a:lnTo>
                    <a:pt x="12700" y="6791960"/>
                  </a:lnTo>
                  <a:cubicBezTo>
                    <a:pt x="5715" y="6791960"/>
                    <a:pt x="0" y="6786245"/>
                    <a:pt x="0" y="6779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779260"/>
                  </a:lnTo>
                  <a:lnTo>
                    <a:pt x="12700" y="6779260"/>
                  </a:lnTo>
                  <a:lnTo>
                    <a:pt x="12700" y="6766560"/>
                  </a:lnTo>
                  <a:lnTo>
                    <a:pt x="159004" y="6766560"/>
                  </a:lnTo>
                  <a:lnTo>
                    <a:pt x="159004" y="6779260"/>
                  </a:lnTo>
                  <a:lnTo>
                    <a:pt x="146304" y="67792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521440" y="2496312"/>
            <a:ext cx="493776" cy="493776"/>
            <a:chOff x="0" y="0"/>
            <a:chExt cx="658368" cy="65836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-1524" y="-1524"/>
              <a:ext cx="661416" cy="661416"/>
            </a:xfrm>
            <a:custGeom>
              <a:avLst/>
              <a:gdLst/>
              <a:ahLst/>
              <a:cxnLst/>
              <a:rect r="r" b="b" t="t" l="l"/>
              <a:pathLst>
                <a:path h="661416" w="661416">
                  <a:moveTo>
                    <a:pt x="1524" y="0"/>
                  </a:moveTo>
                  <a:lnTo>
                    <a:pt x="659892" y="0"/>
                  </a:lnTo>
                  <a:cubicBezTo>
                    <a:pt x="660781" y="0"/>
                    <a:pt x="661416" y="762"/>
                    <a:pt x="661416" y="1524"/>
                  </a:cubicBezTo>
                  <a:lnTo>
                    <a:pt x="661416" y="659892"/>
                  </a:lnTo>
                  <a:cubicBezTo>
                    <a:pt x="661416" y="660781"/>
                    <a:pt x="660654" y="661416"/>
                    <a:pt x="659892" y="661416"/>
                  </a:cubicBezTo>
                  <a:lnTo>
                    <a:pt x="1524" y="661416"/>
                  </a:lnTo>
                  <a:cubicBezTo>
                    <a:pt x="635" y="661416"/>
                    <a:pt x="0" y="660654"/>
                    <a:pt x="0" y="659892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659892"/>
                  </a:lnTo>
                  <a:lnTo>
                    <a:pt x="1524" y="659892"/>
                  </a:lnTo>
                  <a:lnTo>
                    <a:pt x="1524" y="658368"/>
                  </a:lnTo>
                  <a:lnTo>
                    <a:pt x="659892" y="658368"/>
                  </a:lnTo>
                  <a:lnTo>
                    <a:pt x="659892" y="659892"/>
                  </a:lnTo>
                  <a:lnTo>
                    <a:pt x="658368" y="659892"/>
                  </a:lnTo>
                  <a:lnTo>
                    <a:pt x="658368" y="1524"/>
                  </a:lnTo>
                  <a:lnTo>
                    <a:pt x="659892" y="1524"/>
                  </a:lnTo>
                  <a:lnTo>
                    <a:pt x="659892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658368" cy="65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562588" y="3223260"/>
            <a:ext cx="2194560" cy="576072"/>
            <a:chOff x="0" y="0"/>
            <a:chExt cx="2926080" cy="7680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926080" cy="768096"/>
            </a:xfrm>
            <a:custGeom>
              <a:avLst/>
              <a:gdLst/>
              <a:ahLst/>
              <a:cxnLst/>
              <a:rect r="r" b="b" t="t" l="l"/>
              <a:pathLst>
                <a:path h="76809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29260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Imputasi Data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590020" y="4183380"/>
            <a:ext cx="2221992" cy="2057400"/>
            <a:chOff x="0" y="0"/>
            <a:chExt cx="2962656" cy="2743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962656" cy="2743200"/>
            </a:xfrm>
            <a:custGeom>
              <a:avLst/>
              <a:gdLst/>
              <a:ahLst/>
              <a:cxnLst/>
              <a:rect r="r" b="b" t="t" l="l"/>
              <a:pathLst>
                <a:path h="274320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799" t="0" r="-68799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2962656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7"/>
                </a:lnSpc>
              </a:pPr>
              <a:r>
                <a:rPr lang="en-US" sz="1514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Menerapkan Mean, KNN, MICE, serta baseline Drop NA sebagai pembanding.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159103" y="4105275"/>
            <a:ext cx="499110" cy="773430"/>
            <a:chOff x="0" y="0"/>
            <a:chExt cx="665480" cy="10312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2700" y="12700"/>
              <a:ext cx="640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40080">
                  <a:moveTo>
                    <a:pt x="0" y="0"/>
                  </a:moveTo>
                  <a:lnTo>
                    <a:pt x="320040" y="0"/>
                  </a:lnTo>
                  <a:lnTo>
                    <a:pt x="640080" y="502920"/>
                  </a:lnTo>
                  <a:lnTo>
                    <a:pt x="320040" y="1005840"/>
                  </a:lnTo>
                  <a:lnTo>
                    <a:pt x="0" y="1005840"/>
                  </a:lnTo>
                  <a:lnTo>
                    <a:pt x="320040" y="502920"/>
                  </a:lnTo>
                  <a:close/>
                </a:path>
              </a:pathLst>
            </a:custGeom>
            <a:solidFill>
              <a:srgbClr val="C8E4FF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-56" y="0"/>
              <a:ext cx="665504" cy="1031113"/>
            </a:xfrm>
            <a:custGeom>
              <a:avLst/>
              <a:gdLst/>
              <a:ahLst/>
              <a:cxnLst/>
              <a:rect r="r" b="b" t="t" l="l"/>
              <a:pathLst>
                <a:path h="1031113" w="665504">
                  <a:moveTo>
                    <a:pt x="12756" y="0"/>
                  </a:moveTo>
                  <a:lnTo>
                    <a:pt x="332796" y="0"/>
                  </a:lnTo>
                  <a:cubicBezTo>
                    <a:pt x="337114" y="0"/>
                    <a:pt x="341178" y="2159"/>
                    <a:pt x="343464" y="5842"/>
                  </a:cubicBezTo>
                  <a:lnTo>
                    <a:pt x="663504" y="508762"/>
                  </a:lnTo>
                  <a:cubicBezTo>
                    <a:pt x="666171" y="512953"/>
                    <a:pt x="666171" y="518287"/>
                    <a:pt x="663504" y="522351"/>
                  </a:cubicBezTo>
                  <a:lnTo>
                    <a:pt x="343464" y="1025271"/>
                  </a:lnTo>
                  <a:cubicBezTo>
                    <a:pt x="341178" y="1028954"/>
                    <a:pt x="337114" y="1031113"/>
                    <a:pt x="332796" y="1031113"/>
                  </a:cubicBezTo>
                  <a:lnTo>
                    <a:pt x="12756" y="1031113"/>
                  </a:lnTo>
                  <a:cubicBezTo>
                    <a:pt x="8184" y="1031113"/>
                    <a:pt x="3866" y="1028573"/>
                    <a:pt x="1580" y="1024509"/>
                  </a:cubicBezTo>
                  <a:cubicBezTo>
                    <a:pt x="-706" y="1020445"/>
                    <a:pt x="-452" y="1015492"/>
                    <a:pt x="1961" y="1011555"/>
                  </a:cubicBezTo>
                  <a:lnTo>
                    <a:pt x="322001" y="508635"/>
                  </a:lnTo>
                  <a:lnTo>
                    <a:pt x="332669" y="515493"/>
                  </a:lnTo>
                  <a:lnTo>
                    <a:pt x="322001" y="522351"/>
                  </a:lnTo>
                  <a:lnTo>
                    <a:pt x="2088" y="19558"/>
                  </a:lnTo>
                  <a:cubicBezTo>
                    <a:pt x="-452" y="15621"/>
                    <a:pt x="-579" y="10668"/>
                    <a:pt x="1580" y="6604"/>
                  </a:cubicBezTo>
                  <a:cubicBezTo>
                    <a:pt x="3739" y="2540"/>
                    <a:pt x="8184" y="0"/>
                    <a:pt x="12756" y="0"/>
                  </a:cubicBezTo>
                  <a:moveTo>
                    <a:pt x="12756" y="25400"/>
                  </a:moveTo>
                  <a:lnTo>
                    <a:pt x="12756" y="12700"/>
                  </a:lnTo>
                  <a:lnTo>
                    <a:pt x="23424" y="5842"/>
                  </a:lnTo>
                  <a:lnTo>
                    <a:pt x="343464" y="508762"/>
                  </a:lnTo>
                  <a:cubicBezTo>
                    <a:pt x="346131" y="512953"/>
                    <a:pt x="346131" y="518287"/>
                    <a:pt x="343464" y="522351"/>
                  </a:cubicBezTo>
                  <a:lnTo>
                    <a:pt x="23424" y="1025398"/>
                  </a:lnTo>
                  <a:lnTo>
                    <a:pt x="12756" y="1018540"/>
                  </a:lnTo>
                  <a:lnTo>
                    <a:pt x="12756" y="1005840"/>
                  </a:lnTo>
                  <a:lnTo>
                    <a:pt x="332796" y="1005840"/>
                  </a:lnTo>
                  <a:lnTo>
                    <a:pt x="332796" y="1018540"/>
                  </a:lnTo>
                  <a:lnTo>
                    <a:pt x="322128" y="1011682"/>
                  </a:lnTo>
                  <a:lnTo>
                    <a:pt x="642168" y="508762"/>
                  </a:lnTo>
                  <a:lnTo>
                    <a:pt x="652836" y="515620"/>
                  </a:lnTo>
                  <a:lnTo>
                    <a:pt x="642168" y="522478"/>
                  </a:lnTo>
                  <a:lnTo>
                    <a:pt x="322128" y="19558"/>
                  </a:lnTo>
                  <a:lnTo>
                    <a:pt x="332796" y="12700"/>
                  </a:lnTo>
                  <a:lnTo>
                    <a:pt x="332796" y="25400"/>
                  </a:lnTo>
                  <a:lnTo>
                    <a:pt x="12756" y="25400"/>
                  </a:lnTo>
                  <a:close/>
                </a:path>
              </a:pathLst>
            </a:custGeom>
            <a:solidFill>
              <a:srgbClr val="C8E4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4735175" y="2253615"/>
            <a:ext cx="2830830" cy="5093970"/>
            <a:chOff x="0" y="0"/>
            <a:chExt cx="3774440" cy="67919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2700" y="12700"/>
              <a:ext cx="3749040" cy="6766560"/>
            </a:xfrm>
            <a:custGeom>
              <a:avLst/>
              <a:gdLst/>
              <a:ahLst/>
              <a:cxnLst/>
              <a:rect r="r" b="b" t="t" l="l"/>
              <a:pathLst>
                <a:path h="6766560" w="3749040">
                  <a:moveTo>
                    <a:pt x="0" y="146685"/>
                  </a:moveTo>
                  <a:cubicBezTo>
                    <a:pt x="0" y="65659"/>
                    <a:pt x="65532" y="0"/>
                    <a:pt x="146304" y="0"/>
                  </a:cubicBezTo>
                  <a:lnTo>
                    <a:pt x="3602736" y="0"/>
                  </a:lnTo>
                  <a:cubicBezTo>
                    <a:pt x="3683508" y="0"/>
                    <a:pt x="3749040" y="65659"/>
                    <a:pt x="3749040" y="146685"/>
                  </a:cubicBezTo>
                  <a:lnTo>
                    <a:pt x="3749040" y="6619875"/>
                  </a:lnTo>
                  <a:cubicBezTo>
                    <a:pt x="3749040" y="6700901"/>
                    <a:pt x="3683508" y="6766560"/>
                    <a:pt x="3602736" y="6766560"/>
                  </a:cubicBezTo>
                  <a:lnTo>
                    <a:pt x="146304" y="6766560"/>
                  </a:lnTo>
                  <a:cubicBezTo>
                    <a:pt x="65532" y="6766560"/>
                    <a:pt x="0" y="6700901"/>
                    <a:pt x="0" y="66198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774440" cy="6791960"/>
            </a:xfrm>
            <a:custGeom>
              <a:avLst/>
              <a:gdLst/>
              <a:ahLst/>
              <a:cxnLst/>
              <a:rect r="r" b="b" t="t" l="l"/>
              <a:pathLst>
                <a:path h="6791960" w="3774440">
                  <a:moveTo>
                    <a:pt x="0" y="159385"/>
                  </a:moveTo>
                  <a:cubicBezTo>
                    <a:pt x="0" y="71374"/>
                    <a:pt x="71120" y="0"/>
                    <a:pt x="159004" y="0"/>
                  </a:cubicBezTo>
                  <a:lnTo>
                    <a:pt x="3615436" y="0"/>
                  </a:lnTo>
                  <a:lnTo>
                    <a:pt x="3615436" y="12700"/>
                  </a:lnTo>
                  <a:lnTo>
                    <a:pt x="3615436" y="0"/>
                  </a:lnTo>
                  <a:cubicBezTo>
                    <a:pt x="3703320" y="0"/>
                    <a:pt x="3774440" y="71374"/>
                    <a:pt x="3774440" y="159385"/>
                  </a:cubicBezTo>
                  <a:lnTo>
                    <a:pt x="3761740" y="159385"/>
                  </a:lnTo>
                  <a:lnTo>
                    <a:pt x="3774440" y="159385"/>
                  </a:lnTo>
                  <a:lnTo>
                    <a:pt x="3774440" y="6632575"/>
                  </a:lnTo>
                  <a:lnTo>
                    <a:pt x="3761740" y="6632575"/>
                  </a:lnTo>
                  <a:lnTo>
                    <a:pt x="3774440" y="6632575"/>
                  </a:lnTo>
                  <a:cubicBezTo>
                    <a:pt x="3774440" y="6720586"/>
                    <a:pt x="3703320" y="6791960"/>
                    <a:pt x="3615436" y="6791960"/>
                  </a:cubicBezTo>
                  <a:lnTo>
                    <a:pt x="3615436" y="6779260"/>
                  </a:lnTo>
                  <a:lnTo>
                    <a:pt x="3615436" y="6791960"/>
                  </a:lnTo>
                  <a:lnTo>
                    <a:pt x="159004" y="6791960"/>
                  </a:lnTo>
                  <a:lnTo>
                    <a:pt x="159004" y="6779260"/>
                  </a:lnTo>
                  <a:lnTo>
                    <a:pt x="159004" y="6791960"/>
                  </a:lnTo>
                  <a:cubicBezTo>
                    <a:pt x="71120" y="6791960"/>
                    <a:pt x="0" y="6720586"/>
                    <a:pt x="0" y="6632575"/>
                  </a:cubicBezTo>
                  <a:lnTo>
                    <a:pt x="0" y="159385"/>
                  </a:lnTo>
                  <a:lnTo>
                    <a:pt x="12700" y="159385"/>
                  </a:lnTo>
                  <a:lnTo>
                    <a:pt x="0" y="159385"/>
                  </a:lnTo>
                  <a:moveTo>
                    <a:pt x="25400" y="159385"/>
                  </a:moveTo>
                  <a:lnTo>
                    <a:pt x="25400" y="6632575"/>
                  </a:lnTo>
                  <a:lnTo>
                    <a:pt x="12700" y="6632575"/>
                  </a:lnTo>
                  <a:lnTo>
                    <a:pt x="25400" y="6632575"/>
                  </a:lnTo>
                  <a:cubicBezTo>
                    <a:pt x="25400" y="6706616"/>
                    <a:pt x="85217" y="6766560"/>
                    <a:pt x="159004" y="6766560"/>
                  </a:cubicBezTo>
                  <a:lnTo>
                    <a:pt x="3615436" y="6766560"/>
                  </a:lnTo>
                  <a:cubicBezTo>
                    <a:pt x="3689223" y="6766560"/>
                    <a:pt x="3749040" y="6706616"/>
                    <a:pt x="3749040" y="6632575"/>
                  </a:cubicBezTo>
                  <a:lnTo>
                    <a:pt x="3749040" y="159385"/>
                  </a:lnTo>
                  <a:cubicBezTo>
                    <a:pt x="3749040" y="85344"/>
                    <a:pt x="3689223" y="25400"/>
                    <a:pt x="361543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344"/>
                    <a:pt x="25400" y="159385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4735175" y="2253615"/>
            <a:ext cx="128778" cy="5093970"/>
            <a:chOff x="0" y="0"/>
            <a:chExt cx="171704" cy="67919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2700" y="12700"/>
              <a:ext cx="146304" cy="6766560"/>
            </a:xfrm>
            <a:custGeom>
              <a:avLst/>
              <a:gdLst/>
              <a:ahLst/>
              <a:cxnLst/>
              <a:rect r="r" b="b" t="t" l="l"/>
              <a:pathLst>
                <a:path h="6766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766560"/>
                  </a:lnTo>
                  <a:lnTo>
                    <a:pt x="0" y="6766560"/>
                  </a:lnTo>
                  <a:close/>
                </a:path>
              </a:pathLst>
            </a:custGeom>
            <a:solidFill>
              <a:srgbClr val="0EA5E9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1704" cy="6791960"/>
            </a:xfrm>
            <a:custGeom>
              <a:avLst/>
              <a:gdLst/>
              <a:ahLst/>
              <a:cxnLst/>
              <a:rect r="r" b="b" t="t" l="l"/>
              <a:pathLst>
                <a:path h="67919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6779260"/>
                  </a:lnTo>
                  <a:cubicBezTo>
                    <a:pt x="171704" y="6786245"/>
                    <a:pt x="165989" y="6791960"/>
                    <a:pt x="159004" y="6791960"/>
                  </a:cubicBezTo>
                  <a:lnTo>
                    <a:pt x="12700" y="6791960"/>
                  </a:lnTo>
                  <a:cubicBezTo>
                    <a:pt x="5715" y="6791960"/>
                    <a:pt x="0" y="6786245"/>
                    <a:pt x="0" y="6779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779260"/>
                  </a:lnTo>
                  <a:lnTo>
                    <a:pt x="12700" y="6779260"/>
                  </a:lnTo>
                  <a:lnTo>
                    <a:pt x="12700" y="6766560"/>
                  </a:lnTo>
                  <a:lnTo>
                    <a:pt x="159004" y="6766560"/>
                  </a:lnTo>
                  <a:lnTo>
                    <a:pt x="159004" y="6779260"/>
                  </a:lnTo>
                  <a:lnTo>
                    <a:pt x="146304" y="67792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4950440" y="2496312"/>
            <a:ext cx="493776" cy="493776"/>
            <a:chOff x="0" y="0"/>
            <a:chExt cx="658368" cy="65836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0EA5E9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-1524" y="-1524"/>
              <a:ext cx="661416" cy="661416"/>
            </a:xfrm>
            <a:custGeom>
              <a:avLst/>
              <a:gdLst/>
              <a:ahLst/>
              <a:cxnLst/>
              <a:rect r="r" b="b" t="t" l="l"/>
              <a:pathLst>
                <a:path h="661416" w="661416">
                  <a:moveTo>
                    <a:pt x="1524" y="0"/>
                  </a:moveTo>
                  <a:lnTo>
                    <a:pt x="659892" y="0"/>
                  </a:lnTo>
                  <a:cubicBezTo>
                    <a:pt x="660781" y="0"/>
                    <a:pt x="661416" y="762"/>
                    <a:pt x="661416" y="1524"/>
                  </a:cubicBezTo>
                  <a:lnTo>
                    <a:pt x="661416" y="659892"/>
                  </a:lnTo>
                  <a:cubicBezTo>
                    <a:pt x="661416" y="660781"/>
                    <a:pt x="660654" y="661416"/>
                    <a:pt x="659892" y="661416"/>
                  </a:cubicBezTo>
                  <a:lnTo>
                    <a:pt x="1524" y="661416"/>
                  </a:lnTo>
                  <a:cubicBezTo>
                    <a:pt x="635" y="661416"/>
                    <a:pt x="0" y="660654"/>
                    <a:pt x="0" y="659892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659892"/>
                  </a:lnTo>
                  <a:lnTo>
                    <a:pt x="1524" y="659892"/>
                  </a:lnTo>
                  <a:lnTo>
                    <a:pt x="1524" y="658368"/>
                  </a:lnTo>
                  <a:lnTo>
                    <a:pt x="659892" y="658368"/>
                  </a:lnTo>
                  <a:lnTo>
                    <a:pt x="659892" y="659892"/>
                  </a:lnTo>
                  <a:lnTo>
                    <a:pt x="658368" y="659892"/>
                  </a:lnTo>
                  <a:lnTo>
                    <a:pt x="658368" y="1524"/>
                  </a:lnTo>
                  <a:lnTo>
                    <a:pt x="659892" y="1524"/>
                  </a:lnTo>
                  <a:lnTo>
                    <a:pt x="659892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0EA5E9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658368" cy="6583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4991588" y="3223260"/>
            <a:ext cx="2194560" cy="576072"/>
            <a:chOff x="0" y="0"/>
            <a:chExt cx="2926080" cy="7680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926080" cy="768096"/>
            </a:xfrm>
            <a:custGeom>
              <a:avLst/>
              <a:gdLst/>
              <a:ahLst/>
              <a:cxnLst/>
              <a:rect r="r" b="b" t="t" l="l"/>
              <a:pathLst>
                <a:path h="76809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29260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 &amp; Evaluasi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5019020" y="4183380"/>
            <a:ext cx="2221992" cy="2057400"/>
            <a:chOff x="0" y="0"/>
            <a:chExt cx="2962656" cy="27432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962656" cy="2743200"/>
            </a:xfrm>
            <a:custGeom>
              <a:avLst/>
              <a:gdLst/>
              <a:ahLst/>
              <a:cxnLst/>
              <a:rect r="r" b="b" t="t" l="l"/>
              <a:pathLst>
                <a:path h="274320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799" t="0" r="-68799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2962656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7"/>
                </a:lnSpc>
              </a:pPr>
              <a:r>
                <a:rPr lang="en-US" sz="1514" b="true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Melatih Random Forest dan membandingkan metrik performa.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93495" y="8014335"/>
            <a:ext cx="15723870" cy="1143762"/>
            <a:chOff x="0" y="0"/>
            <a:chExt cx="20965160" cy="152501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2700" y="12700"/>
              <a:ext cx="20939759" cy="1499616"/>
            </a:xfrm>
            <a:custGeom>
              <a:avLst/>
              <a:gdLst/>
              <a:ahLst/>
              <a:cxnLst/>
              <a:rect r="r" b="b" t="t" l="l"/>
              <a:pathLst>
                <a:path h="1499616" w="20939759">
                  <a:moveTo>
                    <a:pt x="0" y="146304"/>
                  </a:moveTo>
                  <a:cubicBezTo>
                    <a:pt x="0" y="65532"/>
                    <a:pt x="66548" y="0"/>
                    <a:pt x="148590" y="0"/>
                  </a:cubicBezTo>
                  <a:lnTo>
                    <a:pt x="20791170" y="0"/>
                  </a:lnTo>
                  <a:cubicBezTo>
                    <a:pt x="20873211" y="0"/>
                    <a:pt x="20939759" y="65532"/>
                    <a:pt x="20939759" y="146304"/>
                  </a:cubicBezTo>
                  <a:lnTo>
                    <a:pt x="20939759" y="1353312"/>
                  </a:lnTo>
                  <a:cubicBezTo>
                    <a:pt x="20939759" y="1434084"/>
                    <a:pt x="20873211" y="1499616"/>
                    <a:pt x="20791170" y="1499616"/>
                  </a:cubicBezTo>
                  <a:lnTo>
                    <a:pt x="148590" y="1499616"/>
                  </a:lnTo>
                  <a:cubicBezTo>
                    <a:pt x="66548" y="1499616"/>
                    <a:pt x="0" y="1434084"/>
                    <a:pt x="0" y="1353312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965159" cy="1525016"/>
            </a:xfrm>
            <a:custGeom>
              <a:avLst/>
              <a:gdLst/>
              <a:ahLst/>
              <a:cxnLst/>
              <a:rect r="r" b="b" t="t" l="l"/>
              <a:pathLst>
                <a:path h="1525016" w="20965159">
                  <a:moveTo>
                    <a:pt x="0" y="159004"/>
                  </a:moveTo>
                  <a:cubicBezTo>
                    <a:pt x="0" y="70993"/>
                    <a:pt x="72390" y="0"/>
                    <a:pt x="161290" y="0"/>
                  </a:cubicBezTo>
                  <a:lnTo>
                    <a:pt x="20803870" y="0"/>
                  </a:lnTo>
                  <a:lnTo>
                    <a:pt x="20803870" y="12700"/>
                  </a:lnTo>
                  <a:lnTo>
                    <a:pt x="20803870" y="0"/>
                  </a:lnTo>
                  <a:cubicBezTo>
                    <a:pt x="20892770" y="0"/>
                    <a:pt x="20965159" y="70993"/>
                    <a:pt x="20965159" y="159004"/>
                  </a:cubicBezTo>
                  <a:lnTo>
                    <a:pt x="20952459" y="159004"/>
                  </a:lnTo>
                  <a:lnTo>
                    <a:pt x="20965159" y="159004"/>
                  </a:lnTo>
                  <a:lnTo>
                    <a:pt x="20965159" y="1366012"/>
                  </a:lnTo>
                  <a:lnTo>
                    <a:pt x="20952459" y="1366012"/>
                  </a:lnTo>
                  <a:lnTo>
                    <a:pt x="20965159" y="1366012"/>
                  </a:lnTo>
                  <a:cubicBezTo>
                    <a:pt x="20965159" y="1454023"/>
                    <a:pt x="20892770" y="1525016"/>
                    <a:pt x="20803870" y="1525016"/>
                  </a:cubicBezTo>
                  <a:lnTo>
                    <a:pt x="20803870" y="1512316"/>
                  </a:lnTo>
                  <a:lnTo>
                    <a:pt x="20803870" y="1525016"/>
                  </a:lnTo>
                  <a:lnTo>
                    <a:pt x="161290" y="1525016"/>
                  </a:lnTo>
                  <a:lnTo>
                    <a:pt x="161290" y="1512316"/>
                  </a:lnTo>
                  <a:lnTo>
                    <a:pt x="161290" y="1525016"/>
                  </a:lnTo>
                  <a:cubicBezTo>
                    <a:pt x="72390" y="1525016"/>
                    <a:pt x="0" y="1454023"/>
                    <a:pt x="0" y="1366012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1366012"/>
                  </a:lnTo>
                  <a:lnTo>
                    <a:pt x="12700" y="1366012"/>
                  </a:lnTo>
                  <a:lnTo>
                    <a:pt x="25400" y="1366012"/>
                  </a:lnTo>
                  <a:cubicBezTo>
                    <a:pt x="25400" y="1439672"/>
                    <a:pt x="86106" y="1499616"/>
                    <a:pt x="161290" y="1499616"/>
                  </a:cubicBezTo>
                  <a:lnTo>
                    <a:pt x="20803870" y="1499616"/>
                  </a:lnTo>
                  <a:cubicBezTo>
                    <a:pt x="20879054" y="1499616"/>
                    <a:pt x="20939759" y="1439672"/>
                    <a:pt x="20939759" y="1366012"/>
                  </a:cubicBezTo>
                  <a:lnTo>
                    <a:pt x="20939759" y="159004"/>
                  </a:lnTo>
                  <a:cubicBezTo>
                    <a:pt x="20939759" y="85344"/>
                    <a:pt x="20879054" y="25400"/>
                    <a:pt x="20803870" y="25400"/>
                  </a:cubicBezTo>
                  <a:lnTo>
                    <a:pt x="161290" y="25400"/>
                  </a:lnTo>
                  <a:lnTo>
                    <a:pt x="161290" y="12700"/>
                  </a:lnTo>
                  <a:lnTo>
                    <a:pt x="161290" y="25400"/>
                  </a:lnTo>
                  <a:cubicBezTo>
                    <a:pt x="86106" y="25400"/>
                    <a:pt x="25400" y="85344"/>
                    <a:pt x="25400" y="159004"/>
                  </a:cubicBezTo>
                  <a:close/>
                </a:path>
              </a:pathLst>
            </a:custGeom>
            <a:solidFill>
              <a:srgbClr val="BFE7FF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680210" y="8217980"/>
            <a:ext cx="14950440" cy="736473"/>
            <a:chOff x="0" y="0"/>
            <a:chExt cx="19933920" cy="98196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9933920" cy="981964"/>
            </a:xfrm>
            <a:custGeom>
              <a:avLst/>
              <a:gdLst/>
              <a:ahLst/>
              <a:cxnLst/>
              <a:rect r="r" b="b" t="t" l="l"/>
              <a:pathLst>
                <a:path h="981964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981964"/>
                  </a:lnTo>
                  <a:lnTo>
                    <a:pt x="0" y="981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473" r="0" b="-32162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0"/>
              <a:ext cx="19933920" cy="981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Inti penelitian: membandingkan efek cara mengisi missing value terhadap kemampuan model mengenali pasien diabetes, bukan hanya melihat data setelah diisi.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7213580" y="9710928"/>
            <a:ext cx="411480" cy="342900"/>
            <a:chOff x="0" y="0"/>
            <a:chExt cx="548640" cy="4572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4864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9525"/>
              <a:ext cx="5486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773430" y="9710928"/>
            <a:ext cx="10972800" cy="315468"/>
            <a:chOff x="0" y="0"/>
            <a:chExt cx="14630400" cy="42062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463040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10" r="0" b="-61687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9525"/>
              <a:ext cx="1463040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Penambangan Data IF-32025 • Kelompok 05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B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13728700"/>
                  </a:lnTo>
                  <a:cubicBezTo>
                    <a:pt x="24408764" y="13735686"/>
                    <a:pt x="24403050" y="13741400"/>
                    <a:pt x="24396064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064" y="13716000"/>
                  </a:lnTo>
                  <a:lnTo>
                    <a:pt x="24396064" y="13728700"/>
                  </a:lnTo>
                  <a:lnTo>
                    <a:pt x="24383364" y="13728700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7FB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-9525"/>
            <a:ext cx="18306593" cy="211074"/>
            <a:chOff x="0" y="0"/>
            <a:chExt cx="24408790" cy="281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3364" cy="256032"/>
            </a:xfrm>
            <a:custGeom>
              <a:avLst/>
              <a:gdLst/>
              <a:ahLst/>
              <a:cxnLst/>
              <a:rect r="r" b="b" t="t" l="l"/>
              <a:pathLst>
                <a:path h="25603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8764" cy="281432"/>
            </a:xfrm>
            <a:custGeom>
              <a:avLst/>
              <a:gdLst/>
              <a:ahLst/>
              <a:cxnLst/>
              <a:rect r="r" b="b" t="t" l="l"/>
              <a:pathLst>
                <a:path h="281432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268732"/>
                  </a:lnTo>
                  <a:cubicBezTo>
                    <a:pt x="24408764" y="275717"/>
                    <a:pt x="24403050" y="281432"/>
                    <a:pt x="24396064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24396064" y="256032"/>
                  </a:lnTo>
                  <a:lnTo>
                    <a:pt x="24396064" y="268732"/>
                  </a:lnTo>
                  <a:lnTo>
                    <a:pt x="24383364" y="268732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15235" y="-1518285"/>
            <a:ext cx="4682490" cy="4682490"/>
            <a:chOff x="0" y="0"/>
            <a:chExt cx="6243320" cy="624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  <a:lnTo>
                    <a:pt x="0" y="3108960"/>
                  </a:lnTo>
                  <a:close/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08960" y="0"/>
              <a:ext cx="3134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13436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736725" y="0"/>
                    <a:pt x="3134360" y="1397635"/>
                    <a:pt x="3134360" y="3121660"/>
                  </a:cubicBezTo>
                  <a:cubicBezTo>
                    <a:pt x="3134360" y="3128645"/>
                    <a:pt x="3128645" y="3134360"/>
                    <a:pt x="312166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3121660" y="3108960"/>
                  </a:lnTo>
                  <a:lnTo>
                    <a:pt x="3121660" y="3121660"/>
                  </a:lnTo>
                  <a:lnTo>
                    <a:pt x="3108960" y="3121660"/>
                  </a:lnTo>
                  <a:cubicBezTo>
                    <a:pt x="3108960" y="1411605"/>
                    <a:pt x="1722755" y="25400"/>
                    <a:pt x="1270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21660" y="0"/>
              <a:ext cx="3121660" cy="3121660"/>
            </a:xfrm>
            <a:custGeom>
              <a:avLst/>
              <a:gdLst/>
              <a:ahLst/>
              <a:cxnLst/>
              <a:rect r="r" b="b" t="t" l="l"/>
              <a:pathLst>
                <a:path h="3121660" w="312166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724025" y="0"/>
                    <a:pt x="3121660" y="1397635"/>
                    <a:pt x="3121660" y="3121660"/>
                  </a:cubicBezTo>
                  <a:lnTo>
                    <a:pt x="3096260" y="3121660"/>
                  </a:lnTo>
                  <a:cubicBezTo>
                    <a:pt x="3096260" y="1411605"/>
                    <a:pt x="1710055" y="25400"/>
                    <a:pt x="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655445" y="7945755"/>
            <a:ext cx="4408170" cy="4408170"/>
            <a:chOff x="0" y="0"/>
            <a:chExt cx="5877560" cy="5877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" y="576072"/>
            <a:ext cx="16459200" cy="576072"/>
            <a:chOff x="0" y="0"/>
            <a:chExt cx="2194560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9456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Deskripsi Dataset &amp; Missing Value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8096" y="1179576"/>
            <a:ext cx="15773400" cy="384048"/>
            <a:chOff x="0" y="0"/>
            <a:chExt cx="2103120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31200" cy="512064"/>
            </a:xfrm>
            <a:custGeom>
              <a:avLst/>
              <a:gdLst/>
              <a:ahLst/>
              <a:cxnLst/>
              <a:rect r="r" b="b" t="t" l="l"/>
              <a:pathLst>
                <a:path h="51206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278" r="0" b="-7502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031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Pima Indians Diabetes Dataset dan karakteristik missing value tersembunyi.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2015" y="1842135"/>
            <a:ext cx="8042910" cy="6739890"/>
            <a:chOff x="0" y="0"/>
            <a:chExt cx="10723880" cy="8986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069848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698480">
                  <a:moveTo>
                    <a:pt x="0" y="146304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0552049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8814816"/>
                  </a:lnTo>
                  <a:cubicBezTo>
                    <a:pt x="10698480" y="8895588"/>
                    <a:pt x="10632948" y="8961120"/>
                    <a:pt x="10552049" y="8961120"/>
                  </a:cubicBezTo>
                  <a:lnTo>
                    <a:pt x="146431" y="8961120"/>
                  </a:lnTo>
                  <a:cubicBezTo>
                    <a:pt x="65532" y="8961120"/>
                    <a:pt x="0" y="8895588"/>
                    <a:pt x="0" y="88148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23880" cy="8986520"/>
            </a:xfrm>
            <a:custGeom>
              <a:avLst/>
              <a:gdLst/>
              <a:ahLst/>
              <a:cxnLst/>
              <a:rect r="r" b="b" t="t" l="l"/>
              <a:pathLst>
                <a:path h="8986520" w="10723880">
                  <a:moveTo>
                    <a:pt x="0" y="159004"/>
                  </a:moveTo>
                  <a:cubicBezTo>
                    <a:pt x="0" y="71247"/>
                    <a:pt x="71247" y="0"/>
                    <a:pt x="159131" y="0"/>
                  </a:cubicBezTo>
                  <a:lnTo>
                    <a:pt x="10564749" y="0"/>
                  </a:lnTo>
                  <a:lnTo>
                    <a:pt x="10564749" y="12700"/>
                  </a:lnTo>
                  <a:lnTo>
                    <a:pt x="10564749" y="0"/>
                  </a:lnTo>
                  <a:cubicBezTo>
                    <a:pt x="10652633" y="0"/>
                    <a:pt x="10723880" y="71247"/>
                    <a:pt x="10723880" y="159004"/>
                  </a:cubicBezTo>
                  <a:lnTo>
                    <a:pt x="10711180" y="159004"/>
                  </a:lnTo>
                  <a:lnTo>
                    <a:pt x="10723880" y="159004"/>
                  </a:lnTo>
                  <a:lnTo>
                    <a:pt x="10723880" y="8827516"/>
                  </a:lnTo>
                  <a:lnTo>
                    <a:pt x="10711180" y="8827516"/>
                  </a:lnTo>
                  <a:lnTo>
                    <a:pt x="10723880" y="8827516"/>
                  </a:lnTo>
                  <a:cubicBezTo>
                    <a:pt x="10723880" y="8915400"/>
                    <a:pt x="10652633" y="8986520"/>
                    <a:pt x="10564749" y="8986520"/>
                  </a:cubicBezTo>
                  <a:lnTo>
                    <a:pt x="10564749" y="8973820"/>
                  </a:lnTo>
                  <a:lnTo>
                    <a:pt x="10564749" y="8986520"/>
                  </a:lnTo>
                  <a:lnTo>
                    <a:pt x="159131" y="8986520"/>
                  </a:lnTo>
                  <a:lnTo>
                    <a:pt x="159131" y="8973820"/>
                  </a:lnTo>
                  <a:lnTo>
                    <a:pt x="159131" y="8986520"/>
                  </a:lnTo>
                  <a:cubicBezTo>
                    <a:pt x="71247" y="8986520"/>
                    <a:pt x="0" y="8915273"/>
                    <a:pt x="0" y="882751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827516"/>
                  </a:lnTo>
                  <a:lnTo>
                    <a:pt x="12700" y="8827516"/>
                  </a:lnTo>
                  <a:lnTo>
                    <a:pt x="25400" y="8827516"/>
                  </a:lnTo>
                  <a:cubicBezTo>
                    <a:pt x="25400" y="8901303"/>
                    <a:pt x="85217" y="8961120"/>
                    <a:pt x="159131" y="8961120"/>
                  </a:cubicBezTo>
                  <a:lnTo>
                    <a:pt x="10564749" y="8961120"/>
                  </a:lnTo>
                  <a:cubicBezTo>
                    <a:pt x="10638536" y="8961120"/>
                    <a:pt x="10698480" y="8901303"/>
                    <a:pt x="10698480" y="8827516"/>
                  </a:cubicBezTo>
                  <a:lnTo>
                    <a:pt x="10698480" y="159004"/>
                  </a:lnTo>
                  <a:cubicBezTo>
                    <a:pt x="10698480" y="85217"/>
                    <a:pt x="10638663" y="25400"/>
                    <a:pt x="10564749" y="25400"/>
                  </a:cubicBezTo>
                  <a:lnTo>
                    <a:pt x="159131" y="25400"/>
                  </a:lnTo>
                  <a:lnTo>
                    <a:pt x="159131" y="12700"/>
                  </a:lnTo>
                  <a:lnTo>
                    <a:pt x="159131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82015" y="1842135"/>
            <a:ext cx="128778" cy="6739890"/>
            <a:chOff x="0" y="0"/>
            <a:chExt cx="171704" cy="8986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146304" cy="8961120"/>
            </a:xfrm>
            <a:custGeom>
              <a:avLst/>
              <a:gdLst/>
              <a:ahLst/>
              <a:cxnLst/>
              <a:rect r="r" b="b" t="t" l="l"/>
              <a:pathLst>
                <a:path h="8961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1704" cy="8986520"/>
            </a:xfrm>
            <a:custGeom>
              <a:avLst/>
              <a:gdLst/>
              <a:ahLst/>
              <a:cxnLst/>
              <a:rect r="r" b="b" t="t" l="l"/>
              <a:pathLst>
                <a:path h="89865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8973820"/>
                  </a:lnTo>
                  <a:cubicBezTo>
                    <a:pt x="171704" y="8980805"/>
                    <a:pt x="165989" y="8986520"/>
                    <a:pt x="159004" y="8986520"/>
                  </a:cubicBezTo>
                  <a:lnTo>
                    <a:pt x="12700" y="8986520"/>
                  </a:lnTo>
                  <a:cubicBezTo>
                    <a:pt x="5715" y="8986520"/>
                    <a:pt x="0" y="8980805"/>
                    <a:pt x="0" y="89738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8973820"/>
                  </a:lnTo>
                  <a:lnTo>
                    <a:pt x="12700" y="8973820"/>
                  </a:lnTo>
                  <a:lnTo>
                    <a:pt x="12700" y="8961120"/>
                  </a:lnTo>
                  <a:lnTo>
                    <a:pt x="159004" y="8961120"/>
                  </a:lnTo>
                  <a:lnTo>
                    <a:pt x="159004" y="8973820"/>
                  </a:lnTo>
                  <a:lnTo>
                    <a:pt x="146304" y="89738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4440" y="2221992"/>
            <a:ext cx="4800600" cy="464027"/>
            <a:chOff x="0" y="0"/>
            <a:chExt cx="6400800" cy="6187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00800" cy="618702"/>
            </a:xfrm>
            <a:custGeom>
              <a:avLst/>
              <a:gdLst/>
              <a:ahLst/>
              <a:cxnLst/>
              <a:rect r="r" b="b" t="t" l="l"/>
              <a:pathLst>
                <a:path h="618702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18702"/>
                  </a:lnTo>
                  <a:lnTo>
                    <a:pt x="0" y="618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068" r="0" b="-13409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400800" cy="6091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FITUR DATASET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6404" y="2686019"/>
            <a:ext cx="7063740" cy="3086100"/>
            <a:chOff x="0" y="0"/>
            <a:chExt cx="9418320" cy="4114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18320" cy="4114800"/>
            </a:xfrm>
            <a:custGeom>
              <a:avLst/>
              <a:gdLst/>
              <a:ahLst/>
              <a:cxnLst/>
              <a:rect r="r" b="b" t="t" l="l"/>
              <a:pathLst>
                <a:path h="41148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4114800"/>
                  </a:lnTo>
                  <a:lnTo>
                    <a:pt x="0" y="411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54" t="0" r="-6054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418320" cy="412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Dataset memiliki 768 baris dengan 8 fitur prediktor numerik    dan 1 target Outcome.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Fitur prediktor: Pregnancies, Glucose, BloodPressure, SkinThickness, Insulin, BMI, DiabetesPedigreeFunction, dan Age.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Target Outcome: 0 = tidak diabetes, 1 = diabetes.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Nilai 0 pada fitur medis tertentu diperlakukan sebagai NaN karena secara medis tidak realistis.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34440" y="6336792"/>
            <a:ext cx="4800600" cy="464027"/>
            <a:chOff x="0" y="0"/>
            <a:chExt cx="6400800" cy="6187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00800" cy="618703"/>
            </a:xfrm>
            <a:custGeom>
              <a:avLst/>
              <a:gdLst/>
              <a:ahLst/>
              <a:cxnLst/>
              <a:rect r="r" b="b" t="t" l="l"/>
              <a:pathLst>
                <a:path h="618703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18703"/>
                  </a:lnTo>
                  <a:lnTo>
                    <a:pt x="0" y="618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068" r="0" b="-1340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6400800" cy="609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MISSING VALUE TERBESAR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46404" y="6829394"/>
            <a:ext cx="7063740" cy="1255142"/>
            <a:chOff x="0" y="0"/>
            <a:chExt cx="9418320" cy="167352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418320" cy="1673522"/>
            </a:xfrm>
            <a:custGeom>
              <a:avLst/>
              <a:gdLst/>
              <a:ahLst/>
              <a:cxnLst/>
              <a:rect r="r" b="b" t="t" l="l"/>
              <a:pathLst>
                <a:path h="1673522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673522"/>
                  </a:lnTo>
                  <a:lnTo>
                    <a:pt x="0" y="16735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215" r="0" b="-5610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9418320" cy="1673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Insulin: 374 data atau 48,70%.</a:t>
              </a:r>
            </a:p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SkinThickness: 227 data atau 29,56%.</a:t>
              </a:r>
            </a:p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BloodPressure, BMI, dan Glucose memiliki missing value lebih kecil.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85935" y="1842135"/>
            <a:ext cx="7905750" cy="3105150"/>
            <a:chOff x="0" y="0"/>
            <a:chExt cx="10541000" cy="4140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00" y="12700"/>
              <a:ext cx="10515600" cy="4114800"/>
            </a:xfrm>
            <a:custGeom>
              <a:avLst/>
              <a:gdLst/>
              <a:ahLst/>
              <a:cxnLst/>
              <a:rect r="r" b="b" t="t" l="l"/>
              <a:pathLst>
                <a:path h="4114800" w="10515600">
                  <a:moveTo>
                    <a:pt x="0" y="146304"/>
                  </a:moveTo>
                  <a:cubicBezTo>
                    <a:pt x="0" y="65532"/>
                    <a:pt x="65786" y="0"/>
                    <a:pt x="146812" y="0"/>
                  </a:cubicBezTo>
                  <a:lnTo>
                    <a:pt x="10368788" y="0"/>
                  </a:lnTo>
                  <a:cubicBezTo>
                    <a:pt x="10449814" y="0"/>
                    <a:pt x="10515600" y="65532"/>
                    <a:pt x="10515600" y="146304"/>
                  </a:cubicBezTo>
                  <a:lnTo>
                    <a:pt x="10515600" y="3968496"/>
                  </a:lnTo>
                  <a:cubicBezTo>
                    <a:pt x="10515600" y="4049268"/>
                    <a:pt x="10449814" y="4114800"/>
                    <a:pt x="10368788" y="4114800"/>
                  </a:cubicBezTo>
                  <a:lnTo>
                    <a:pt x="146812" y="4114800"/>
                  </a:lnTo>
                  <a:cubicBezTo>
                    <a:pt x="65786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41000" cy="4140200"/>
            </a:xfrm>
            <a:custGeom>
              <a:avLst/>
              <a:gdLst/>
              <a:ahLst/>
              <a:cxnLst/>
              <a:rect r="r" b="b" t="t" l="l"/>
              <a:pathLst>
                <a:path h="4140200" w="10541000">
                  <a:moveTo>
                    <a:pt x="0" y="159004"/>
                  </a:moveTo>
                  <a:cubicBezTo>
                    <a:pt x="0" y="71120"/>
                    <a:pt x="71501" y="0"/>
                    <a:pt x="159512" y="0"/>
                  </a:cubicBezTo>
                  <a:lnTo>
                    <a:pt x="10381488" y="0"/>
                  </a:lnTo>
                  <a:lnTo>
                    <a:pt x="10381488" y="12700"/>
                  </a:lnTo>
                  <a:lnTo>
                    <a:pt x="10381488" y="0"/>
                  </a:lnTo>
                  <a:cubicBezTo>
                    <a:pt x="10469499" y="0"/>
                    <a:pt x="10541000" y="71120"/>
                    <a:pt x="10541000" y="159004"/>
                  </a:cubicBezTo>
                  <a:lnTo>
                    <a:pt x="10528300" y="159004"/>
                  </a:lnTo>
                  <a:lnTo>
                    <a:pt x="10541000" y="159004"/>
                  </a:lnTo>
                  <a:lnTo>
                    <a:pt x="10541000" y="3981196"/>
                  </a:lnTo>
                  <a:lnTo>
                    <a:pt x="10528300" y="3981196"/>
                  </a:lnTo>
                  <a:lnTo>
                    <a:pt x="10541000" y="3981196"/>
                  </a:lnTo>
                  <a:cubicBezTo>
                    <a:pt x="10541000" y="4069080"/>
                    <a:pt x="10469499" y="4140200"/>
                    <a:pt x="10381488" y="4140200"/>
                  </a:cubicBezTo>
                  <a:lnTo>
                    <a:pt x="10381488" y="4127500"/>
                  </a:lnTo>
                  <a:lnTo>
                    <a:pt x="10381488" y="4140200"/>
                  </a:lnTo>
                  <a:lnTo>
                    <a:pt x="159512" y="4140200"/>
                  </a:lnTo>
                  <a:lnTo>
                    <a:pt x="159512" y="4127500"/>
                  </a:lnTo>
                  <a:lnTo>
                    <a:pt x="159512" y="4140200"/>
                  </a:lnTo>
                  <a:cubicBezTo>
                    <a:pt x="71501" y="4140200"/>
                    <a:pt x="0" y="4069080"/>
                    <a:pt x="0" y="398119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981196"/>
                  </a:lnTo>
                  <a:lnTo>
                    <a:pt x="12700" y="3981196"/>
                  </a:lnTo>
                  <a:lnTo>
                    <a:pt x="25400" y="3981196"/>
                  </a:lnTo>
                  <a:cubicBezTo>
                    <a:pt x="25400" y="4054983"/>
                    <a:pt x="85471" y="4114800"/>
                    <a:pt x="159512" y="4114800"/>
                  </a:cubicBezTo>
                  <a:lnTo>
                    <a:pt x="10381488" y="4114800"/>
                  </a:lnTo>
                  <a:cubicBezTo>
                    <a:pt x="10455656" y="4114800"/>
                    <a:pt x="10515600" y="4054983"/>
                    <a:pt x="10515600" y="3981196"/>
                  </a:cubicBezTo>
                  <a:lnTo>
                    <a:pt x="10515600" y="159004"/>
                  </a:lnTo>
                  <a:cubicBezTo>
                    <a:pt x="10515600" y="85217"/>
                    <a:pt x="10455529" y="25400"/>
                    <a:pt x="10381488" y="25400"/>
                  </a:cubicBezTo>
                  <a:lnTo>
                    <a:pt x="159512" y="25400"/>
                  </a:lnTo>
                  <a:lnTo>
                    <a:pt x="159512" y="12700"/>
                  </a:lnTo>
                  <a:lnTo>
                    <a:pt x="159512" y="25400"/>
                  </a:lnTo>
                  <a:cubicBezTo>
                    <a:pt x="85471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532620" y="2040055"/>
            <a:ext cx="7612380" cy="2352704"/>
            <a:chOff x="0" y="0"/>
            <a:chExt cx="10149840" cy="3136938"/>
          </a:xfrm>
        </p:grpSpPr>
        <p:sp>
          <p:nvSpPr>
            <p:cNvPr name="Freeform 46" id="46" descr="/mnt/data/dm_nb_imgs/cell09_out00_0.png"/>
            <p:cNvSpPr/>
            <p:nvPr/>
          </p:nvSpPr>
          <p:spPr>
            <a:xfrm flipH="false" flipV="false" rot="0">
              <a:off x="0" y="0"/>
              <a:ext cx="10149840" cy="3136900"/>
            </a:xfrm>
            <a:custGeom>
              <a:avLst/>
              <a:gdLst/>
              <a:ahLst/>
              <a:cxnLst/>
              <a:rect r="r" b="b" t="t" l="l"/>
              <a:pathLst>
                <a:path h="313690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3136900"/>
                  </a:lnTo>
                  <a:lnTo>
                    <a:pt x="0" y="313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60052" y="4512564"/>
            <a:ext cx="7557516" cy="246888"/>
            <a:chOff x="0" y="0"/>
            <a:chExt cx="10076688" cy="3291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76688" cy="329184"/>
            </a:xfrm>
            <a:custGeom>
              <a:avLst/>
              <a:gdLst/>
              <a:ahLst/>
              <a:cxnLst/>
              <a:rect r="r" b="b" t="t" l="l"/>
              <a:pathLst>
                <a:path h="329184" w="10076688">
                  <a:moveTo>
                    <a:pt x="0" y="0"/>
                  </a:moveTo>
                  <a:lnTo>
                    <a:pt x="10076688" y="0"/>
                  </a:lnTo>
                  <a:lnTo>
                    <a:pt x="1007668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458" r="0" b="-54645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007668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Persentase missing value per fitur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85935" y="5271135"/>
            <a:ext cx="7905750" cy="3310890"/>
            <a:chOff x="0" y="0"/>
            <a:chExt cx="10541000" cy="4414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2700" y="12700"/>
              <a:ext cx="10515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0515600">
                  <a:moveTo>
                    <a:pt x="0" y="146304"/>
                  </a:moveTo>
                  <a:cubicBezTo>
                    <a:pt x="0" y="65532"/>
                    <a:pt x="65659" y="0"/>
                    <a:pt x="146812" y="0"/>
                  </a:cubicBezTo>
                  <a:lnTo>
                    <a:pt x="10368788" y="0"/>
                  </a:lnTo>
                  <a:cubicBezTo>
                    <a:pt x="10449941" y="0"/>
                    <a:pt x="10515600" y="65532"/>
                    <a:pt x="10515600" y="146304"/>
                  </a:cubicBezTo>
                  <a:lnTo>
                    <a:pt x="10515600" y="4242816"/>
                  </a:lnTo>
                  <a:cubicBezTo>
                    <a:pt x="10515600" y="4323588"/>
                    <a:pt x="10449941" y="4389120"/>
                    <a:pt x="10368788" y="4389120"/>
                  </a:cubicBezTo>
                  <a:lnTo>
                    <a:pt x="146812" y="4389120"/>
                  </a:lnTo>
                  <a:cubicBezTo>
                    <a:pt x="65659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41000" cy="4414520"/>
            </a:xfrm>
            <a:custGeom>
              <a:avLst/>
              <a:gdLst/>
              <a:ahLst/>
              <a:cxnLst/>
              <a:rect r="r" b="b" t="t" l="l"/>
              <a:pathLst>
                <a:path h="4414520" w="10541000">
                  <a:moveTo>
                    <a:pt x="0" y="159004"/>
                  </a:moveTo>
                  <a:cubicBezTo>
                    <a:pt x="0" y="71120"/>
                    <a:pt x="71501" y="0"/>
                    <a:pt x="159512" y="0"/>
                  </a:cubicBezTo>
                  <a:lnTo>
                    <a:pt x="10381488" y="0"/>
                  </a:lnTo>
                  <a:lnTo>
                    <a:pt x="10381488" y="12700"/>
                  </a:lnTo>
                  <a:lnTo>
                    <a:pt x="10381488" y="0"/>
                  </a:lnTo>
                  <a:cubicBezTo>
                    <a:pt x="10469499" y="0"/>
                    <a:pt x="10541000" y="71120"/>
                    <a:pt x="10541000" y="159004"/>
                  </a:cubicBezTo>
                  <a:lnTo>
                    <a:pt x="10528300" y="159004"/>
                  </a:lnTo>
                  <a:lnTo>
                    <a:pt x="10541000" y="159004"/>
                  </a:lnTo>
                  <a:lnTo>
                    <a:pt x="10541000" y="4255516"/>
                  </a:lnTo>
                  <a:lnTo>
                    <a:pt x="10528300" y="4255516"/>
                  </a:lnTo>
                  <a:lnTo>
                    <a:pt x="10541000" y="4255516"/>
                  </a:lnTo>
                  <a:cubicBezTo>
                    <a:pt x="10541000" y="4343400"/>
                    <a:pt x="10469499" y="4414520"/>
                    <a:pt x="10381488" y="4414520"/>
                  </a:cubicBezTo>
                  <a:lnTo>
                    <a:pt x="10381488" y="4401820"/>
                  </a:lnTo>
                  <a:lnTo>
                    <a:pt x="10381488" y="4414520"/>
                  </a:lnTo>
                  <a:lnTo>
                    <a:pt x="159512" y="4414520"/>
                  </a:lnTo>
                  <a:lnTo>
                    <a:pt x="159512" y="4401820"/>
                  </a:lnTo>
                  <a:lnTo>
                    <a:pt x="159512" y="4414520"/>
                  </a:lnTo>
                  <a:cubicBezTo>
                    <a:pt x="71501" y="4414520"/>
                    <a:pt x="0" y="4343400"/>
                    <a:pt x="0" y="425551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4255516"/>
                  </a:lnTo>
                  <a:lnTo>
                    <a:pt x="12700" y="4255516"/>
                  </a:lnTo>
                  <a:lnTo>
                    <a:pt x="25400" y="4255516"/>
                  </a:lnTo>
                  <a:cubicBezTo>
                    <a:pt x="25400" y="4329303"/>
                    <a:pt x="85344" y="4389120"/>
                    <a:pt x="159512" y="4389120"/>
                  </a:cubicBezTo>
                  <a:lnTo>
                    <a:pt x="10381488" y="4389120"/>
                  </a:lnTo>
                  <a:cubicBezTo>
                    <a:pt x="10455529" y="4389120"/>
                    <a:pt x="10515600" y="4329303"/>
                    <a:pt x="10515600" y="4255516"/>
                  </a:cubicBezTo>
                  <a:lnTo>
                    <a:pt x="10515600" y="159004"/>
                  </a:lnTo>
                  <a:cubicBezTo>
                    <a:pt x="10515600" y="85217"/>
                    <a:pt x="10455656" y="25400"/>
                    <a:pt x="10381488" y="25400"/>
                  </a:cubicBezTo>
                  <a:lnTo>
                    <a:pt x="159512" y="25400"/>
                  </a:lnTo>
                  <a:lnTo>
                    <a:pt x="159512" y="12700"/>
                  </a:lnTo>
                  <a:lnTo>
                    <a:pt x="159512" y="25400"/>
                  </a:lnTo>
                  <a:cubicBezTo>
                    <a:pt x="85344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941728" y="5445252"/>
            <a:ext cx="6794163" cy="2606040"/>
            <a:chOff x="0" y="0"/>
            <a:chExt cx="9058885" cy="3474720"/>
          </a:xfrm>
        </p:grpSpPr>
        <p:sp>
          <p:nvSpPr>
            <p:cNvPr name="Freeform 54" id="54" descr="/mnt/data/dm_nb_imgs/cell22_out00_3.png"/>
            <p:cNvSpPr/>
            <p:nvPr/>
          </p:nvSpPr>
          <p:spPr>
            <a:xfrm flipH="false" flipV="false" rot="0">
              <a:off x="0" y="0"/>
              <a:ext cx="9058910" cy="3474720"/>
            </a:xfrm>
            <a:custGeom>
              <a:avLst/>
              <a:gdLst/>
              <a:ahLst/>
              <a:cxnLst/>
              <a:rect r="r" b="b" t="t" l="l"/>
              <a:pathLst>
                <a:path h="3474720" w="9058910">
                  <a:moveTo>
                    <a:pt x="0" y="0"/>
                  </a:moveTo>
                  <a:lnTo>
                    <a:pt x="9058910" y="0"/>
                  </a:lnTo>
                  <a:lnTo>
                    <a:pt x="9058910" y="3474720"/>
                  </a:lnTo>
                  <a:lnTo>
                    <a:pt x="0" y="347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560052" y="8147304"/>
            <a:ext cx="7557516" cy="246888"/>
            <a:chOff x="0" y="0"/>
            <a:chExt cx="10076688" cy="3291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076688" cy="329184"/>
            </a:xfrm>
            <a:custGeom>
              <a:avLst/>
              <a:gdLst/>
              <a:ahLst/>
              <a:cxnLst/>
              <a:rect r="r" b="b" t="t" l="l"/>
              <a:pathLst>
                <a:path h="329184" w="10076688">
                  <a:moveTo>
                    <a:pt x="0" y="0"/>
                  </a:moveTo>
                  <a:lnTo>
                    <a:pt x="10076688" y="0"/>
                  </a:lnTo>
                  <a:lnTo>
                    <a:pt x="1007668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458" r="0" b="-54645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007668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Pola lokasi missing value dalam data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213580" y="9710928"/>
            <a:ext cx="411480" cy="342900"/>
            <a:chOff x="0" y="0"/>
            <a:chExt cx="548640" cy="457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864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486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73430" y="9710928"/>
            <a:ext cx="10972800" cy="315468"/>
            <a:chOff x="0" y="0"/>
            <a:chExt cx="14630400" cy="4206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63040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10" r="0" b="-61687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463040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Penambangan Data IF-32025 • Kelompok 05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-1503045" y="8098155"/>
            <a:ext cx="4408170" cy="4408170"/>
            <a:chOff x="0" y="0"/>
            <a:chExt cx="5877560" cy="5877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798320" y="8862060"/>
            <a:ext cx="1783080" cy="466344"/>
            <a:chOff x="0" y="0"/>
            <a:chExt cx="2377440" cy="6217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77440" cy="621792"/>
            </a:xfrm>
            <a:custGeom>
              <a:avLst/>
              <a:gdLst/>
              <a:ahLst/>
              <a:cxnLst/>
              <a:rect r="r" b="b" t="t" l="l"/>
              <a:pathLst>
                <a:path h="621792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37744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768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798320" y="9383268"/>
            <a:ext cx="1783080" cy="329184"/>
            <a:chOff x="0" y="0"/>
            <a:chExt cx="2377440" cy="43891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77440" cy="438912"/>
            </a:xfrm>
            <a:custGeom>
              <a:avLst/>
              <a:gdLst/>
              <a:ahLst/>
              <a:cxnLst/>
              <a:rect r="r" b="b" t="t" l="l"/>
              <a:pathLst>
                <a:path h="438912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37744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sampel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4404360" y="8862060"/>
            <a:ext cx="2606040" cy="466344"/>
            <a:chOff x="0" y="0"/>
            <a:chExt cx="3474720" cy="6217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74720" cy="621792"/>
            </a:xfrm>
            <a:custGeom>
              <a:avLst/>
              <a:gdLst/>
              <a:ahLst/>
              <a:cxnLst/>
              <a:rect r="r" b="b" t="t" l="l"/>
              <a:pathLst>
                <a:path h="62179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4747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404360" y="9383268"/>
            <a:ext cx="2606040" cy="329184"/>
            <a:chOff x="0" y="0"/>
            <a:chExt cx="3474720" cy="43891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74720" cy="438912"/>
            </a:xfrm>
            <a:custGeom>
              <a:avLst/>
              <a:gdLst/>
              <a:ahLst/>
              <a:cxnLst/>
              <a:rect r="r" b="b" t="t" l="l"/>
              <a:pathLst>
                <a:path h="43891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256" r="0" b="-10425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347472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kolom: 8 fitur + target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833360" y="8862060"/>
            <a:ext cx="2468880" cy="466344"/>
            <a:chOff x="0" y="0"/>
            <a:chExt cx="3291840" cy="6217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291840" cy="621792"/>
            </a:xfrm>
            <a:custGeom>
              <a:avLst/>
              <a:gdLst/>
              <a:ahLst/>
              <a:cxnLst/>
              <a:rect r="r" b="b" t="t" l="l"/>
              <a:pathLst>
                <a:path h="62179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329184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1:1.86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7833360" y="9383268"/>
            <a:ext cx="2468880" cy="329184"/>
            <a:chOff x="0" y="0"/>
            <a:chExt cx="3291840" cy="43891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291840" cy="438912"/>
            </a:xfrm>
            <a:custGeom>
              <a:avLst/>
              <a:gdLst/>
              <a:ahLst/>
              <a:cxnLst/>
              <a:rect r="r" b="b" t="t" l="l"/>
              <a:pathLst>
                <a:path h="43891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329184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imbalance ratio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262360" y="8862060"/>
            <a:ext cx="1920240" cy="466344"/>
            <a:chOff x="0" y="0"/>
            <a:chExt cx="2560320" cy="6217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560320" cy="621792"/>
            </a:xfrm>
            <a:custGeom>
              <a:avLst/>
              <a:gdLst/>
              <a:ahLst/>
              <a:cxnLst/>
              <a:rect r="r" b="b" t="t" l="l"/>
              <a:pathLst>
                <a:path h="62179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32" r="0" b="-3023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256032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2C5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20%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262360" y="9383268"/>
            <a:ext cx="1920240" cy="329184"/>
            <a:chOff x="0" y="0"/>
            <a:chExt cx="2560320" cy="43891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560320" cy="438912"/>
            </a:xfrm>
            <a:custGeom>
              <a:avLst/>
              <a:gdLst/>
              <a:ahLst/>
              <a:cxnLst/>
              <a:rect r="r" b="b" t="t" l="l"/>
              <a:pathLst>
                <a:path h="43891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56032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testing set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B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13728700"/>
                  </a:lnTo>
                  <a:cubicBezTo>
                    <a:pt x="24408764" y="13735686"/>
                    <a:pt x="24403050" y="13741400"/>
                    <a:pt x="24396064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064" y="13716000"/>
                  </a:lnTo>
                  <a:lnTo>
                    <a:pt x="24396064" y="13728700"/>
                  </a:lnTo>
                  <a:lnTo>
                    <a:pt x="24383364" y="13728700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7FB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-9525"/>
            <a:ext cx="18306593" cy="211074"/>
            <a:chOff x="0" y="0"/>
            <a:chExt cx="24408790" cy="281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3364" cy="256032"/>
            </a:xfrm>
            <a:custGeom>
              <a:avLst/>
              <a:gdLst/>
              <a:ahLst/>
              <a:cxnLst/>
              <a:rect r="r" b="b" t="t" l="l"/>
              <a:pathLst>
                <a:path h="25603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8764" cy="281432"/>
            </a:xfrm>
            <a:custGeom>
              <a:avLst/>
              <a:gdLst/>
              <a:ahLst/>
              <a:cxnLst/>
              <a:rect r="r" b="b" t="t" l="l"/>
              <a:pathLst>
                <a:path h="281432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268732"/>
                  </a:lnTo>
                  <a:cubicBezTo>
                    <a:pt x="24408764" y="275717"/>
                    <a:pt x="24403050" y="281432"/>
                    <a:pt x="24396064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24396064" y="256032"/>
                  </a:lnTo>
                  <a:lnTo>
                    <a:pt x="24396064" y="268732"/>
                  </a:lnTo>
                  <a:lnTo>
                    <a:pt x="24383364" y="268732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15235" y="-1518285"/>
            <a:ext cx="4682490" cy="4682490"/>
            <a:chOff x="0" y="0"/>
            <a:chExt cx="6243320" cy="624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  <a:lnTo>
                    <a:pt x="0" y="3108960"/>
                  </a:lnTo>
                  <a:close/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08960" y="0"/>
              <a:ext cx="3134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13436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736725" y="0"/>
                    <a:pt x="3134360" y="1397635"/>
                    <a:pt x="3134360" y="3121660"/>
                  </a:cubicBezTo>
                  <a:cubicBezTo>
                    <a:pt x="3134360" y="3128645"/>
                    <a:pt x="3128645" y="3134360"/>
                    <a:pt x="312166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3121660" y="3108960"/>
                  </a:lnTo>
                  <a:lnTo>
                    <a:pt x="3121660" y="3121660"/>
                  </a:lnTo>
                  <a:lnTo>
                    <a:pt x="3108960" y="3121660"/>
                  </a:lnTo>
                  <a:cubicBezTo>
                    <a:pt x="3108960" y="1411605"/>
                    <a:pt x="1722755" y="25400"/>
                    <a:pt x="1270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21660" y="0"/>
              <a:ext cx="3121660" cy="3121660"/>
            </a:xfrm>
            <a:custGeom>
              <a:avLst/>
              <a:gdLst/>
              <a:ahLst/>
              <a:cxnLst/>
              <a:rect r="r" b="b" t="t" l="l"/>
              <a:pathLst>
                <a:path h="3121660" w="312166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724025" y="0"/>
                    <a:pt x="3121660" y="1397635"/>
                    <a:pt x="3121660" y="3121660"/>
                  </a:cubicBezTo>
                  <a:lnTo>
                    <a:pt x="3096260" y="3121660"/>
                  </a:lnTo>
                  <a:cubicBezTo>
                    <a:pt x="3096260" y="1411605"/>
                    <a:pt x="1710055" y="25400"/>
                    <a:pt x="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655445" y="7945755"/>
            <a:ext cx="4408170" cy="4408170"/>
            <a:chOff x="0" y="0"/>
            <a:chExt cx="5877560" cy="5877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" y="576072"/>
            <a:ext cx="16459200" cy="576072"/>
            <a:chOff x="0" y="0"/>
            <a:chExt cx="2194560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9456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Eksplorasi Data: Distribusi Fitur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8096" y="1179576"/>
            <a:ext cx="15773400" cy="384048"/>
            <a:chOff x="0" y="0"/>
            <a:chExt cx="2103120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31200" cy="512064"/>
            </a:xfrm>
            <a:custGeom>
              <a:avLst/>
              <a:gdLst/>
              <a:ahLst/>
              <a:cxnLst/>
              <a:rect r="r" b="b" t="t" l="l"/>
              <a:pathLst>
                <a:path h="51206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278" r="0" b="-7502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031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Pola distribusi membantu memahami karakter data sebelum dilakukan imputasi.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2015" y="1842135"/>
            <a:ext cx="8728710" cy="6808470"/>
            <a:chOff x="0" y="0"/>
            <a:chExt cx="11638280" cy="9077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1612880" cy="9052561"/>
            </a:xfrm>
            <a:custGeom>
              <a:avLst/>
              <a:gdLst/>
              <a:ahLst/>
              <a:cxnLst/>
              <a:rect r="r" b="b" t="t" l="l"/>
              <a:pathLst>
                <a:path h="9052561" w="11612880">
                  <a:moveTo>
                    <a:pt x="0" y="146304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1466449" y="0"/>
                  </a:lnTo>
                  <a:cubicBezTo>
                    <a:pt x="11547348" y="0"/>
                    <a:pt x="11612880" y="65532"/>
                    <a:pt x="11612880" y="146304"/>
                  </a:cubicBezTo>
                  <a:lnTo>
                    <a:pt x="11612880" y="8906256"/>
                  </a:lnTo>
                  <a:cubicBezTo>
                    <a:pt x="11612880" y="8987028"/>
                    <a:pt x="11547348" y="9052561"/>
                    <a:pt x="11466449" y="9052561"/>
                  </a:cubicBezTo>
                  <a:lnTo>
                    <a:pt x="146431" y="9052561"/>
                  </a:lnTo>
                  <a:cubicBezTo>
                    <a:pt x="65532" y="9052560"/>
                    <a:pt x="0" y="8987028"/>
                    <a:pt x="0" y="8906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38280" cy="9077961"/>
            </a:xfrm>
            <a:custGeom>
              <a:avLst/>
              <a:gdLst/>
              <a:ahLst/>
              <a:cxnLst/>
              <a:rect r="r" b="b" t="t" l="l"/>
              <a:pathLst>
                <a:path h="9077961" w="11638280">
                  <a:moveTo>
                    <a:pt x="0" y="159004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1479149" y="0"/>
                  </a:lnTo>
                  <a:lnTo>
                    <a:pt x="11479149" y="12700"/>
                  </a:lnTo>
                  <a:lnTo>
                    <a:pt x="11479149" y="0"/>
                  </a:lnTo>
                  <a:cubicBezTo>
                    <a:pt x="11567033" y="0"/>
                    <a:pt x="11638280" y="71120"/>
                    <a:pt x="11638280" y="159004"/>
                  </a:cubicBezTo>
                  <a:lnTo>
                    <a:pt x="11625580" y="159004"/>
                  </a:lnTo>
                  <a:lnTo>
                    <a:pt x="11638280" y="159004"/>
                  </a:lnTo>
                  <a:lnTo>
                    <a:pt x="11638280" y="8918956"/>
                  </a:lnTo>
                  <a:lnTo>
                    <a:pt x="11625580" y="8918956"/>
                  </a:lnTo>
                  <a:lnTo>
                    <a:pt x="11638280" y="8918956"/>
                  </a:lnTo>
                  <a:cubicBezTo>
                    <a:pt x="11638280" y="9006713"/>
                    <a:pt x="11567033" y="9077961"/>
                    <a:pt x="11479149" y="9077961"/>
                  </a:cubicBezTo>
                  <a:lnTo>
                    <a:pt x="11479149" y="9065261"/>
                  </a:lnTo>
                  <a:lnTo>
                    <a:pt x="11479149" y="9077961"/>
                  </a:lnTo>
                  <a:lnTo>
                    <a:pt x="159131" y="9077961"/>
                  </a:lnTo>
                  <a:lnTo>
                    <a:pt x="159131" y="9065261"/>
                  </a:lnTo>
                  <a:lnTo>
                    <a:pt x="159131" y="9077961"/>
                  </a:lnTo>
                  <a:cubicBezTo>
                    <a:pt x="71247" y="9077960"/>
                    <a:pt x="0" y="9006840"/>
                    <a:pt x="0" y="89189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918956"/>
                  </a:lnTo>
                  <a:lnTo>
                    <a:pt x="12700" y="8918956"/>
                  </a:lnTo>
                  <a:lnTo>
                    <a:pt x="25400" y="8918956"/>
                  </a:lnTo>
                  <a:cubicBezTo>
                    <a:pt x="25400" y="8992743"/>
                    <a:pt x="85217" y="9052561"/>
                    <a:pt x="159131" y="9052561"/>
                  </a:cubicBezTo>
                  <a:lnTo>
                    <a:pt x="11479149" y="9052561"/>
                  </a:lnTo>
                  <a:cubicBezTo>
                    <a:pt x="11552936" y="9052561"/>
                    <a:pt x="11612880" y="8992743"/>
                    <a:pt x="11612880" y="8918956"/>
                  </a:cubicBezTo>
                  <a:lnTo>
                    <a:pt x="11612880" y="159004"/>
                  </a:lnTo>
                  <a:cubicBezTo>
                    <a:pt x="11612880" y="85217"/>
                    <a:pt x="11553063" y="25400"/>
                    <a:pt x="11479149" y="25400"/>
                  </a:cubicBezTo>
                  <a:lnTo>
                    <a:pt x="159131" y="25400"/>
                  </a:lnTo>
                  <a:lnTo>
                    <a:pt x="159131" y="12700"/>
                  </a:lnTo>
                  <a:lnTo>
                    <a:pt x="159131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2286143"/>
            <a:ext cx="8435340" cy="5563838"/>
            <a:chOff x="0" y="0"/>
            <a:chExt cx="11247120" cy="7418451"/>
          </a:xfrm>
        </p:grpSpPr>
        <p:sp>
          <p:nvSpPr>
            <p:cNvPr name="Freeform 28" id="28" descr="/mnt/data/dm_nb_imgs/cell16_out00_1.png"/>
            <p:cNvSpPr/>
            <p:nvPr/>
          </p:nvSpPr>
          <p:spPr>
            <a:xfrm flipH="false" flipV="false" rot="0">
              <a:off x="0" y="0"/>
              <a:ext cx="11247120" cy="7418451"/>
            </a:xfrm>
            <a:custGeom>
              <a:avLst/>
              <a:gdLst/>
              <a:ahLst/>
              <a:cxnLst/>
              <a:rect r="r" b="b" t="t" l="l"/>
              <a:pathLst>
                <a:path h="7418451" w="11247120">
                  <a:moveTo>
                    <a:pt x="0" y="0"/>
                  </a:moveTo>
                  <a:lnTo>
                    <a:pt x="11247120" y="0"/>
                  </a:lnTo>
                  <a:lnTo>
                    <a:pt x="11247120" y="7418451"/>
                  </a:lnTo>
                  <a:lnTo>
                    <a:pt x="0" y="7418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56132" y="8215884"/>
            <a:ext cx="8380476" cy="246888"/>
            <a:chOff x="0" y="0"/>
            <a:chExt cx="11173968" cy="3291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73968" cy="329184"/>
            </a:xfrm>
            <a:custGeom>
              <a:avLst/>
              <a:gdLst/>
              <a:ahLst/>
              <a:cxnLst/>
              <a:rect r="r" b="b" t="t" l="l"/>
              <a:pathLst>
                <a:path h="329184" w="11173968">
                  <a:moveTo>
                    <a:pt x="0" y="0"/>
                  </a:moveTo>
                  <a:lnTo>
                    <a:pt x="11173968" y="0"/>
                  </a:lnTo>
                  <a:lnTo>
                    <a:pt x="1117396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408" r="0" b="-6114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117396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Distribusi fitur numerik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71735" y="1842135"/>
            <a:ext cx="7014210" cy="6808470"/>
            <a:chOff x="0" y="0"/>
            <a:chExt cx="9352280" cy="9077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9326880" cy="9052561"/>
            </a:xfrm>
            <a:custGeom>
              <a:avLst/>
              <a:gdLst/>
              <a:ahLst/>
              <a:cxnLst/>
              <a:rect r="r" b="b" t="t" l="l"/>
              <a:pathLst>
                <a:path h="9052561" w="9326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180576" y="0"/>
                  </a:lnTo>
                  <a:cubicBezTo>
                    <a:pt x="9261348" y="0"/>
                    <a:pt x="9326880" y="65532"/>
                    <a:pt x="9326880" y="146304"/>
                  </a:cubicBezTo>
                  <a:lnTo>
                    <a:pt x="9326880" y="8906256"/>
                  </a:lnTo>
                  <a:cubicBezTo>
                    <a:pt x="9326880" y="8987028"/>
                    <a:pt x="9261348" y="9052561"/>
                    <a:pt x="9180576" y="9052561"/>
                  </a:cubicBezTo>
                  <a:lnTo>
                    <a:pt x="146304" y="9052561"/>
                  </a:lnTo>
                  <a:cubicBezTo>
                    <a:pt x="65532" y="9052560"/>
                    <a:pt x="0" y="8987028"/>
                    <a:pt x="0" y="8906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52280" cy="9077961"/>
            </a:xfrm>
            <a:custGeom>
              <a:avLst/>
              <a:gdLst/>
              <a:ahLst/>
              <a:cxnLst/>
              <a:rect r="r" b="b" t="t" l="l"/>
              <a:pathLst>
                <a:path h="9077961" w="9352280">
                  <a:moveTo>
                    <a:pt x="0" y="159004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9193276" y="0"/>
                  </a:lnTo>
                  <a:lnTo>
                    <a:pt x="9193276" y="12700"/>
                  </a:lnTo>
                  <a:lnTo>
                    <a:pt x="9193276" y="0"/>
                  </a:lnTo>
                  <a:cubicBezTo>
                    <a:pt x="9281033" y="0"/>
                    <a:pt x="9352280" y="71120"/>
                    <a:pt x="9352280" y="159004"/>
                  </a:cubicBezTo>
                  <a:lnTo>
                    <a:pt x="9339580" y="159004"/>
                  </a:lnTo>
                  <a:lnTo>
                    <a:pt x="9352280" y="159004"/>
                  </a:lnTo>
                  <a:lnTo>
                    <a:pt x="9352280" y="8918956"/>
                  </a:lnTo>
                  <a:lnTo>
                    <a:pt x="9339580" y="8918956"/>
                  </a:lnTo>
                  <a:lnTo>
                    <a:pt x="9352280" y="8918956"/>
                  </a:lnTo>
                  <a:cubicBezTo>
                    <a:pt x="9352280" y="9006713"/>
                    <a:pt x="9281033" y="9077961"/>
                    <a:pt x="9193276" y="9077961"/>
                  </a:cubicBezTo>
                  <a:lnTo>
                    <a:pt x="9193276" y="9065261"/>
                  </a:lnTo>
                  <a:lnTo>
                    <a:pt x="9193276" y="9077961"/>
                  </a:lnTo>
                  <a:lnTo>
                    <a:pt x="159004" y="9077961"/>
                  </a:lnTo>
                  <a:lnTo>
                    <a:pt x="159004" y="9065261"/>
                  </a:lnTo>
                  <a:lnTo>
                    <a:pt x="159004" y="9077961"/>
                  </a:lnTo>
                  <a:cubicBezTo>
                    <a:pt x="71247" y="9077960"/>
                    <a:pt x="0" y="9006840"/>
                    <a:pt x="0" y="89189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918956"/>
                  </a:lnTo>
                  <a:lnTo>
                    <a:pt x="12700" y="8918956"/>
                  </a:lnTo>
                  <a:lnTo>
                    <a:pt x="25400" y="8918956"/>
                  </a:lnTo>
                  <a:cubicBezTo>
                    <a:pt x="25400" y="8992743"/>
                    <a:pt x="85217" y="9052561"/>
                    <a:pt x="159004" y="9052561"/>
                  </a:cubicBezTo>
                  <a:lnTo>
                    <a:pt x="9193276" y="9052561"/>
                  </a:lnTo>
                  <a:cubicBezTo>
                    <a:pt x="9267063" y="9052561"/>
                    <a:pt x="9326880" y="8992743"/>
                    <a:pt x="9326880" y="8918956"/>
                  </a:cubicBezTo>
                  <a:lnTo>
                    <a:pt x="9326880" y="159004"/>
                  </a:lnTo>
                  <a:cubicBezTo>
                    <a:pt x="9326880" y="85217"/>
                    <a:pt x="9267063" y="25400"/>
                    <a:pt x="919327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71735" y="1842135"/>
            <a:ext cx="128778" cy="6808470"/>
            <a:chOff x="0" y="0"/>
            <a:chExt cx="171704" cy="9077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146304" cy="9052560"/>
            </a:xfrm>
            <a:custGeom>
              <a:avLst/>
              <a:gdLst/>
              <a:ahLst/>
              <a:cxnLst/>
              <a:rect r="r" b="b" t="t" l="l"/>
              <a:pathLst>
                <a:path h="9052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9052560"/>
                  </a:lnTo>
                  <a:lnTo>
                    <a:pt x="0" y="905256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1704" cy="9077960"/>
            </a:xfrm>
            <a:custGeom>
              <a:avLst/>
              <a:gdLst/>
              <a:ahLst/>
              <a:cxnLst/>
              <a:rect r="r" b="b" t="t" l="l"/>
              <a:pathLst>
                <a:path h="90779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9065260"/>
                  </a:lnTo>
                  <a:cubicBezTo>
                    <a:pt x="171704" y="9072245"/>
                    <a:pt x="165989" y="9077960"/>
                    <a:pt x="159004" y="9077960"/>
                  </a:cubicBezTo>
                  <a:lnTo>
                    <a:pt x="12700" y="9077960"/>
                  </a:lnTo>
                  <a:cubicBezTo>
                    <a:pt x="5715" y="9077960"/>
                    <a:pt x="0" y="9072245"/>
                    <a:pt x="0" y="9065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065260"/>
                  </a:lnTo>
                  <a:lnTo>
                    <a:pt x="12700" y="9065260"/>
                  </a:lnTo>
                  <a:lnTo>
                    <a:pt x="12700" y="9052560"/>
                  </a:lnTo>
                  <a:lnTo>
                    <a:pt x="159004" y="9052560"/>
                  </a:lnTo>
                  <a:lnTo>
                    <a:pt x="159004" y="9065260"/>
                  </a:lnTo>
                  <a:lnTo>
                    <a:pt x="146304" y="90652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424160" y="2263140"/>
            <a:ext cx="4800600" cy="464027"/>
            <a:chOff x="0" y="0"/>
            <a:chExt cx="6400800" cy="61870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00800" cy="618703"/>
            </a:xfrm>
            <a:custGeom>
              <a:avLst/>
              <a:gdLst/>
              <a:ahLst/>
              <a:cxnLst/>
              <a:rect r="r" b="b" t="t" l="l"/>
              <a:pathLst>
                <a:path h="618703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18703"/>
                  </a:lnTo>
                  <a:lnTo>
                    <a:pt x="0" y="618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068" r="0" b="-13409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6400800" cy="609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TEMUAN EDA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424160" y="2811780"/>
            <a:ext cx="6240780" cy="3360420"/>
            <a:chOff x="0" y="0"/>
            <a:chExt cx="8321040" cy="4480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321040" cy="4480560"/>
            </a:xfrm>
            <a:custGeom>
              <a:avLst/>
              <a:gdLst/>
              <a:ahLst/>
              <a:cxnLst/>
              <a:rect r="r" b="b" t="t" l="l"/>
              <a:pathLst>
                <a:path h="448056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4480560"/>
                  </a:lnTo>
                  <a:lnTo>
                    <a:pt x="0" y="448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86" t="0" r="-1908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8321040" cy="448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Sebagian besar fitur tidak berdistribusi normal dan cenderung skewed, sehingga nilai rata-rata dapat dipengaruhi outlier.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Insulin dan DiabetesPedigreeFunction menunjukkan right-skewed: banyak nilai kecil dengan beberapa nilai sangat besar.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BloodPressure dan BMI cenderung lebih terpusat, tetapi tetap memiliki indikasi nilai tidak valid dari nilai minimum 0.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Karena distribusi tidak ideal, metode imputasi dibandingkan secara empiris melalui hasil model, bukan hanya berdasarkan teori.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83215" y="6419850"/>
            <a:ext cx="6122670" cy="1764411"/>
            <a:chOff x="0" y="0"/>
            <a:chExt cx="8163560" cy="23525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23544"/>
              <a:ext cx="8138160" cy="2305459"/>
            </a:xfrm>
            <a:custGeom>
              <a:avLst/>
              <a:gdLst/>
              <a:ahLst/>
              <a:cxnLst/>
              <a:rect r="r" b="b" t="t" l="l"/>
              <a:pathLst>
                <a:path h="2305459" w="8138160">
                  <a:moveTo>
                    <a:pt x="0" y="271231"/>
                  </a:moveTo>
                  <a:cubicBezTo>
                    <a:pt x="0" y="121489"/>
                    <a:pt x="66675" y="0"/>
                    <a:pt x="148844" y="0"/>
                  </a:cubicBezTo>
                  <a:lnTo>
                    <a:pt x="7989316" y="0"/>
                  </a:lnTo>
                  <a:cubicBezTo>
                    <a:pt x="8071485" y="0"/>
                    <a:pt x="8138160" y="121489"/>
                    <a:pt x="8138160" y="271231"/>
                  </a:cubicBezTo>
                  <a:lnTo>
                    <a:pt x="8138160" y="2034229"/>
                  </a:lnTo>
                  <a:cubicBezTo>
                    <a:pt x="8138160" y="2183971"/>
                    <a:pt x="8071485" y="2305460"/>
                    <a:pt x="7989316" y="2305460"/>
                  </a:cubicBezTo>
                  <a:lnTo>
                    <a:pt x="148844" y="2305460"/>
                  </a:lnTo>
                  <a:cubicBezTo>
                    <a:pt x="66675" y="2305460"/>
                    <a:pt x="0" y="2183971"/>
                    <a:pt x="0" y="2034229"/>
                  </a:cubicBezTo>
                  <a:close/>
                </a:path>
              </a:pathLst>
            </a:custGeom>
            <a:solidFill>
              <a:srgbClr val="EAFBF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63560" cy="2352548"/>
            </a:xfrm>
            <a:custGeom>
              <a:avLst/>
              <a:gdLst/>
              <a:ahLst/>
              <a:cxnLst/>
              <a:rect r="r" b="b" t="t" l="l"/>
              <a:pathLst>
                <a:path h="2352548" w="8163560">
                  <a:moveTo>
                    <a:pt x="0" y="294775"/>
                  </a:moveTo>
                  <a:cubicBezTo>
                    <a:pt x="0" y="131613"/>
                    <a:pt x="72517" y="0"/>
                    <a:pt x="161544" y="0"/>
                  </a:cubicBezTo>
                  <a:lnTo>
                    <a:pt x="8002016" y="0"/>
                  </a:lnTo>
                  <a:lnTo>
                    <a:pt x="8002016" y="23544"/>
                  </a:lnTo>
                  <a:lnTo>
                    <a:pt x="8002016" y="0"/>
                  </a:lnTo>
                  <a:cubicBezTo>
                    <a:pt x="8091043" y="0"/>
                    <a:pt x="8163560" y="131613"/>
                    <a:pt x="8163560" y="294775"/>
                  </a:cubicBezTo>
                  <a:lnTo>
                    <a:pt x="8150860" y="294775"/>
                  </a:lnTo>
                  <a:lnTo>
                    <a:pt x="8163560" y="294775"/>
                  </a:lnTo>
                  <a:lnTo>
                    <a:pt x="8163560" y="2057773"/>
                  </a:lnTo>
                  <a:lnTo>
                    <a:pt x="8150860" y="2057773"/>
                  </a:lnTo>
                  <a:lnTo>
                    <a:pt x="8163560" y="2057773"/>
                  </a:lnTo>
                  <a:cubicBezTo>
                    <a:pt x="8163560" y="2220935"/>
                    <a:pt x="8091043" y="2352548"/>
                    <a:pt x="8002016" y="2352548"/>
                  </a:cubicBezTo>
                  <a:lnTo>
                    <a:pt x="8002016" y="2329004"/>
                  </a:lnTo>
                  <a:lnTo>
                    <a:pt x="8002016" y="2352548"/>
                  </a:lnTo>
                  <a:lnTo>
                    <a:pt x="161544" y="2352548"/>
                  </a:lnTo>
                  <a:lnTo>
                    <a:pt x="161544" y="2329004"/>
                  </a:lnTo>
                  <a:lnTo>
                    <a:pt x="161544" y="2352548"/>
                  </a:lnTo>
                  <a:cubicBezTo>
                    <a:pt x="72517" y="2352548"/>
                    <a:pt x="0" y="2220935"/>
                    <a:pt x="0" y="2057773"/>
                  </a:cubicBezTo>
                  <a:lnTo>
                    <a:pt x="0" y="294775"/>
                  </a:lnTo>
                  <a:lnTo>
                    <a:pt x="12700" y="294775"/>
                  </a:lnTo>
                  <a:lnTo>
                    <a:pt x="0" y="294775"/>
                  </a:lnTo>
                  <a:moveTo>
                    <a:pt x="25400" y="294775"/>
                  </a:moveTo>
                  <a:lnTo>
                    <a:pt x="25400" y="2057773"/>
                  </a:lnTo>
                  <a:lnTo>
                    <a:pt x="12700" y="2057773"/>
                  </a:lnTo>
                  <a:lnTo>
                    <a:pt x="25400" y="2057773"/>
                  </a:lnTo>
                  <a:cubicBezTo>
                    <a:pt x="25400" y="2194095"/>
                    <a:pt x="86106" y="2305459"/>
                    <a:pt x="161544" y="2305459"/>
                  </a:cubicBezTo>
                  <a:lnTo>
                    <a:pt x="8002016" y="2305459"/>
                  </a:lnTo>
                  <a:cubicBezTo>
                    <a:pt x="8077454" y="2305459"/>
                    <a:pt x="8138160" y="2194095"/>
                    <a:pt x="8138160" y="2057773"/>
                  </a:cubicBezTo>
                  <a:lnTo>
                    <a:pt x="8138160" y="294775"/>
                  </a:lnTo>
                  <a:cubicBezTo>
                    <a:pt x="8138160" y="158453"/>
                    <a:pt x="8077454" y="47089"/>
                    <a:pt x="8002016" y="47089"/>
                  </a:cubicBezTo>
                  <a:lnTo>
                    <a:pt x="161544" y="47089"/>
                  </a:lnTo>
                  <a:lnTo>
                    <a:pt x="161544" y="23544"/>
                  </a:lnTo>
                  <a:lnTo>
                    <a:pt x="161544" y="47089"/>
                  </a:lnTo>
                  <a:cubicBezTo>
                    <a:pt x="86106" y="47089"/>
                    <a:pt x="25400" y="158453"/>
                    <a:pt x="25400" y="294775"/>
                  </a:cubicBezTo>
                  <a:close/>
                </a:path>
              </a:pathLst>
            </a:custGeom>
            <a:solidFill>
              <a:srgbClr val="BDEFE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767060" y="6867525"/>
            <a:ext cx="5554980" cy="991743"/>
            <a:chOff x="0" y="0"/>
            <a:chExt cx="7406640" cy="13223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06640" cy="1322324"/>
            </a:xfrm>
            <a:custGeom>
              <a:avLst/>
              <a:gdLst/>
              <a:ahLst/>
              <a:cxnLst/>
              <a:rect r="r" b="b" t="t" l="l"/>
              <a:pathLst>
                <a:path h="1322324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322324"/>
                  </a:lnTo>
                  <a:lnTo>
                    <a:pt x="0" y="13223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777" r="0" b="-2850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7406640" cy="1322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Makna utama: kualitas imputasi diuji dari dampaknya terhadap klasifikasi, terutama kemampuan mendeteksi kelas positif diabetes.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213580" y="9710928"/>
            <a:ext cx="411480" cy="342900"/>
            <a:chOff x="0" y="0"/>
            <a:chExt cx="548640" cy="457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64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5486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73430" y="9710928"/>
            <a:ext cx="10972800" cy="315468"/>
            <a:chOff x="0" y="0"/>
            <a:chExt cx="14630400" cy="42062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0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10" r="0" b="-61687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463040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Penambangan Data IF-32025 • Kelompok 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0931" y="1148318"/>
            <a:ext cx="14721140" cy="82875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B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13728700"/>
                  </a:lnTo>
                  <a:cubicBezTo>
                    <a:pt x="24408764" y="13735686"/>
                    <a:pt x="24403050" y="13741400"/>
                    <a:pt x="24396064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064" y="13716000"/>
                  </a:lnTo>
                  <a:lnTo>
                    <a:pt x="24396064" y="13728700"/>
                  </a:lnTo>
                  <a:lnTo>
                    <a:pt x="24383364" y="13728700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7FB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-9525"/>
            <a:ext cx="18306593" cy="211074"/>
            <a:chOff x="0" y="0"/>
            <a:chExt cx="24408790" cy="281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3364" cy="256032"/>
            </a:xfrm>
            <a:custGeom>
              <a:avLst/>
              <a:gdLst/>
              <a:ahLst/>
              <a:cxnLst/>
              <a:rect r="r" b="b" t="t" l="l"/>
              <a:pathLst>
                <a:path h="25603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8764" cy="281432"/>
            </a:xfrm>
            <a:custGeom>
              <a:avLst/>
              <a:gdLst/>
              <a:ahLst/>
              <a:cxnLst/>
              <a:rect r="r" b="b" t="t" l="l"/>
              <a:pathLst>
                <a:path h="281432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268732"/>
                  </a:lnTo>
                  <a:cubicBezTo>
                    <a:pt x="24408764" y="275717"/>
                    <a:pt x="24403050" y="281432"/>
                    <a:pt x="24396064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24396064" y="256032"/>
                  </a:lnTo>
                  <a:lnTo>
                    <a:pt x="24396064" y="268732"/>
                  </a:lnTo>
                  <a:lnTo>
                    <a:pt x="24383364" y="268732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15235" y="-1518285"/>
            <a:ext cx="4682490" cy="4682490"/>
            <a:chOff x="0" y="0"/>
            <a:chExt cx="6243320" cy="624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  <a:lnTo>
                    <a:pt x="0" y="3108960"/>
                  </a:lnTo>
                  <a:close/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08960" y="0"/>
              <a:ext cx="3134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13436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736725" y="0"/>
                    <a:pt x="3134360" y="1397635"/>
                    <a:pt x="3134360" y="3121660"/>
                  </a:cubicBezTo>
                  <a:cubicBezTo>
                    <a:pt x="3134360" y="3128645"/>
                    <a:pt x="3128645" y="3134360"/>
                    <a:pt x="312166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3121660" y="3108960"/>
                  </a:lnTo>
                  <a:lnTo>
                    <a:pt x="3121660" y="3121660"/>
                  </a:lnTo>
                  <a:lnTo>
                    <a:pt x="3108960" y="3121660"/>
                  </a:lnTo>
                  <a:cubicBezTo>
                    <a:pt x="3108960" y="1411605"/>
                    <a:pt x="1722755" y="25400"/>
                    <a:pt x="1270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21660" y="0"/>
              <a:ext cx="3121660" cy="3121660"/>
            </a:xfrm>
            <a:custGeom>
              <a:avLst/>
              <a:gdLst/>
              <a:ahLst/>
              <a:cxnLst/>
              <a:rect r="r" b="b" t="t" l="l"/>
              <a:pathLst>
                <a:path h="3121660" w="312166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724025" y="0"/>
                    <a:pt x="3121660" y="1397635"/>
                    <a:pt x="3121660" y="3121660"/>
                  </a:cubicBezTo>
                  <a:lnTo>
                    <a:pt x="3096260" y="3121660"/>
                  </a:lnTo>
                  <a:cubicBezTo>
                    <a:pt x="3096260" y="1411605"/>
                    <a:pt x="1710055" y="25400"/>
                    <a:pt x="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655445" y="7945755"/>
            <a:ext cx="4408170" cy="4408170"/>
            <a:chOff x="0" y="0"/>
            <a:chExt cx="5877560" cy="5877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" y="576072"/>
            <a:ext cx="16459200" cy="576072"/>
            <a:chOff x="0" y="0"/>
            <a:chExt cx="2194560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9456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Metode Imputasi &amp; Evaluasi Model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8096" y="1179576"/>
            <a:ext cx="15773400" cy="384048"/>
            <a:chOff x="0" y="0"/>
            <a:chExt cx="2103120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31200" cy="512064"/>
            </a:xfrm>
            <a:custGeom>
              <a:avLst/>
              <a:gdLst/>
              <a:ahLst/>
              <a:cxnLst/>
              <a:rect r="r" b="b" t="t" l="l"/>
              <a:pathLst>
                <a:path h="51206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278" r="0" b="-7502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031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Random Forest digunakan sebagai model klasifikasi untuk membandingkan hasil setiap skenario.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2015" y="1842135"/>
            <a:ext cx="3516630" cy="4545330"/>
            <a:chOff x="0" y="0"/>
            <a:chExt cx="4688840" cy="6060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4663440" cy="6035040"/>
            </a:xfrm>
            <a:custGeom>
              <a:avLst/>
              <a:gdLst/>
              <a:ahLst/>
              <a:cxnLst/>
              <a:rect r="r" b="b" t="t" l="l"/>
              <a:pathLst>
                <a:path h="6035040" w="4663440">
                  <a:moveTo>
                    <a:pt x="0" y="146431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517136" y="0"/>
                  </a:lnTo>
                  <a:cubicBezTo>
                    <a:pt x="4597908" y="0"/>
                    <a:pt x="4663440" y="65532"/>
                    <a:pt x="4663440" y="146431"/>
                  </a:cubicBezTo>
                  <a:lnTo>
                    <a:pt x="4663440" y="5888609"/>
                  </a:lnTo>
                  <a:cubicBezTo>
                    <a:pt x="4663440" y="5969508"/>
                    <a:pt x="4597908" y="6035040"/>
                    <a:pt x="4517136" y="6035040"/>
                  </a:cubicBezTo>
                  <a:lnTo>
                    <a:pt x="146304" y="6035040"/>
                  </a:lnTo>
                  <a:cubicBezTo>
                    <a:pt x="65532" y="6035040"/>
                    <a:pt x="0" y="5969508"/>
                    <a:pt x="0" y="5888609"/>
                  </a:cubicBezTo>
                  <a:close/>
                </a:path>
              </a:pathLst>
            </a:custGeom>
            <a:solidFill>
              <a:srgbClr val="EAF4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88840" cy="6060440"/>
            </a:xfrm>
            <a:custGeom>
              <a:avLst/>
              <a:gdLst/>
              <a:ahLst/>
              <a:cxnLst/>
              <a:rect r="r" b="b" t="t" l="l"/>
              <a:pathLst>
                <a:path h="6060440" w="4688840">
                  <a:moveTo>
                    <a:pt x="0" y="159131"/>
                  </a:moveTo>
                  <a:cubicBezTo>
                    <a:pt x="0" y="71247"/>
                    <a:pt x="71120" y="0"/>
                    <a:pt x="159004" y="0"/>
                  </a:cubicBezTo>
                  <a:lnTo>
                    <a:pt x="4529836" y="0"/>
                  </a:lnTo>
                  <a:lnTo>
                    <a:pt x="4529836" y="12700"/>
                  </a:lnTo>
                  <a:lnTo>
                    <a:pt x="4529836" y="0"/>
                  </a:lnTo>
                  <a:cubicBezTo>
                    <a:pt x="4617720" y="0"/>
                    <a:pt x="4688840" y="71247"/>
                    <a:pt x="4688840" y="159131"/>
                  </a:cubicBezTo>
                  <a:lnTo>
                    <a:pt x="4676140" y="159131"/>
                  </a:lnTo>
                  <a:lnTo>
                    <a:pt x="4688840" y="159131"/>
                  </a:lnTo>
                  <a:lnTo>
                    <a:pt x="4688840" y="5901309"/>
                  </a:lnTo>
                  <a:lnTo>
                    <a:pt x="4676140" y="5901309"/>
                  </a:lnTo>
                  <a:lnTo>
                    <a:pt x="4688840" y="5901309"/>
                  </a:lnTo>
                  <a:cubicBezTo>
                    <a:pt x="4688840" y="5989193"/>
                    <a:pt x="4617720" y="6060440"/>
                    <a:pt x="4529836" y="6060440"/>
                  </a:cubicBezTo>
                  <a:lnTo>
                    <a:pt x="4529836" y="6047740"/>
                  </a:lnTo>
                  <a:lnTo>
                    <a:pt x="4529836" y="6060440"/>
                  </a:lnTo>
                  <a:lnTo>
                    <a:pt x="159004" y="6060440"/>
                  </a:lnTo>
                  <a:lnTo>
                    <a:pt x="159004" y="6047740"/>
                  </a:lnTo>
                  <a:lnTo>
                    <a:pt x="159004" y="6060440"/>
                  </a:lnTo>
                  <a:cubicBezTo>
                    <a:pt x="71120" y="6060440"/>
                    <a:pt x="0" y="5989193"/>
                    <a:pt x="0" y="5901309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5901309"/>
                  </a:lnTo>
                  <a:lnTo>
                    <a:pt x="12700" y="5901309"/>
                  </a:lnTo>
                  <a:lnTo>
                    <a:pt x="25400" y="5901309"/>
                  </a:lnTo>
                  <a:cubicBezTo>
                    <a:pt x="25400" y="5975223"/>
                    <a:pt x="85217" y="6035040"/>
                    <a:pt x="159004" y="6035040"/>
                  </a:cubicBezTo>
                  <a:lnTo>
                    <a:pt x="4529836" y="6035040"/>
                  </a:lnTo>
                  <a:cubicBezTo>
                    <a:pt x="4603623" y="6035040"/>
                    <a:pt x="4663440" y="5975223"/>
                    <a:pt x="4663440" y="5901309"/>
                  </a:cubicBezTo>
                  <a:lnTo>
                    <a:pt x="4663440" y="159131"/>
                  </a:lnTo>
                  <a:cubicBezTo>
                    <a:pt x="4663440" y="85217"/>
                    <a:pt x="4603623" y="25400"/>
                    <a:pt x="452983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131"/>
                  </a:cubicBezTo>
                  <a:close/>
                </a:path>
              </a:pathLst>
            </a:custGeom>
            <a:solidFill>
              <a:srgbClr val="D7E7F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82015" y="1842135"/>
            <a:ext cx="128778" cy="4545330"/>
            <a:chOff x="0" y="0"/>
            <a:chExt cx="171704" cy="6060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146304" cy="6035040"/>
            </a:xfrm>
            <a:custGeom>
              <a:avLst/>
              <a:gdLst/>
              <a:ahLst/>
              <a:cxnLst/>
              <a:rect r="r" b="b" t="t" l="l"/>
              <a:pathLst>
                <a:path h="6035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035040"/>
                  </a:lnTo>
                  <a:lnTo>
                    <a:pt x="0" y="6035040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1704" cy="6060440"/>
            </a:xfrm>
            <a:custGeom>
              <a:avLst/>
              <a:gdLst/>
              <a:ahLst/>
              <a:cxnLst/>
              <a:rect r="r" b="b" t="t" l="l"/>
              <a:pathLst>
                <a:path h="606044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6047740"/>
                  </a:lnTo>
                  <a:cubicBezTo>
                    <a:pt x="171704" y="6054725"/>
                    <a:pt x="165989" y="6060440"/>
                    <a:pt x="159004" y="6060440"/>
                  </a:cubicBezTo>
                  <a:lnTo>
                    <a:pt x="12700" y="6060440"/>
                  </a:lnTo>
                  <a:cubicBezTo>
                    <a:pt x="5715" y="6060440"/>
                    <a:pt x="0" y="6054725"/>
                    <a:pt x="0" y="6047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047740"/>
                  </a:lnTo>
                  <a:lnTo>
                    <a:pt x="12700" y="6047740"/>
                  </a:lnTo>
                  <a:lnTo>
                    <a:pt x="12700" y="6035040"/>
                  </a:lnTo>
                  <a:lnTo>
                    <a:pt x="159004" y="6035040"/>
                  </a:lnTo>
                  <a:lnTo>
                    <a:pt x="159004" y="6047740"/>
                  </a:lnTo>
                  <a:lnTo>
                    <a:pt x="146304" y="604774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12545" y="1989978"/>
            <a:ext cx="2880360" cy="464027"/>
            <a:chOff x="0" y="0"/>
            <a:chExt cx="3840480" cy="6187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40480" cy="618703"/>
            </a:xfrm>
            <a:custGeom>
              <a:avLst/>
              <a:gdLst/>
              <a:ahLst/>
              <a:cxnLst/>
              <a:rect r="r" b="b" t="t" l="l"/>
              <a:pathLst>
                <a:path h="618703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618703"/>
                  </a:lnTo>
                  <a:lnTo>
                    <a:pt x="0" y="618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23" r="0" b="-5937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3840480" cy="609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 Imputation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4440" y="2634389"/>
            <a:ext cx="2811780" cy="3267038"/>
            <a:chOff x="0" y="0"/>
            <a:chExt cx="3749040" cy="4356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49040" cy="4356050"/>
            </a:xfrm>
            <a:custGeom>
              <a:avLst/>
              <a:gdLst/>
              <a:ahLst/>
              <a:cxnLst/>
              <a:rect r="r" b="b" t="t" l="l"/>
              <a:pathLst>
                <a:path h="435605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4356050"/>
                  </a:lnTo>
                  <a:lnTo>
                    <a:pt x="0" y="4356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492" t="0" r="-34492" b="433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3749040" cy="4356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Mengisi data yang kosong dengan nilai rata-rata dari fitur tersebut.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Metode ini cepat dan mudah digunakan.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Kekurangannya, data bisa menjadi terlalu mirip karena banyak nilai kosong diganti dengan angka rata-rata.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859655" y="1842135"/>
            <a:ext cx="3516630" cy="4545330"/>
            <a:chOff x="0" y="0"/>
            <a:chExt cx="4688840" cy="6060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12700"/>
              <a:ext cx="4663440" cy="6035040"/>
            </a:xfrm>
            <a:custGeom>
              <a:avLst/>
              <a:gdLst/>
              <a:ahLst/>
              <a:cxnLst/>
              <a:rect r="r" b="b" t="t" l="l"/>
              <a:pathLst>
                <a:path h="6035040" w="4663440">
                  <a:moveTo>
                    <a:pt x="0" y="146431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517136" y="0"/>
                  </a:lnTo>
                  <a:cubicBezTo>
                    <a:pt x="4597908" y="0"/>
                    <a:pt x="4663440" y="65532"/>
                    <a:pt x="4663440" y="146431"/>
                  </a:cubicBezTo>
                  <a:lnTo>
                    <a:pt x="4663440" y="5888609"/>
                  </a:lnTo>
                  <a:cubicBezTo>
                    <a:pt x="4663440" y="5969508"/>
                    <a:pt x="4597908" y="6035040"/>
                    <a:pt x="4517136" y="6035040"/>
                  </a:cubicBezTo>
                  <a:lnTo>
                    <a:pt x="146304" y="6035040"/>
                  </a:lnTo>
                  <a:cubicBezTo>
                    <a:pt x="65532" y="6035040"/>
                    <a:pt x="0" y="5969508"/>
                    <a:pt x="0" y="5888609"/>
                  </a:cubicBezTo>
                  <a:close/>
                </a:path>
              </a:pathLst>
            </a:custGeom>
            <a:solidFill>
              <a:srgbClr val="EAFBF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88840" cy="6060440"/>
            </a:xfrm>
            <a:custGeom>
              <a:avLst/>
              <a:gdLst/>
              <a:ahLst/>
              <a:cxnLst/>
              <a:rect r="r" b="b" t="t" l="l"/>
              <a:pathLst>
                <a:path h="6060440" w="4688840">
                  <a:moveTo>
                    <a:pt x="0" y="159131"/>
                  </a:moveTo>
                  <a:cubicBezTo>
                    <a:pt x="0" y="71247"/>
                    <a:pt x="71120" y="0"/>
                    <a:pt x="159004" y="0"/>
                  </a:cubicBezTo>
                  <a:lnTo>
                    <a:pt x="4529836" y="0"/>
                  </a:lnTo>
                  <a:lnTo>
                    <a:pt x="4529836" y="12700"/>
                  </a:lnTo>
                  <a:lnTo>
                    <a:pt x="4529836" y="0"/>
                  </a:lnTo>
                  <a:cubicBezTo>
                    <a:pt x="4617720" y="0"/>
                    <a:pt x="4688840" y="71247"/>
                    <a:pt x="4688840" y="159131"/>
                  </a:cubicBezTo>
                  <a:lnTo>
                    <a:pt x="4676140" y="159131"/>
                  </a:lnTo>
                  <a:lnTo>
                    <a:pt x="4688840" y="159131"/>
                  </a:lnTo>
                  <a:lnTo>
                    <a:pt x="4688840" y="5901309"/>
                  </a:lnTo>
                  <a:lnTo>
                    <a:pt x="4676140" y="5901309"/>
                  </a:lnTo>
                  <a:lnTo>
                    <a:pt x="4688840" y="5901309"/>
                  </a:lnTo>
                  <a:cubicBezTo>
                    <a:pt x="4688840" y="5989193"/>
                    <a:pt x="4617720" y="6060440"/>
                    <a:pt x="4529836" y="6060440"/>
                  </a:cubicBezTo>
                  <a:lnTo>
                    <a:pt x="4529836" y="6047740"/>
                  </a:lnTo>
                  <a:lnTo>
                    <a:pt x="4529836" y="6060440"/>
                  </a:lnTo>
                  <a:lnTo>
                    <a:pt x="159004" y="6060440"/>
                  </a:lnTo>
                  <a:lnTo>
                    <a:pt x="159004" y="6047740"/>
                  </a:lnTo>
                  <a:lnTo>
                    <a:pt x="159004" y="6060440"/>
                  </a:lnTo>
                  <a:cubicBezTo>
                    <a:pt x="71120" y="6060440"/>
                    <a:pt x="0" y="5989193"/>
                    <a:pt x="0" y="5901309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5901309"/>
                  </a:lnTo>
                  <a:lnTo>
                    <a:pt x="12700" y="5901309"/>
                  </a:lnTo>
                  <a:lnTo>
                    <a:pt x="25400" y="5901309"/>
                  </a:lnTo>
                  <a:cubicBezTo>
                    <a:pt x="25400" y="5975223"/>
                    <a:pt x="85217" y="6035040"/>
                    <a:pt x="159004" y="6035040"/>
                  </a:cubicBezTo>
                  <a:lnTo>
                    <a:pt x="4529836" y="6035040"/>
                  </a:lnTo>
                  <a:cubicBezTo>
                    <a:pt x="4603623" y="6035040"/>
                    <a:pt x="4663440" y="5975223"/>
                    <a:pt x="4663440" y="5901309"/>
                  </a:cubicBezTo>
                  <a:lnTo>
                    <a:pt x="4663440" y="159131"/>
                  </a:lnTo>
                  <a:cubicBezTo>
                    <a:pt x="4663440" y="85217"/>
                    <a:pt x="4603623" y="25400"/>
                    <a:pt x="452983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131"/>
                  </a:cubicBezTo>
                  <a:close/>
                </a:path>
              </a:pathLst>
            </a:custGeom>
            <a:solidFill>
              <a:srgbClr val="D7E7F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859655" y="1842135"/>
            <a:ext cx="128778" cy="4545330"/>
            <a:chOff x="0" y="0"/>
            <a:chExt cx="171704" cy="6060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700" y="12700"/>
              <a:ext cx="146304" cy="6035040"/>
            </a:xfrm>
            <a:custGeom>
              <a:avLst/>
              <a:gdLst/>
              <a:ahLst/>
              <a:cxnLst/>
              <a:rect r="r" b="b" t="t" l="l"/>
              <a:pathLst>
                <a:path h="6035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035040"/>
                  </a:lnTo>
                  <a:lnTo>
                    <a:pt x="0" y="603504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1704" cy="6060440"/>
            </a:xfrm>
            <a:custGeom>
              <a:avLst/>
              <a:gdLst/>
              <a:ahLst/>
              <a:cxnLst/>
              <a:rect r="r" b="b" t="t" l="l"/>
              <a:pathLst>
                <a:path h="606044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6047740"/>
                  </a:lnTo>
                  <a:cubicBezTo>
                    <a:pt x="171704" y="6054725"/>
                    <a:pt x="165989" y="6060440"/>
                    <a:pt x="159004" y="6060440"/>
                  </a:cubicBezTo>
                  <a:lnTo>
                    <a:pt x="12700" y="6060440"/>
                  </a:lnTo>
                  <a:cubicBezTo>
                    <a:pt x="5715" y="6060440"/>
                    <a:pt x="0" y="6054725"/>
                    <a:pt x="0" y="6047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047740"/>
                  </a:lnTo>
                  <a:lnTo>
                    <a:pt x="12700" y="6047740"/>
                  </a:lnTo>
                  <a:lnTo>
                    <a:pt x="12700" y="6035040"/>
                  </a:lnTo>
                  <a:lnTo>
                    <a:pt x="159004" y="6035040"/>
                  </a:lnTo>
                  <a:lnTo>
                    <a:pt x="159004" y="6047740"/>
                  </a:lnTo>
                  <a:lnTo>
                    <a:pt x="146304" y="604774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235321" y="1989978"/>
            <a:ext cx="2880360" cy="464027"/>
            <a:chOff x="0" y="0"/>
            <a:chExt cx="3840480" cy="6187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40480" cy="618703"/>
            </a:xfrm>
            <a:custGeom>
              <a:avLst/>
              <a:gdLst/>
              <a:ahLst/>
              <a:cxnLst/>
              <a:rect r="r" b="b" t="t" l="l"/>
              <a:pathLst>
                <a:path h="618703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618703"/>
                  </a:lnTo>
                  <a:lnTo>
                    <a:pt x="0" y="618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23" r="0" b="-5937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3840480" cy="609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KNN Imputer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170932" y="2569565"/>
            <a:ext cx="3009138" cy="3663386"/>
            <a:chOff x="0" y="0"/>
            <a:chExt cx="4012184" cy="488451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12184" cy="4884514"/>
            </a:xfrm>
            <a:custGeom>
              <a:avLst/>
              <a:gdLst/>
              <a:ahLst/>
              <a:cxnLst/>
              <a:rect r="r" b="b" t="t" l="l"/>
              <a:pathLst>
                <a:path h="4884514" w="4012184">
                  <a:moveTo>
                    <a:pt x="0" y="0"/>
                  </a:moveTo>
                  <a:lnTo>
                    <a:pt x="4012184" y="0"/>
                  </a:lnTo>
                  <a:lnTo>
                    <a:pt x="4012184" y="4884514"/>
                  </a:lnTo>
                  <a:lnTo>
                    <a:pt x="0" y="4884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30" t="0" r="-25671" b="4945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012184" cy="4894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7029" indent="-183514" lvl="1">
                <a:lnSpc>
                  <a:spcPts val="2039"/>
                </a:lnSpc>
                <a:buFont typeface="Arial"/>
                <a:buChar char="•"/>
              </a:pPr>
              <a:r>
                <a:rPr lang="en-US" b="true" sz="16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Mengisi data yang kosong berdasarkan data lain yang paling mirip.</a:t>
              </a:r>
            </a:p>
            <a:p>
              <a:pPr algn="l" marL="367029" indent="-183514" lvl="1">
                <a:lnSpc>
                  <a:spcPts val="2039"/>
                </a:lnSpc>
                <a:buFont typeface="Arial"/>
                <a:buChar char="•"/>
              </a:pPr>
              <a:r>
                <a:rPr lang="en-US" b="true" sz="16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Pada penelitian ini digunakan k = 5, artinya sistem melihat 5 data terdekat untuk menentukan nilai pengganti.</a:t>
              </a:r>
            </a:p>
            <a:p>
              <a:pPr algn="l" marL="367029" indent="-183514" lvl="1">
                <a:lnSpc>
                  <a:spcPts val="2039"/>
                </a:lnSpc>
                <a:buFont typeface="Arial"/>
                <a:buChar char="•"/>
              </a:pPr>
              <a:r>
                <a:rPr lang="en-US" b="true" sz="16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Kekurangannya, hasilnya bisa kurang baik jika data memiliki noise, outlier, atau skala fitur yang berbeda jauh.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837295" y="1842135"/>
            <a:ext cx="3516630" cy="4545330"/>
            <a:chOff x="0" y="0"/>
            <a:chExt cx="4688840" cy="6060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2700" y="12700"/>
              <a:ext cx="4663440" cy="6035040"/>
            </a:xfrm>
            <a:custGeom>
              <a:avLst/>
              <a:gdLst/>
              <a:ahLst/>
              <a:cxnLst/>
              <a:rect r="r" b="b" t="t" l="l"/>
              <a:pathLst>
                <a:path h="6035040" w="4663440">
                  <a:moveTo>
                    <a:pt x="0" y="146431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517136" y="0"/>
                  </a:lnTo>
                  <a:cubicBezTo>
                    <a:pt x="4597908" y="0"/>
                    <a:pt x="4663440" y="65532"/>
                    <a:pt x="4663440" y="146431"/>
                  </a:cubicBezTo>
                  <a:lnTo>
                    <a:pt x="4663440" y="5888609"/>
                  </a:lnTo>
                  <a:cubicBezTo>
                    <a:pt x="4663440" y="5969508"/>
                    <a:pt x="4597908" y="6035040"/>
                    <a:pt x="4517136" y="6035040"/>
                  </a:cubicBezTo>
                  <a:lnTo>
                    <a:pt x="146304" y="6035040"/>
                  </a:lnTo>
                  <a:cubicBezTo>
                    <a:pt x="65532" y="6035040"/>
                    <a:pt x="0" y="5969508"/>
                    <a:pt x="0" y="5888609"/>
                  </a:cubicBezTo>
                  <a:close/>
                </a:path>
              </a:pathLst>
            </a:custGeom>
            <a:solidFill>
              <a:srgbClr val="FFF7E6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88840" cy="6060440"/>
            </a:xfrm>
            <a:custGeom>
              <a:avLst/>
              <a:gdLst/>
              <a:ahLst/>
              <a:cxnLst/>
              <a:rect r="r" b="b" t="t" l="l"/>
              <a:pathLst>
                <a:path h="6060440" w="4688840">
                  <a:moveTo>
                    <a:pt x="0" y="159131"/>
                  </a:moveTo>
                  <a:cubicBezTo>
                    <a:pt x="0" y="71247"/>
                    <a:pt x="71120" y="0"/>
                    <a:pt x="159004" y="0"/>
                  </a:cubicBezTo>
                  <a:lnTo>
                    <a:pt x="4529836" y="0"/>
                  </a:lnTo>
                  <a:lnTo>
                    <a:pt x="4529836" y="12700"/>
                  </a:lnTo>
                  <a:lnTo>
                    <a:pt x="4529836" y="0"/>
                  </a:lnTo>
                  <a:cubicBezTo>
                    <a:pt x="4617720" y="0"/>
                    <a:pt x="4688840" y="71247"/>
                    <a:pt x="4688840" y="159131"/>
                  </a:cubicBezTo>
                  <a:lnTo>
                    <a:pt x="4676140" y="159131"/>
                  </a:lnTo>
                  <a:lnTo>
                    <a:pt x="4688840" y="159131"/>
                  </a:lnTo>
                  <a:lnTo>
                    <a:pt x="4688840" y="5901309"/>
                  </a:lnTo>
                  <a:lnTo>
                    <a:pt x="4676140" y="5901309"/>
                  </a:lnTo>
                  <a:lnTo>
                    <a:pt x="4688840" y="5901309"/>
                  </a:lnTo>
                  <a:cubicBezTo>
                    <a:pt x="4688840" y="5989193"/>
                    <a:pt x="4617720" y="6060440"/>
                    <a:pt x="4529836" y="6060440"/>
                  </a:cubicBezTo>
                  <a:lnTo>
                    <a:pt x="4529836" y="6047740"/>
                  </a:lnTo>
                  <a:lnTo>
                    <a:pt x="4529836" y="6060440"/>
                  </a:lnTo>
                  <a:lnTo>
                    <a:pt x="159004" y="6060440"/>
                  </a:lnTo>
                  <a:lnTo>
                    <a:pt x="159004" y="6047740"/>
                  </a:lnTo>
                  <a:lnTo>
                    <a:pt x="159004" y="6060440"/>
                  </a:lnTo>
                  <a:cubicBezTo>
                    <a:pt x="71120" y="6060440"/>
                    <a:pt x="0" y="5989193"/>
                    <a:pt x="0" y="5901309"/>
                  </a:cubicBezTo>
                  <a:lnTo>
                    <a:pt x="0" y="159131"/>
                  </a:lnTo>
                  <a:lnTo>
                    <a:pt x="12700" y="159131"/>
                  </a:lnTo>
                  <a:lnTo>
                    <a:pt x="0" y="159131"/>
                  </a:lnTo>
                  <a:moveTo>
                    <a:pt x="25400" y="159131"/>
                  </a:moveTo>
                  <a:lnTo>
                    <a:pt x="25400" y="5901309"/>
                  </a:lnTo>
                  <a:lnTo>
                    <a:pt x="12700" y="5901309"/>
                  </a:lnTo>
                  <a:lnTo>
                    <a:pt x="25400" y="5901309"/>
                  </a:lnTo>
                  <a:cubicBezTo>
                    <a:pt x="25400" y="5975223"/>
                    <a:pt x="85217" y="6035040"/>
                    <a:pt x="159004" y="6035040"/>
                  </a:cubicBezTo>
                  <a:lnTo>
                    <a:pt x="4529836" y="6035040"/>
                  </a:lnTo>
                  <a:cubicBezTo>
                    <a:pt x="4603623" y="6035040"/>
                    <a:pt x="4663440" y="5975223"/>
                    <a:pt x="4663440" y="5901309"/>
                  </a:cubicBezTo>
                  <a:lnTo>
                    <a:pt x="4663440" y="159131"/>
                  </a:lnTo>
                  <a:cubicBezTo>
                    <a:pt x="4663440" y="85217"/>
                    <a:pt x="4603623" y="25400"/>
                    <a:pt x="452983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131"/>
                  </a:cubicBezTo>
                  <a:close/>
                </a:path>
              </a:pathLst>
            </a:custGeom>
            <a:solidFill>
              <a:srgbClr val="D7E7F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837295" y="1842135"/>
            <a:ext cx="128778" cy="4545330"/>
            <a:chOff x="0" y="0"/>
            <a:chExt cx="171704" cy="6060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2700" y="12700"/>
              <a:ext cx="146304" cy="6035040"/>
            </a:xfrm>
            <a:custGeom>
              <a:avLst/>
              <a:gdLst/>
              <a:ahLst/>
              <a:cxnLst/>
              <a:rect r="r" b="b" t="t" l="l"/>
              <a:pathLst>
                <a:path h="6035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035040"/>
                  </a:lnTo>
                  <a:lnTo>
                    <a:pt x="0" y="60350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71704" cy="6060440"/>
            </a:xfrm>
            <a:custGeom>
              <a:avLst/>
              <a:gdLst/>
              <a:ahLst/>
              <a:cxnLst/>
              <a:rect r="r" b="b" t="t" l="l"/>
              <a:pathLst>
                <a:path h="606044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6047740"/>
                  </a:lnTo>
                  <a:cubicBezTo>
                    <a:pt x="171704" y="6054725"/>
                    <a:pt x="165989" y="6060440"/>
                    <a:pt x="159004" y="6060440"/>
                  </a:cubicBezTo>
                  <a:lnTo>
                    <a:pt x="12700" y="6060440"/>
                  </a:lnTo>
                  <a:cubicBezTo>
                    <a:pt x="5715" y="6060440"/>
                    <a:pt x="0" y="6054725"/>
                    <a:pt x="0" y="6047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047740"/>
                  </a:lnTo>
                  <a:lnTo>
                    <a:pt x="12700" y="6047740"/>
                  </a:lnTo>
                  <a:lnTo>
                    <a:pt x="12700" y="6035040"/>
                  </a:lnTo>
                  <a:lnTo>
                    <a:pt x="159004" y="6035040"/>
                  </a:lnTo>
                  <a:lnTo>
                    <a:pt x="159004" y="6047740"/>
                  </a:lnTo>
                  <a:lnTo>
                    <a:pt x="146304" y="604774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210623" y="1989978"/>
            <a:ext cx="2880360" cy="464027"/>
            <a:chOff x="0" y="0"/>
            <a:chExt cx="3840480" cy="61870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40480" cy="618703"/>
            </a:xfrm>
            <a:custGeom>
              <a:avLst/>
              <a:gdLst/>
              <a:ahLst/>
              <a:cxnLst/>
              <a:rect r="r" b="b" t="t" l="l"/>
              <a:pathLst>
                <a:path h="618703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618703"/>
                  </a:lnTo>
                  <a:lnTo>
                    <a:pt x="0" y="618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23" r="0" b="-5937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3840480" cy="609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MICE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8572" y="2562625"/>
            <a:ext cx="3004463" cy="3533738"/>
            <a:chOff x="0" y="0"/>
            <a:chExt cx="4005950" cy="47116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05950" cy="4711650"/>
            </a:xfrm>
            <a:custGeom>
              <a:avLst/>
              <a:gdLst/>
              <a:ahLst/>
              <a:cxnLst/>
              <a:rect r="r" b="b" t="t" l="l"/>
              <a:pathLst>
                <a:path h="4711650" w="4005950">
                  <a:moveTo>
                    <a:pt x="0" y="0"/>
                  </a:moveTo>
                  <a:lnTo>
                    <a:pt x="4005950" y="0"/>
                  </a:lnTo>
                  <a:lnTo>
                    <a:pt x="4005950" y="4711650"/>
                  </a:lnTo>
                  <a:lnTo>
                    <a:pt x="0" y="471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280" t="0" r="-25867" b="476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005950" cy="471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Mengisi data yang kosong secara bertahap dan berulang.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Nilai yang hilang diperkirakan berdasarkan hubungan dengan fitur-fitur lain.</a:t>
              </a:r>
            </a:p>
            <a:p>
              <a:pPr algn="l" marL="388620" indent="-194310" lvl="1">
                <a:lnSpc>
                  <a:spcPts val="2160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Metode ini lebih kompleks, tetapi belum tentu selalu memberikan hasil terbaik jika pola datanya kurang jelas atau banyak noise.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814935" y="1842135"/>
            <a:ext cx="4613910" cy="4545330"/>
            <a:chOff x="0" y="0"/>
            <a:chExt cx="6151880" cy="6060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2700" y="12700"/>
              <a:ext cx="6126480" cy="6035040"/>
            </a:xfrm>
            <a:custGeom>
              <a:avLst/>
              <a:gdLst/>
              <a:ahLst/>
              <a:cxnLst/>
              <a:rect r="r" b="b" t="t" l="l"/>
              <a:pathLst>
                <a:path h="6035040" w="6126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980176" y="0"/>
                  </a:lnTo>
                  <a:cubicBezTo>
                    <a:pt x="6060948" y="0"/>
                    <a:pt x="6126480" y="65532"/>
                    <a:pt x="6126480" y="146304"/>
                  </a:cubicBezTo>
                  <a:lnTo>
                    <a:pt x="6126480" y="5888736"/>
                  </a:lnTo>
                  <a:cubicBezTo>
                    <a:pt x="6126480" y="5969508"/>
                    <a:pt x="6060948" y="6035040"/>
                    <a:pt x="5980176" y="6035040"/>
                  </a:cubicBezTo>
                  <a:lnTo>
                    <a:pt x="146304" y="6035040"/>
                  </a:lnTo>
                  <a:cubicBezTo>
                    <a:pt x="65532" y="6035040"/>
                    <a:pt x="0" y="5969508"/>
                    <a:pt x="0" y="5888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151880" cy="6060440"/>
            </a:xfrm>
            <a:custGeom>
              <a:avLst/>
              <a:gdLst/>
              <a:ahLst/>
              <a:cxnLst/>
              <a:rect r="r" b="b" t="t" l="l"/>
              <a:pathLst>
                <a:path h="6060440" w="6151880">
                  <a:moveTo>
                    <a:pt x="0" y="159004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92876" y="0"/>
                  </a:lnTo>
                  <a:lnTo>
                    <a:pt x="5992876" y="12700"/>
                  </a:lnTo>
                  <a:lnTo>
                    <a:pt x="5992876" y="0"/>
                  </a:lnTo>
                  <a:cubicBezTo>
                    <a:pt x="6080633" y="0"/>
                    <a:pt x="6151880" y="71120"/>
                    <a:pt x="6151880" y="159004"/>
                  </a:cubicBezTo>
                  <a:lnTo>
                    <a:pt x="6139180" y="159004"/>
                  </a:lnTo>
                  <a:lnTo>
                    <a:pt x="6151880" y="159004"/>
                  </a:lnTo>
                  <a:lnTo>
                    <a:pt x="6151880" y="5901436"/>
                  </a:lnTo>
                  <a:lnTo>
                    <a:pt x="6139180" y="5901436"/>
                  </a:lnTo>
                  <a:lnTo>
                    <a:pt x="6151880" y="5901436"/>
                  </a:lnTo>
                  <a:cubicBezTo>
                    <a:pt x="6151880" y="5989193"/>
                    <a:pt x="6080633" y="6060440"/>
                    <a:pt x="5992876" y="6060440"/>
                  </a:cubicBezTo>
                  <a:lnTo>
                    <a:pt x="5992876" y="6047740"/>
                  </a:lnTo>
                  <a:lnTo>
                    <a:pt x="5992876" y="6060440"/>
                  </a:lnTo>
                  <a:lnTo>
                    <a:pt x="159004" y="6060440"/>
                  </a:lnTo>
                  <a:lnTo>
                    <a:pt x="159004" y="6047740"/>
                  </a:lnTo>
                  <a:lnTo>
                    <a:pt x="159004" y="6060440"/>
                  </a:lnTo>
                  <a:cubicBezTo>
                    <a:pt x="71247" y="6060440"/>
                    <a:pt x="0" y="5989320"/>
                    <a:pt x="0" y="590143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5901436"/>
                  </a:lnTo>
                  <a:lnTo>
                    <a:pt x="12700" y="5901436"/>
                  </a:lnTo>
                  <a:lnTo>
                    <a:pt x="25400" y="5901436"/>
                  </a:lnTo>
                  <a:cubicBezTo>
                    <a:pt x="25400" y="5975223"/>
                    <a:pt x="85217" y="6035040"/>
                    <a:pt x="159004" y="6035040"/>
                  </a:cubicBezTo>
                  <a:lnTo>
                    <a:pt x="5992876" y="6035040"/>
                  </a:lnTo>
                  <a:cubicBezTo>
                    <a:pt x="6066663" y="6035040"/>
                    <a:pt x="6126480" y="5975223"/>
                    <a:pt x="6126480" y="5901436"/>
                  </a:cubicBezTo>
                  <a:lnTo>
                    <a:pt x="6126480" y="159004"/>
                  </a:lnTo>
                  <a:cubicBezTo>
                    <a:pt x="6126480" y="85217"/>
                    <a:pt x="6066663" y="25400"/>
                    <a:pt x="599287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814935" y="1842135"/>
            <a:ext cx="128778" cy="4545330"/>
            <a:chOff x="0" y="0"/>
            <a:chExt cx="171704" cy="6060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2700" y="12700"/>
              <a:ext cx="146304" cy="6035040"/>
            </a:xfrm>
            <a:custGeom>
              <a:avLst/>
              <a:gdLst/>
              <a:ahLst/>
              <a:cxnLst/>
              <a:rect r="r" b="b" t="t" l="l"/>
              <a:pathLst>
                <a:path h="6035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035040"/>
                  </a:lnTo>
                  <a:lnTo>
                    <a:pt x="0" y="60350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1704" cy="6060440"/>
            </a:xfrm>
            <a:custGeom>
              <a:avLst/>
              <a:gdLst/>
              <a:ahLst/>
              <a:cxnLst/>
              <a:rect r="r" b="b" t="t" l="l"/>
              <a:pathLst>
                <a:path h="606044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6047740"/>
                  </a:lnTo>
                  <a:cubicBezTo>
                    <a:pt x="171704" y="6054725"/>
                    <a:pt x="165989" y="6060440"/>
                    <a:pt x="159004" y="6060440"/>
                  </a:cubicBezTo>
                  <a:lnTo>
                    <a:pt x="12700" y="6060440"/>
                  </a:lnTo>
                  <a:cubicBezTo>
                    <a:pt x="5715" y="6060440"/>
                    <a:pt x="0" y="6054725"/>
                    <a:pt x="0" y="6047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047740"/>
                  </a:lnTo>
                  <a:lnTo>
                    <a:pt x="12700" y="6047740"/>
                  </a:lnTo>
                  <a:lnTo>
                    <a:pt x="12700" y="6035040"/>
                  </a:lnTo>
                  <a:lnTo>
                    <a:pt x="159004" y="6035040"/>
                  </a:lnTo>
                  <a:lnTo>
                    <a:pt x="159004" y="6047740"/>
                  </a:lnTo>
                  <a:lnTo>
                    <a:pt x="146304" y="604774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943713" y="1989978"/>
            <a:ext cx="4800600" cy="464027"/>
            <a:chOff x="0" y="0"/>
            <a:chExt cx="6400800" cy="61870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400800" cy="618703"/>
            </a:xfrm>
            <a:custGeom>
              <a:avLst/>
              <a:gdLst/>
              <a:ahLst/>
              <a:cxnLst/>
              <a:rect r="r" b="b" t="t" l="l"/>
              <a:pathLst>
                <a:path h="618703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18703"/>
                  </a:lnTo>
                  <a:lnTo>
                    <a:pt x="0" y="618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068" r="0" b="-13409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9525"/>
              <a:ext cx="6400800" cy="609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SKEMA EVALUASI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397865" y="2569565"/>
            <a:ext cx="3634740" cy="3663386"/>
            <a:chOff x="0" y="0"/>
            <a:chExt cx="4846320" cy="488451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46320" cy="4884514"/>
            </a:xfrm>
            <a:custGeom>
              <a:avLst/>
              <a:gdLst/>
              <a:ahLst/>
              <a:cxnLst/>
              <a:rect r="r" b="b" t="t" l="l"/>
              <a:pathLst>
                <a:path h="488451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884514"/>
                  </a:lnTo>
                  <a:lnTo>
                    <a:pt x="0" y="4884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466" t="0" r="-27466" b="4009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4846320" cy="48940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 yang digunakan adalah Random Forest Classifier.</a:t>
              </a:r>
            </a:p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dibagi menjadi 80% data training dan 20% data testing.</a:t>
              </a:r>
            </a:p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Evaluasi dilakukan menggunakan Accuracy, Recall, F1-Score, ROC-AUC, dan Confusion Matrix.</a:t>
              </a:r>
            </a:p>
            <a:p>
              <a:pPr algn="l" marL="367031" indent="-183515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Recall dan F1-Score diperhatikan karena penelitian ini menggunakan data medis, sehingga kesalahan dalam mendeteksi pasien diabetes perlu diminimalkan.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62075" y="7095363"/>
            <a:ext cx="15312390" cy="1530769"/>
            <a:chOff x="0" y="0"/>
            <a:chExt cx="20416520" cy="204102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2700" y="15509"/>
              <a:ext cx="20391121" cy="2010007"/>
            </a:xfrm>
            <a:custGeom>
              <a:avLst/>
              <a:gdLst/>
              <a:ahLst/>
              <a:cxnLst/>
              <a:rect r="r" b="b" t="t" l="l"/>
              <a:pathLst>
                <a:path h="2010007" w="20391121">
                  <a:moveTo>
                    <a:pt x="0" y="178668"/>
                  </a:moveTo>
                  <a:cubicBezTo>
                    <a:pt x="0" y="80028"/>
                    <a:pt x="66421" y="0"/>
                    <a:pt x="148336" y="0"/>
                  </a:cubicBezTo>
                  <a:lnTo>
                    <a:pt x="20242785" y="0"/>
                  </a:lnTo>
                  <a:cubicBezTo>
                    <a:pt x="20324699" y="0"/>
                    <a:pt x="20391121" y="80028"/>
                    <a:pt x="20391121" y="178668"/>
                  </a:cubicBezTo>
                  <a:lnTo>
                    <a:pt x="20391121" y="1831340"/>
                  </a:lnTo>
                  <a:cubicBezTo>
                    <a:pt x="20391121" y="1929979"/>
                    <a:pt x="20324699" y="2010007"/>
                    <a:pt x="20242785" y="2010007"/>
                  </a:cubicBezTo>
                  <a:lnTo>
                    <a:pt x="148336" y="2010007"/>
                  </a:lnTo>
                  <a:cubicBezTo>
                    <a:pt x="66421" y="2010007"/>
                    <a:pt x="0" y="1929979"/>
                    <a:pt x="0" y="1831340"/>
                  </a:cubicBezTo>
                  <a:close/>
                </a:path>
              </a:pathLst>
            </a:custGeom>
            <a:solidFill>
              <a:srgbClr val="EEF7FF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416521" cy="2041025"/>
            </a:xfrm>
            <a:custGeom>
              <a:avLst/>
              <a:gdLst/>
              <a:ahLst/>
              <a:cxnLst/>
              <a:rect r="r" b="b" t="t" l="l"/>
              <a:pathLst>
                <a:path h="2041025" w="20416521">
                  <a:moveTo>
                    <a:pt x="0" y="194177"/>
                  </a:moveTo>
                  <a:cubicBezTo>
                    <a:pt x="0" y="86697"/>
                    <a:pt x="72263" y="0"/>
                    <a:pt x="161036" y="0"/>
                  </a:cubicBezTo>
                  <a:lnTo>
                    <a:pt x="20255485" y="0"/>
                  </a:lnTo>
                  <a:lnTo>
                    <a:pt x="20255485" y="15509"/>
                  </a:lnTo>
                  <a:lnTo>
                    <a:pt x="20255485" y="0"/>
                  </a:lnTo>
                  <a:cubicBezTo>
                    <a:pt x="20344257" y="0"/>
                    <a:pt x="20416521" y="86697"/>
                    <a:pt x="20416521" y="194177"/>
                  </a:cubicBezTo>
                  <a:lnTo>
                    <a:pt x="20403821" y="194177"/>
                  </a:lnTo>
                  <a:lnTo>
                    <a:pt x="20416521" y="194177"/>
                  </a:lnTo>
                  <a:lnTo>
                    <a:pt x="20416521" y="1846849"/>
                  </a:lnTo>
                  <a:lnTo>
                    <a:pt x="20403821" y="1846849"/>
                  </a:lnTo>
                  <a:lnTo>
                    <a:pt x="20416521" y="1846849"/>
                  </a:lnTo>
                  <a:cubicBezTo>
                    <a:pt x="20416521" y="1954328"/>
                    <a:pt x="20344257" y="2041025"/>
                    <a:pt x="20255485" y="2041025"/>
                  </a:cubicBezTo>
                  <a:lnTo>
                    <a:pt x="20255485" y="2025516"/>
                  </a:lnTo>
                  <a:lnTo>
                    <a:pt x="20255485" y="2041025"/>
                  </a:lnTo>
                  <a:lnTo>
                    <a:pt x="161036" y="2041025"/>
                  </a:lnTo>
                  <a:lnTo>
                    <a:pt x="161036" y="2025516"/>
                  </a:lnTo>
                  <a:lnTo>
                    <a:pt x="161036" y="2041025"/>
                  </a:lnTo>
                  <a:cubicBezTo>
                    <a:pt x="72263" y="2041025"/>
                    <a:pt x="0" y="1954328"/>
                    <a:pt x="0" y="1846849"/>
                  </a:cubicBezTo>
                  <a:lnTo>
                    <a:pt x="0" y="194177"/>
                  </a:lnTo>
                  <a:lnTo>
                    <a:pt x="12700" y="194177"/>
                  </a:lnTo>
                  <a:lnTo>
                    <a:pt x="0" y="194177"/>
                  </a:lnTo>
                  <a:moveTo>
                    <a:pt x="25400" y="194177"/>
                  </a:moveTo>
                  <a:lnTo>
                    <a:pt x="25400" y="1846849"/>
                  </a:lnTo>
                  <a:lnTo>
                    <a:pt x="12700" y="1846849"/>
                  </a:lnTo>
                  <a:lnTo>
                    <a:pt x="25400" y="1846849"/>
                  </a:lnTo>
                  <a:cubicBezTo>
                    <a:pt x="25400" y="1936803"/>
                    <a:pt x="85979" y="2010007"/>
                    <a:pt x="161036" y="2010007"/>
                  </a:cubicBezTo>
                  <a:lnTo>
                    <a:pt x="20255485" y="2010007"/>
                  </a:lnTo>
                  <a:cubicBezTo>
                    <a:pt x="20330542" y="2010007"/>
                    <a:pt x="20391121" y="1936803"/>
                    <a:pt x="20391121" y="1846849"/>
                  </a:cubicBezTo>
                  <a:lnTo>
                    <a:pt x="20391121" y="194177"/>
                  </a:lnTo>
                  <a:cubicBezTo>
                    <a:pt x="20391121" y="104223"/>
                    <a:pt x="20330542" y="31019"/>
                    <a:pt x="20255485" y="31019"/>
                  </a:cubicBezTo>
                  <a:lnTo>
                    <a:pt x="161036" y="31019"/>
                  </a:lnTo>
                  <a:lnTo>
                    <a:pt x="161036" y="15509"/>
                  </a:lnTo>
                  <a:lnTo>
                    <a:pt x="161036" y="31019"/>
                  </a:lnTo>
                  <a:cubicBezTo>
                    <a:pt x="85979" y="31019"/>
                    <a:pt x="25400" y="104223"/>
                    <a:pt x="25400" y="194177"/>
                  </a:cubicBezTo>
                  <a:close/>
                </a:path>
              </a:pathLst>
            </a:custGeom>
            <a:solidFill>
              <a:srgbClr val="BFE7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714500" y="7368540"/>
            <a:ext cx="14607540" cy="883150"/>
            <a:chOff x="0" y="0"/>
            <a:chExt cx="19476720" cy="117753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476720" cy="1177534"/>
            </a:xfrm>
            <a:custGeom>
              <a:avLst/>
              <a:gdLst/>
              <a:ahLst/>
              <a:cxnLst/>
              <a:rect r="r" b="b" t="t" l="l"/>
              <a:pathLst>
                <a:path h="1177534" w="19476720">
                  <a:moveTo>
                    <a:pt x="0" y="0"/>
                  </a:moveTo>
                  <a:lnTo>
                    <a:pt x="19476720" y="0"/>
                  </a:lnTo>
                  <a:lnTo>
                    <a:pt x="19476720" y="1177534"/>
                  </a:lnTo>
                  <a:lnTo>
                    <a:pt x="0" y="1177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544" r="0" b="-24403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9476720" cy="1177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Baseline Drop NA digunakan sebagai pembanding untuk melihat apakah menghapus baris missing value lebih baik atau justru merugikan karena banyak informasi hilang.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7213580" y="9710928"/>
            <a:ext cx="411480" cy="342900"/>
            <a:chOff x="0" y="0"/>
            <a:chExt cx="548640" cy="457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864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5486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73430" y="9710928"/>
            <a:ext cx="10972800" cy="315468"/>
            <a:chOff x="0" y="0"/>
            <a:chExt cx="14630400" cy="42062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463040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10" r="0" b="-61687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1463040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Penambangan Data IF-32025 • Kelompok 05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B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13728700"/>
                  </a:lnTo>
                  <a:cubicBezTo>
                    <a:pt x="24408764" y="13735686"/>
                    <a:pt x="24403050" y="13741400"/>
                    <a:pt x="24396064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064" y="13716000"/>
                  </a:lnTo>
                  <a:lnTo>
                    <a:pt x="24396064" y="13728700"/>
                  </a:lnTo>
                  <a:lnTo>
                    <a:pt x="24383364" y="13728700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7FB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-9525"/>
            <a:ext cx="18306593" cy="211074"/>
            <a:chOff x="0" y="0"/>
            <a:chExt cx="24408790" cy="281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3364" cy="256032"/>
            </a:xfrm>
            <a:custGeom>
              <a:avLst/>
              <a:gdLst/>
              <a:ahLst/>
              <a:cxnLst/>
              <a:rect r="r" b="b" t="t" l="l"/>
              <a:pathLst>
                <a:path h="25603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8764" cy="281432"/>
            </a:xfrm>
            <a:custGeom>
              <a:avLst/>
              <a:gdLst/>
              <a:ahLst/>
              <a:cxnLst/>
              <a:rect r="r" b="b" t="t" l="l"/>
              <a:pathLst>
                <a:path h="281432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268732"/>
                  </a:lnTo>
                  <a:cubicBezTo>
                    <a:pt x="24408764" y="275717"/>
                    <a:pt x="24403050" y="281432"/>
                    <a:pt x="24396064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24396064" y="256032"/>
                  </a:lnTo>
                  <a:lnTo>
                    <a:pt x="24396064" y="268732"/>
                  </a:lnTo>
                  <a:lnTo>
                    <a:pt x="24383364" y="268732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15235" y="-1518285"/>
            <a:ext cx="4682490" cy="4682490"/>
            <a:chOff x="0" y="0"/>
            <a:chExt cx="6243320" cy="624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  <a:lnTo>
                    <a:pt x="0" y="3108960"/>
                  </a:lnTo>
                  <a:close/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08960" y="0"/>
              <a:ext cx="3134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13436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736725" y="0"/>
                    <a:pt x="3134360" y="1397635"/>
                    <a:pt x="3134360" y="3121660"/>
                  </a:cubicBezTo>
                  <a:cubicBezTo>
                    <a:pt x="3134360" y="3128645"/>
                    <a:pt x="3128645" y="3134360"/>
                    <a:pt x="312166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3121660" y="3108960"/>
                  </a:lnTo>
                  <a:lnTo>
                    <a:pt x="3121660" y="3121660"/>
                  </a:lnTo>
                  <a:lnTo>
                    <a:pt x="3108960" y="3121660"/>
                  </a:lnTo>
                  <a:cubicBezTo>
                    <a:pt x="3108960" y="1411605"/>
                    <a:pt x="1722755" y="25400"/>
                    <a:pt x="1270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21660" y="0"/>
              <a:ext cx="3121660" cy="3121660"/>
            </a:xfrm>
            <a:custGeom>
              <a:avLst/>
              <a:gdLst/>
              <a:ahLst/>
              <a:cxnLst/>
              <a:rect r="r" b="b" t="t" l="l"/>
              <a:pathLst>
                <a:path h="3121660" w="312166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724025" y="0"/>
                    <a:pt x="3121660" y="1397635"/>
                    <a:pt x="3121660" y="3121660"/>
                  </a:cubicBezTo>
                  <a:lnTo>
                    <a:pt x="3096260" y="3121660"/>
                  </a:lnTo>
                  <a:cubicBezTo>
                    <a:pt x="3096260" y="1411605"/>
                    <a:pt x="1710055" y="25400"/>
                    <a:pt x="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655445" y="7945755"/>
            <a:ext cx="4408170" cy="4408170"/>
            <a:chOff x="0" y="0"/>
            <a:chExt cx="5877560" cy="5877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" y="576072"/>
            <a:ext cx="16459200" cy="576072"/>
            <a:chOff x="0" y="0"/>
            <a:chExt cx="2194560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9456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Hasil Utama: Perbandingan Performa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8096" y="1179576"/>
            <a:ext cx="15773400" cy="384048"/>
            <a:chOff x="0" y="0"/>
            <a:chExt cx="2103120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31200" cy="512064"/>
            </a:xfrm>
            <a:custGeom>
              <a:avLst/>
              <a:gdLst/>
              <a:ahLst/>
              <a:cxnLst/>
              <a:rect r="r" b="b" t="t" l="l"/>
              <a:pathLst>
                <a:path h="51206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278" r="0" b="-7502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031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Mean Imputation menjadi metode terbaik pada eksperimen ini.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2015" y="1773555"/>
            <a:ext cx="8385810" cy="6808470"/>
            <a:chOff x="0" y="0"/>
            <a:chExt cx="11181080" cy="9077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1155680" cy="9052561"/>
            </a:xfrm>
            <a:custGeom>
              <a:avLst/>
              <a:gdLst/>
              <a:ahLst/>
              <a:cxnLst/>
              <a:rect r="r" b="b" t="t" l="l"/>
              <a:pathLst>
                <a:path h="9052561" w="11155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009376" y="0"/>
                  </a:lnTo>
                  <a:cubicBezTo>
                    <a:pt x="11090275" y="0"/>
                    <a:pt x="11155680" y="65532"/>
                    <a:pt x="11155680" y="146304"/>
                  </a:cubicBezTo>
                  <a:lnTo>
                    <a:pt x="11155680" y="8906256"/>
                  </a:lnTo>
                  <a:cubicBezTo>
                    <a:pt x="11155680" y="8987028"/>
                    <a:pt x="11090148" y="9052561"/>
                    <a:pt x="11009376" y="9052561"/>
                  </a:cubicBezTo>
                  <a:lnTo>
                    <a:pt x="146304" y="9052561"/>
                  </a:lnTo>
                  <a:cubicBezTo>
                    <a:pt x="65532" y="9052560"/>
                    <a:pt x="0" y="8987028"/>
                    <a:pt x="0" y="8906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181080" cy="9077961"/>
            </a:xfrm>
            <a:custGeom>
              <a:avLst/>
              <a:gdLst/>
              <a:ahLst/>
              <a:cxnLst/>
              <a:rect r="r" b="b" t="t" l="l"/>
              <a:pathLst>
                <a:path h="9077961" w="11181080">
                  <a:moveTo>
                    <a:pt x="0" y="159004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1022076" y="0"/>
                  </a:lnTo>
                  <a:lnTo>
                    <a:pt x="11022076" y="12700"/>
                  </a:lnTo>
                  <a:lnTo>
                    <a:pt x="11022076" y="0"/>
                  </a:lnTo>
                  <a:cubicBezTo>
                    <a:pt x="11109960" y="0"/>
                    <a:pt x="11181080" y="71120"/>
                    <a:pt x="11181080" y="159004"/>
                  </a:cubicBezTo>
                  <a:lnTo>
                    <a:pt x="11168380" y="159004"/>
                  </a:lnTo>
                  <a:lnTo>
                    <a:pt x="11181080" y="159004"/>
                  </a:lnTo>
                  <a:lnTo>
                    <a:pt x="11181080" y="8918956"/>
                  </a:lnTo>
                  <a:lnTo>
                    <a:pt x="11168380" y="8918956"/>
                  </a:lnTo>
                  <a:lnTo>
                    <a:pt x="11181080" y="8918956"/>
                  </a:lnTo>
                  <a:cubicBezTo>
                    <a:pt x="11181080" y="9006713"/>
                    <a:pt x="11109833" y="9077961"/>
                    <a:pt x="11022076" y="9077961"/>
                  </a:cubicBezTo>
                  <a:lnTo>
                    <a:pt x="11022076" y="9065261"/>
                  </a:lnTo>
                  <a:lnTo>
                    <a:pt x="11022076" y="9077961"/>
                  </a:lnTo>
                  <a:lnTo>
                    <a:pt x="159004" y="9077961"/>
                  </a:lnTo>
                  <a:lnTo>
                    <a:pt x="159004" y="9065261"/>
                  </a:lnTo>
                  <a:lnTo>
                    <a:pt x="159004" y="9077961"/>
                  </a:lnTo>
                  <a:cubicBezTo>
                    <a:pt x="71247" y="9077960"/>
                    <a:pt x="0" y="9006840"/>
                    <a:pt x="0" y="89189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918956"/>
                  </a:lnTo>
                  <a:lnTo>
                    <a:pt x="12700" y="8918956"/>
                  </a:lnTo>
                  <a:lnTo>
                    <a:pt x="25400" y="8918956"/>
                  </a:lnTo>
                  <a:cubicBezTo>
                    <a:pt x="25400" y="8992743"/>
                    <a:pt x="85217" y="9052561"/>
                    <a:pt x="159004" y="9052561"/>
                  </a:cubicBezTo>
                  <a:lnTo>
                    <a:pt x="11022076" y="9052561"/>
                  </a:lnTo>
                  <a:cubicBezTo>
                    <a:pt x="11095863" y="9052561"/>
                    <a:pt x="11155680" y="8992743"/>
                    <a:pt x="11155680" y="8918956"/>
                  </a:cubicBezTo>
                  <a:lnTo>
                    <a:pt x="11155680" y="159004"/>
                  </a:lnTo>
                  <a:cubicBezTo>
                    <a:pt x="11155680" y="85217"/>
                    <a:pt x="11095863" y="25400"/>
                    <a:pt x="1102207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2990926"/>
            <a:ext cx="8092440" cy="4017112"/>
            <a:chOff x="0" y="0"/>
            <a:chExt cx="10789920" cy="5356149"/>
          </a:xfrm>
        </p:grpSpPr>
        <p:sp>
          <p:nvSpPr>
            <p:cNvPr name="Freeform 28" id="28" descr="/mnt/data/dm_nb_imgs/cell37_out00_14.png"/>
            <p:cNvSpPr/>
            <p:nvPr/>
          </p:nvSpPr>
          <p:spPr>
            <a:xfrm flipH="false" flipV="false" rot="0">
              <a:off x="0" y="0"/>
              <a:ext cx="10789920" cy="5356098"/>
            </a:xfrm>
            <a:custGeom>
              <a:avLst/>
              <a:gdLst/>
              <a:ahLst/>
              <a:cxnLst/>
              <a:rect r="r" b="b" t="t" l="l"/>
              <a:pathLst>
                <a:path h="5356098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5356098"/>
                  </a:lnTo>
                  <a:lnTo>
                    <a:pt x="0" y="5356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56132" y="8147304"/>
            <a:ext cx="8037576" cy="246888"/>
            <a:chOff x="0" y="0"/>
            <a:chExt cx="10716768" cy="3291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16768" cy="329184"/>
            </a:xfrm>
            <a:custGeom>
              <a:avLst/>
              <a:gdLst/>
              <a:ahLst/>
              <a:cxnLst/>
              <a:rect r="r" b="b" t="t" l="l"/>
              <a:pathLst>
                <a:path h="329184" w="10716768">
                  <a:moveTo>
                    <a:pt x="0" y="0"/>
                  </a:moveTo>
                  <a:lnTo>
                    <a:pt x="10716768" y="0"/>
                  </a:lnTo>
                  <a:lnTo>
                    <a:pt x="1071676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4346" r="0" b="-58434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71676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Perbandingan Accuracy, Recall, dan F1-Score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60255" y="1773555"/>
            <a:ext cx="7494270" cy="6808470"/>
            <a:chOff x="0" y="0"/>
            <a:chExt cx="9992360" cy="9077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9966961" cy="9052561"/>
            </a:xfrm>
            <a:custGeom>
              <a:avLst/>
              <a:gdLst/>
              <a:ahLst/>
              <a:cxnLst/>
              <a:rect r="r" b="b" t="t" l="l"/>
              <a:pathLst>
                <a:path h="9052561" w="9966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20656" y="0"/>
                  </a:lnTo>
                  <a:cubicBezTo>
                    <a:pt x="9901428" y="0"/>
                    <a:pt x="9966961" y="65532"/>
                    <a:pt x="9966961" y="146304"/>
                  </a:cubicBezTo>
                  <a:lnTo>
                    <a:pt x="9966961" y="8906256"/>
                  </a:lnTo>
                  <a:cubicBezTo>
                    <a:pt x="9966961" y="8987028"/>
                    <a:pt x="9901428" y="9052561"/>
                    <a:pt x="9820656" y="9052561"/>
                  </a:cubicBezTo>
                  <a:lnTo>
                    <a:pt x="146304" y="9052561"/>
                  </a:lnTo>
                  <a:cubicBezTo>
                    <a:pt x="65532" y="9052560"/>
                    <a:pt x="0" y="8987028"/>
                    <a:pt x="0" y="8906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92361" cy="9077961"/>
            </a:xfrm>
            <a:custGeom>
              <a:avLst/>
              <a:gdLst/>
              <a:ahLst/>
              <a:cxnLst/>
              <a:rect r="r" b="b" t="t" l="l"/>
              <a:pathLst>
                <a:path h="9077961" w="9992361">
                  <a:moveTo>
                    <a:pt x="0" y="159004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9833356" y="0"/>
                  </a:lnTo>
                  <a:lnTo>
                    <a:pt x="9833356" y="12700"/>
                  </a:lnTo>
                  <a:lnTo>
                    <a:pt x="9833356" y="0"/>
                  </a:lnTo>
                  <a:cubicBezTo>
                    <a:pt x="9921240" y="0"/>
                    <a:pt x="9992361" y="71120"/>
                    <a:pt x="9992361" y="159004"/>
                  </a:cubicBezTo>
                  <a:lnTo>
                    <a:pt x="9979661" y="159004"/>
                  </a:lnTo>
                  <a:lnTo>
                    <a:pt x="9992361" y="159004"/>
                  </a:lnTo>
                  <a:lnTo>
                    <a:pt x="9992361" y="8918956"/>
                  </a:lnTo>
                  <a:lnTo>
                    <a:pt x="9979661" y="8918956"/>
                  </a:lnTo>
                  <a:lnTo>
                    <a:pt x="9992361" y="8918956"/>
                  </a:lnTo>
                  <a:cubicBezTo>
                    <a:pt x="9992361" y="9006713"/>
                    <a:pt x="9921113" y="9077961"/>
                    <a:pt x="9833356" y="9077961"/>
                  </a:cubicBezTo>
                  <a:lnTo>
                    <a:pt x="9833356" y="9065261"/>
                  </a:lnTo>
                  <a:lnTo>
                    <a:pt x="9833356" y="9077961"/>
                  </a:lnTo>
                  <a:lnTo>
                    <a:pt x="159004" y="9077961"/>
                  </a:lnTo>
                  <a:lnTo>
                    <a:pt x="159004" y="9065261"/>
                  </a:lnTo>
                  <a:lnTo>
                    <a:pt x="159004" y="9077961"/>
                  </a:lnTo>
                  <a:cubicBezTo>
                    <a:pt x="71247" y="9077960"/>
                    <a:pt x="0" y="9006840"/>
                    <a:pt x="0" y="89189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918956"/>
                  </a:lnTo>
                  <a:lnTo>
                    <a:pt x="12700" y="8918956"/>
                  </a:lnTo>
                  <a:lnTo>
                    <a:pt x="25400" y="8918956"/>
                  </a:lnTo>
                  <a:cubicBezTo>
                    <a:pt x="25400" y="8992743"/>
                    <a:pt x="85217" y="9052561"/>
                    <a:pt x="159004" y="9052561"/>
                  </a:cubicBezTo>
                  <a:lnTo>
                    <a:pt x="9833356" y="9052561"/>
                  </a:lnTo>
                  <a:cubicBezTo>
                    <a:pt x="9907143" y="9052561"/>
                    <a:pt x="9966961" y="8992743"/>
                    <a:pt x="9966961" y="8918956"/>
                  </a:cubicBezTo>
                  <a:lnTo>
                    <a:pt x="9966961" y="159004"/>
                  </a:lnTo>
                  <a:cubicBezTo>
                    <a:pt x="9966960" y="85217"/>
                    <a:pt x="9907143" y="25400"/>
                    <a:pt x="983335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60255" y="1773555"/>
            <a:ext cx="128778" cy="6808470"/>
            <a:chOff x="0" y="0"/>
            <a:chExt cx="171704" cy="9077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146304" cy="9052560"/>
            </a:xfrm>
            <a:custGeom>
              <a:avLst/>
              <a:gdLst/>
              <a:ahLst/>
              <a:cxnLst/>
              <a:rect r="r" b="b" t="t" l="l"/>
              <a:pathLst>
                <a:path h="9052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9052560"/>
                  </a:lnTo>
                  <a:lnTo>
                    <a:pt x="0" y="9052560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1704" cy="9077960"/>
            </a:xfrm>
            <a:custGeom>
              <a:avLst/>
              <a:gdLst/>
              <a:ahLst/>
              <a:cxnLst/>
              <a:rect r="r" b="b" t="t" l="l"/>
              <a:pathLst>
                <a:path h="90779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9065260"/>
                  </a:lnTo>
                  <a:cubicBezTo>
                    <a:pt x="171704" y="9072245"/>
                    <a:pt x="165989" y="9077960"/>
                    <a:pt x="159004" y="9077960"/>
                  </a:cubicBezTo>
                  <a:lnTo>
                    <a:pt x="12700" y="9077960"/>
                  </a:lnTo>
                  <a:cubicBezTo>
                    <a:pt x="5715" y="9077960"/>
                    <a:pt x="0" y="9072245"/>
                    <a:pt x="0" y="9065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065260"/>
                  </a:lnTo>
                  <a:lnTo>
                    <a:pt x="12700" y="9065260"/>
                  </a:lnTo>
                  <a:lnTo>
                    <a:pt x="12700" y="9052560"/>
                  </a:lnTo>
                  <a:lnTo>
                    <a:pt x="159004" y="9052560"/>
                  </a:lnTo>
                  <a:lnTo>
                    <a:pt x="159004" y="9065260"/>
                  </a:lnTo>
                  <a:lnTo>
                    <a:pt x="146304" y="90652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012680" y="2167128"/>
            <a:ext cx="4800600" cy="301752"/>
            <a:chOff x="0" y="0"/>
            <a:chExt cx="6400800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00800" cy="402336"/>
            </a:xfrm>
            <a:custGeom>
              <a:avLst/>
              <a:gdLst/>
              <a:ahLst/>
              <a:cxnLst/>
              <a:rect r="r" b="b" t="t" l="l"/>
              <a:pathLst>
                <a:path h="40233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40080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RINGKASAN NILAI MEAN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355580" y="2770632"/>
            <a:ext cx="1783080" cy="466344"/>
            <a:chOff x="0" y="0"/>
            <a:chExt cx="2377440" cy="6217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77440" cy="621792"/>
            </a:xfrm>
            <a:custGeom>
              <a:avLst/>
              <a:gdLst/>
              <a:ahLst/>
              <a:cxnLst/>
              <a:rect r="r" b="b" t="t" l="l"/>
              <a:pathLst>
                <a:path h="621792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37744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0.7857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355580" y="3291840"/>
            <a:ext cx="1783080" cy="329184"/>
            <a:chOff x="0" y="0"/>
            <a:chExt cx="2377440" cy="4389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77440" cy="438912"/>
            </a:xfrm>
            <a:custGeom>
              <a:avLst/>
              <a:gdLst/>
              <a:ahLst/>
              <a:cxnLst/>
              <a:rect r="r" b="b" t="t" l="l"/>
              <a:pathLst>
                <a:path h="438912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37744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Accuracy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344400" y="2770632"/>
            <a:ext cx="1783080" cy="466344"/>
            <a:chOff x="0" y="0"/>
            <a:chExt cx="2377440" cy="6217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377440" cy="621792"/>
            </a:xfrm>
            <a:custGeom>
              <a:avLst/>
              <a:gdLst/>
              <a:ahLst/>
              <a:cxnLst/>
              <a:rect r="r" b="b" t="t" l="l"/>
              <a:pathLst>
                <a:path h="621792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1" r="0" b="-245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237744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0.6296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44400" y="3291840"/>
            <a:ext cx="1783080" cy="329184"/>
            <a:chOff x="0" y="0"/>
            <a:chExt cx="237744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77440" cy="438912"/>
            </a:xfrm>
            <a:custGeom>
              <a:avLst/>
              <a:gdLst/>
              <a:ahLst/>
              <a:cxnLst/>
              <a:rect r="r" b="b" t="t" l="l"/>
              <a:pathLst>
                <a:path h="438912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37744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Recall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333220" y="2770632"/>
            <a:ext cx="1851660" cy="466344"/>
            <a:chOff x="0" y="0"/>
            <a:chExt cx="2468880" cy="6217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68880" cy="621792"/>
            </a:xfrm>
            <a:custGeom>
              <a:avLst/>
              <a:gdLst/>
              <a:ahLst/>
              <a:cxnLst/>
              <a:rect r="r" b="b" t="t" l="l"/>
              <a:pathLst>
                <a:path h="62179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67" r="0" b="-2736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46888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0.6733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333220" y="3291840"/>
            <a:ext cx="1851660" cy="329184"/>
            <a:chOff x="0" y="0"/>
            <a:chExt cx="2468880" cy="4389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68880" cy="438912"/>
            </a:xfrm>
            <a:custGeom>
              <a:avLst/>
              <a:gdLst/>
              <a:ahLst/>
              <a:cxnLst/>
              <a:rect r="r" b="b" t="t" l="l"/>
              <a:pathLst>
                <a:path h="43891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246888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F1-Score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012680" y="4183380"/>
            <a:ext cx="4800600" cy="464027"/>
            <a:chOff x="0" y="0"/>
            <a:chExt cx="6400800" cy="61870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00800" cy="618703"/>
            </a:xfrm>
            <a:custGeom>
              <a:avLst/>
              <a:gdLst/>
              <a:ahLst/>
              <a:cxnLst/>
              <a:rect r="r" b="b" t="t" l="l"/>
              <a:pathLst>
                <a:path h="618703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18703"/>
                  </a:lnTo>
                  <a:lnTo>
                    <a:pt x="0" y="618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068" r="0" b="-13409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6400800" cy="609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INTERPRETASI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89033" y="4675982"/>
            <a:ext cx="6515100" cy="3426842"/>
            <a:chOff x="0" y="0"/>
            <a:chExt cx="8686800" cy="456912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686800" cy="4569123"/>
            </a:xfrm>
            <a:custGeom>
              <a:avLst/>
              <a:gdLst/>
              <a:ahLst/>
              <a:cxnLst/>
              <a:rect r="r" b="b" t="t" l="l"/>
              <a:pathLst>
                <a:path h="4569123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4569123"/>
                  </a:lnTo>
                  <a:lnTo>
                    <a:pt x="0" y="45691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" r="0" b="2693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8686800" cy="4578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 unggul pada tiga metrik utama, sehingga menjadi metode paling stabil untuk dataset ini.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MICE berada cukup dekat, tetapi kompleksitasnya lebih tinggi dan tidak memberikan peningkatan yang lebih baik.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KNN lebih rendah karena prosesnya bergantung pada kedekatan antar data yang dapat terganggu oleh noise dan outlier.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Baseline Drop NA kurang optimal karena banyak sampel terhapus, terutama dari fitur Insulin dan SkinThickness.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213580" y="9710928"/>
            <a:ext cx="411480" cy="342900"/>
            <a:chOff x="0" y="0"/>
            <a:chExt cx="548640" cy="457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864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5486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73430" y="9710928"/>
            <a:ext cx="10972800" cy="315468"/>
            <a:chOff x="0" y="0"/>
            <a:chExt cx="14630400" cy="4206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10" r="0" b="-61687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1463040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Penambangan Data IF-32025 • Kelompok 05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22311">
            <a:off x="614088" y="1262736"/>
            <a:ext cx="15024503" cy="8458334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B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13728700"/>
                  </a:lnTo>
                  <a:cubicBezTo>
                    <a:pt x="24408764" y="13735686"/>
                    <a:pt x="24403050" y="13741400"/>
                    <a:pt x="24396064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064" y="13716000"/>
                  </a:lnTo>
                  <a:lnTo>
                    <a:pt x="24396064" y="13728700"/>
                  </a:lnTo>
                  <a:lnTo>
                    <a:pt x="24383364" y="13728700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7FB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-9525"/>
            <a:ext cx="18306593" cy="211074"/>
            <a:chOff x="0" y="0"/>
            <a:chExt cx="24408790" cy="281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3364" cy="256032"/>
            </a:xfrm>
            <a:custGeom>
              <a:avLst/>
              <a:gdLst/>
              <a:ahLst/>
              <a:cxnLst/>
              <a:rect r="r" b="b" t="t" l="l"/>
              <a:pathLst>
                <a:path h="25603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8764" cy="281432"/>
            </a:xfrm>
            <a:custGeom>
              <a:avLst/>
              <a:gdLst/>
              <a:ahLst/>
              <a:cxnLst/>
              <a:rect r="r" b="b" t="t" l="l"/>
              <a:pathLst>
                <a:path h="281432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268732"/>
                  </a:lnTo>
                  <a:cubicBezTo>
                    <a:pt x="24408764" y="275717"/>
                    <a:pt x="24403050" y="281432"/>
                    <a:pt x="24396064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24396064" y="256032"/>
                  </a:lnTo>
                  <a:lnTo>
                    <a:pt x="24396064" y="268732"/>
                  </a:lnTo>
                  <a:lnTo>
                    <a:pt x="24383364" y="268732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15235" y="-1518285"/>
            <a:ext cx="4682490" cy="4682490"/>
            <a:chOff x="0" y="0"/>
            <a:chExt cx="6243320" cy="624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  <a:lnTo>
                    <a:pt x="0" y="3108960"/>
                  </a:lnTo>
                  <a:close/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08960" y="0"/>
              <a:ext cx="3134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13436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736725" y="0"/>
                    <a:pt x="3134360" y="1397635"/>
                    <a:pt x="3134360" y="3121660"/>
                  </a:cubicBezTo>
                  <a:cubicBezTo>
                    <a:pt x="3134360" y="3128645"/>
                    <a:pt x="3128645" y="3134360"/>
                    <a:pt x="312166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3121660" y="3108960"/>
                  </a:lnTo>
                  <a:lnTo>
                    <a:pt x="3121660" y="3121660"/>
                  </a:lnTo>
                  <a:lnTo>
                    <a:pt x="3108960" y="3121660"/>
                  </a:lnTo>
                  <a:cubicBezTo>
                    <a:pt x="3108960" y="1411605"/>
                    <a:pt x="1722755" y="25400"/>
                    <a:pt x="1270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21660" y="0"/>
              <a:ext cx="3121660" cy="3121660"/>
            </a:xfrm>
            <a:custGeom>
              <a:avLst/>
              <a:gdLst/>
              <a:ahLst/>
              <a:cxnLst/>
              <a:rect r="r" b="b" t="t" l="l"/>
              <a:pathLst>
                <a:path h="3121660" w="312166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724025" y="0"/>
                    <a:pt x="3121660" y="1397635"/>
                    <a:pt x="3121660" y="3121660"/>
                  </a:cubicBezTo>
                  <a:lnTo>
                    <a:pt x="3096260" y="3121660"/>
                  </a:lnTo>
                  <a:cubicBezTo>
                    <a:pt x="3096260" y="1411605"/>
                    <a:pt x="1710055" y="25400"/>
                    <a:pt x="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655445" y="7945755"/>
            <a:ext cx="4408170" cy="4408170"/>
            <a:chOff x="0" y="0"/>
            <a:chExt cx="5877560" cy="5877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" y="576072"/>
            <a:ext cx="16459200" cy="576072"/>
            <a:chOff x="0" y="0"/>
            <a:chExt cx="2194560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9456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Evaluasi Lanjutan: ROC &amp; Confusion Matrix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8096" y="1179576"/>
            <a:ext cx="15773400" cy="384048"/>
            <a:chOff x="0" y="0"/>
            <a:chExt cx="2103120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31200" cy="512064"/>
            </a:xfrm>
            <a:custGeom>
              <a:avLst/>
              <a:gdLst/>
              <a:ahLst/>
              <a:cxnLst/>
              <a:rect r="r" b="b" t="t" l="l"/>
              <a:pathLst>
                <a:path h="51206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278" r="0" b="-7502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031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Membaca kemampuan model dalam memisahkan kelas dan jenis kesalahan prediksi.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2015" y="1842135"/>
            <a:ext cx="7631430" cy="6396990"/>
            <a:chOff x="0" y="0"/>
            <a:chExt cx="10175240" cy="8529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0149840" cy="8503920"/>
            </a:xfrm>
            <a:custGeom>
              <a:avLst/>
              <a:gdLst/>
              <a:ahLst/>
              <a:cxnLst/>
              <a:rect r="r" b="b" t="t" l="l"/>
              <a:pathLst>
                <a:path h="8503920" w="101498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003536" y="0"/>
                  </a:lnTo>
                  <a:cubicBezTo>
                    <a:pt x="10084308" y="0"/>
                    <a:pt x="10149840" y="65532"/>
                    <a:pt x="10149840" y="146304"/>
                  </a:cubicBezTo>
                  <a:lnTo>
                    <a:pt x="10149840" y="8357616"/>
                  </a:lnTo>
                  <a:cubicBezTo>
                    <a:pt x="10149840" y="8438388"/>
                    <a:pt x="10084308" y="8503920"/>
                    <a:pt x="10003536" y="8503920"/>
                  </a:cubicBezTo>
                  <a:lnTo>
                    <a:pt x="146304" y="8503920"/>
                  </a:lnTo>
                  <a:cubicBezTo>
                    <a:pt x="65532" y="8503920"/>
                    <a:pt x="0" y="8438388"/>
                    <a:pt x="0" y="83576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75240" cy="8529320"/>
            </a:xfrm>
            <a:custGeom>
              <a:avLst/>
              <a:gdLst/>
              <a:ahLst/>
              <a:cxnLst/>
              <a:rect r="r" b="b" t="t" l="l"/>
              <a:pathLst>
                <a:path h="8529320" w="10175240">
                  <a:moveTo>
                    <a:pt x="0" y="159004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016236" y="0"/>
                  </a:lnTo>
                  <a:lnTo>
                    <a:pt x="10016236" y="12700"/>
                  </a:lnTo>
                  <a:lnTo>
                    <a:pt x="10016236" y="0"/>
                  </a:lnTo>
                  <a:cubicBezTo>
                    <a:pt x="10104120" y="0"/>
                    <a:pt x="10175240" y="71120"/>
                    <a:pt x="10175240" y="159004"/>
                  </a:cubicBezTo>
                  <a:lnTo>
                    <a:pt x="10162540" y="159004"/>
                  </a:lnTo>
                  <a:lnTo>
                    <a:pt x="10175240" y="159004"/>
                  </a:lnTo>
                  <a:lnTo>
                    <a:pt x="10175240" y="8370316"/>
                  </a:lnTo>
                  <a:lnTo>
                    <a:pt x="10162540" y="8370316"/>
                  </a:lnTo>
                  <a:lnTo>
                    <a:pt x="10175240" y="8370316"/>
                  </a:lnTo>
                  <a:cubicBezTo>
                    <a:pt x="10175240" y="8458073"/>
                    <a:pt x="10103993" y="8529320"/>
                    <a:pt x="10016236" y="8529320"/>
                  </a:cubicBezTo>
                  <a:lnTo>
                    <a:pt x="10016236" y="8516620"/>
                  </a:lnTo>
                  <a:lnTo>
                    <a:pt x="10016236" y="8529320"/>
                  </a:lnTo>
                  <a:lnTo>
                    <a:pt x="159004" y="8529320"/>
                  </a:lnTo>
                  <a:lnTo>
                    <a:pt x="159004" y="8516620"/>
                  </a:lnTo>
                  <a:lnTo>
                    <a:pt x="159004" y="8529320"/>
                  </a:lnTo>
                  <a:cubicBezTo>
                    <a:pt x="71247" y="8529320"/>
                    <a:pt x="0" y="8458200"/>
                    <a:pt x="0" y="837031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370316"/>
                  </a:lnTo>
                  <a:lnTo>
                    <a:pt x="12700" y="8370316"/>
                  </a:lnTo>
                  <a:lnTo>
                    <a:pt x="25400" y="8370316"/>
                  </a:lnTo>
                  <a:cubicBezTo>
                    <a:pt x="25400" y="8444103"/>
                    <a:pt x="85217" y="8503920"/>
                    <a:pt x="159004" y="8503920"/>
                  </a:cubicBezTo>
                  <a:lnTo>
                    <a:pt x="10016236" y="8503920"/>
                  </a:lnTo>
                  <a:cubicBezTo>
                    <a:pt x="10090023" y="8503920"/>
                    <a:pt x="10149840" y="8444103"/>
                    <a:pt x="10149840" y="8370316"/>
                  </a:cubicBezTo>
                  <a:lnTo>
                    <a:pt x="10149840" y="159004"/>
                  </a:lnTo>
                  <a:cubicBezTo>
                    <a:pt x="10149840" y="85217"/>
                    <a:pt x="10090023" y="25400"/>
                    <a:pt x="1001623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895075" y="2016252"/>
            <a:ext cx="5605310" cy="5692140"/>
            <a:chOff x="0" y="0"/>
            <a:chExt cx="7473747" cy="7589520"/>
          </a:xfrm>
        </p:grpSpPr>
        <p:sp>
          <p:nvSpPr>
            <p:cNvPr name="Freeform 28" id="28" descr="/mnt/data/dm_nb_imgs/cell39_out00_15.png"/>
            <p:cNvSpPr/>
            <p:nvPr/>
          </p:nvSpPr>
          <p:spPr>
            <a:xfrm flipH="false" flipV="false" rot="0">
              <a:off x="0" y="0"/>
              <a:ext cx="7473696" cy="7589520"/>
            </a:xfrm>
            <a:custGeom>
              <a:avLst/>
              <a:gdLst/>
              <a:ahLst/>
              <a:cxnLst/>
              <a:rect r="r" b="b" t="t" l="l"/>
              <a:pathLst>
                <a:path h="7589520" w="7473696">
                  <a:moveTo>
                    <a:pt x="0" y="0"/>
                  </a:moveTo>
                  <a:lnTo>
                    <a:pt x="7473696" y="0"/>
                  </a:lnTo>
                  <a:lnTo>
                    <a:pt x="7473696" y="7589520"/>
                  </a:lnTo>
                  <a:lnTo>
                    <a:pt x="0" y="758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56132" y="7804404"/>
            <a:ext cx="7283196" cy="246888"/>
            <a:chOff x="0" y="0"/>
            <a:chExt cx="9710928" cy="3291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10928" cy="329184"/>
            </a:xfrm>
            <a:custGeom>
              <a:avLst/>
              <a:gdLst/>
              <a:ahLst/>
              <a:cxnLst/>
              <a:rect r="r" b="b" t="t" l="l"/>
              <a:pathLst>
                <a:path h="329184" w="9710928">
                  <a:moveTo>
                    <a:pt x="0" y="0"/>
                  </a:moveTo>
                  <a:lnTo>
                    <a:pt x="9710928" y="0"/>
                  </a:lnTo>
                  <a:lnTo>
                    <a:pt x="971092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808" r="0" b="-5248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71092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ROC Curve per metode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974455" y="1842135"/>
            <a:ext cx="8180070" cy="3105150"/>
            <a:chOff x="0" y="0"/>
            <a:chExt cx="10906760" cy="4140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10881360" cy="4114800"/>
            </a:xfrm>
            <a:custGeom>
              <a:avLst/>
              <a:gdLst/>
              <a:ahLst/>
              <a:cxnLst/>
              <a:rect r="r" b="b" t="t" l="l"/>
              <a:pathLst>
                <a:path h="4114800" w="10881360">
                  <a:moveTo>
                    <a:pt x="0" y="146304"/>
                  </a:moveTo>
                  <a:cubicBezTo>
                    <a:pt x="0" y="65532"/>
                    <a:pt x="65786" y="0"/>
                    <a:pt x="146939" y="0"/>
                  </a:cubicBezTo>
                  <a:lnTo>
                    <a:pt x="10734421" y="0"/>
                  </a:lnTo>
                  <a:cubicBezTo>
                    <a:pt x="10815574" y="0"/>
                    <a:pt x="10881360" y="65532"/>
                    <a:pt x="10881360" y="146304"/>
                  </a:cubicBezTo>
                  <a:lnTo>
                    <a:pt x="10881360" y="3968496"/>
                  </a:lnTo>
                  <a:cubicBezTo>
                    <a:pt x="10881360" y="4049268"/>
                    <a:pt x="10815574" y="4114800"/>
                    <a:pt x="10734421" y="4114800"/>
                  </a:cubicBezTo>
                  <a:lnTo>
                    <a:pt x="146939" y="4114800"/>
                  </a:lnTo>
                  <a:cubicBezTo>
                    <a:pt x="65786" y="4114800"/>
                    <a:pt x="0" y="4049268"/>
                    <a:pt x="0" y="39684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06760" cy="4140200"/>
            </a:xfrm>
            <a:custGeom>
              <a:avLst/>
              <a:gdLst/>
              <a:ahLst/>
              <a:cxnLst/>
              <a:rect r="r" b="b" t="t" l="l"/>
              <a:pathLst>
                <a:path h="4140200" w="10906760">
                  <a:moveTo>
                    <a:pt x="0" y="159004"/>
                  </a:moveTo>
                  <a:cubicBezTo>
                    <a:pt x="0" y="71120"/>
                    <a:pt x="71501" y="0"/>
                    <a:pt x="159639" y="0"/>
                  </a:cubicBezTo>
                  <a:lnTo>
                    <a:pt x="10747121" y="0"/>
                  </a:lnTo>
                  <a:lnTo>
                    <a:pt x="10747121" y="12700"/>
                  </a:lnTo>
                  <a:lnTo>
                    <a:pt x="10747121" y="0"/>
                  </a:lnTo>
                  <a:cubicBezTo>
                    <a:pt x="10835259" y="0"/>
                    <a:pt x="10906760" y="71120"/>
                    <a:pt x="10906760" y="159004"/>
                  </a:cubicBezTo>
                  <a:lnTo>
                    <a:pt x="10894060" y="159004"/>
                  </a:lnTo>
                  <a:lnTo>
                    <a:pt x="10906760" y="159004"/>
                  </a:lnTo>
                  <a:lnTo>
                    <a:pt x="10906760" y="3981196"/>
                  </a:lnTo>
                  <a:lnTo>
                    <a:pt x="10894060" y="3981196"/>
                  </a:lnTo>
                  <a:lnTo>
                    <a:pt x="10906760" y="3981196"/>
                  </a:lnTo>
                  <a:cubicBezTo>
                    <a:pt x="10906760" y="4069080"/>
                    <a:pt x="10835259" y="4140200"/>
                    <a:pt x="10747121" y="4140200"/>
                  </a:cubicBezTo>
                  <a:lnTo>
                    <a:pt x="10747121" y="4127500"/>
                  </a:lnTo>
                  <a:lnTo>
                    <a:pt x="10747121" y="4140200"/>
                  </a:lnTo>
                  <a:lnTo>
                    <a:pt x="159639" y="4140200"/>
                  </a:lnTo>
                  <a:lnTo>
                    <a:pt x="159639" y="4127500"/>
                  </a:lnTo>
                  <a:lnTo>
                    <a:pt x="159639" y="4140200"/>
                  </a:lnTo>
                  <a:cubicBezTo>
                    <a:pt x="71501" y="4140200"/>
                    <a:pt x="0" y="4069080"/>
                    <a:pt x="0" y="398119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981196"/>
                  </a:lnTo>
                  <a:lnTo>
                    <a:pt x="12700" y="3981196"/>
                  </a:lnTo>
                  <a:lnTo>
                    <a:pt x="25400" y="3981196"/>
                  </a:lnTo>
                  <a:cubicBezTo>
                    <a:pt x="25400" y="4054983"/>
                    <a:pt x="85471" y="4114800"/>
                    <a:pt x="159639" y="4114800"/>
                  </a:cubicBezTo>
                  <a:lnTo>
                    <a:pt x="10747121" y="4114800"/>
                  </a:lnTo>
                  <a:cubicBezTo>
                    <a:pt x="10821289" y="4114800"/>
                    <a:pt x="10881360" y="4054983"/>
                    <a:pt x="10881360" y="3981196"/>
                  </a:cubicBezTo>
                  <a:lnTo>
                    <a:pt x="10881360" y="159004"/>
                  </a:lnTo>
                  <a:cubicBezTo>
                    <a:pt x="10881360" y="85217"/>
                    <a:pt x="10821289" y="25400"/>
                    <a:pt x="10747121" y="25400"/>
                  </a:cubicBezTo>
                  <a:lnTo>
                    <a:pt x="159639" y="25400"/>
                  </a:lnTo>
                  <a:lnTo>
                    <a:pt x="159639" y="12700"/>
                  </a:lnTo>
                  <a:lnTo>
                    <a:pt x="159639" y="25400"/>
                  </a:lnTo>
                  <a:cubicBezTo>
                    <a:pt x="85471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21140" y="2353656"/>
            <a:ext cx="7886700" cy="1725492"/>
            <a:chOff x="0" y="0"/>
            <a:chExt cx="10515600" cy="2300656"/>
          </a:xfrm>
        </p:grpSpPr>
        <p:sp>
          <p:nvSpPr>
            <p:cNvPr name="Freeform 36" id="36" descr="/mnt/data/dm_nb_imgs/cell41_out00_16.png"/>
            <p:cNvSpPr/>
            <p:nvPr/>
          </p:nvSpPr>
          <p:spPr>
            <a:xfrm flipH="false" flipV="false" rot="0">
              <a:off x="0" y="0"/>
              <a:ext cx="10515600" cy="2300605"/>
            </a:xfrm>
            <a:custGeom>
              <a:avLst/>
              <a:gdLst/>
              <a:ahLst/>
              <a:cxnLst/>
              <a:rect r="r" b="b" t="t" l="l"/>
              <a:pathLst>
                <a:path h="2300605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2300605"/>
                  </a:lnTo>
                  <a:lnTo>
                    <a:pt x="0" y="2300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8572" y="4512564"/>
            <a:ext cx="7831836" cy="246888"/>
            <a:chOff x="0" y="0"/>
            <a:chExt cx="10442448" cy="3291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442448" cy="329184"/>
            </a:xfrm>
            <a:custGeom>
              <a:avLst/>
              <a:gdLst/>
              <a:ahLst/>
              <a:cxnLst/>
              <a:rect r="r" b="b" t="t" l="l"/>
              <a:pathLst>
                <a:path h="329184" w="10442448">
                  <a:moveTo>
                    <a:pt x="0" y="0"/>
                  </a:moveTo>
                  <a:lnTo>
                    <a:pt x="10442448" y="0"/>
                  </a:lnTo>
                  <a:lnTo>
                    <a:pt x="104424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108" r="0" b="-5681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04424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Confusion Matrix per metode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74455" y="5408295"/>
            <a:ext cx="8180070" cy="2830830"/>
            <a:chOff x="0" y="0"/>
            <a:chExt cx="10906760" cy="3774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10881360" cy="3749040"/>
            </a:xfrm>
            <a:custGeom>
              <a:avLst/>
              <a:gdLst/>
              <a:ahLst/>
              <a:cxnLst/>
              <a:rect r="r" b="b" t="t" l="l"/>
              <a:pathLst>
                <a:path h="3749040" w="10881360">
                  <a:moveTo>
                    <a:pt x="0" y="146304"/>
                  </a:moveTo>
                  <a:cubicBezTo>
                    <a:pt x="0" y="65532"/>
                    <a:pt x="65786" y="0"/>
                    <a:pt x="146939" y="0"/>
                  </a:cubicBezTo>
                  <a:lnTo>
                    <a:pt x="10734421" y="0"/>
                  </a:lnTo>
                  <a:cubicBezTo>
                    <a:pt x="10815574" y="0"/>
                    <a:pt x="10881360" y="65532"/>
                    <a:pt x="10881360" y="146304"/>
                  </a:cubicBezTo>
                  <a:lnTo>
                    <a:pt x="10881360" y="3602736"/>
                  </a:lnTo>
                  <a:cubicBezTo>
                    <a:pt x="10881360" y="3683508"/>
                    <a:pt x="10815574" y="3749040"/>
                    <a:pt x="10734421" y="3749040"/>
                  </a:cubicBezTo>
                  <a:lnTo>
                    <a:pt x="146939" y="3749040"/>
                  </a:lnTo>
                  <a:cubicBezTo>
                    <a:pt x="65786" y="3749040"/>
                    <a:pt x="0" y="3683508"/>
                    <a:pt x="0" y="3602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06760" cy="3774440"/>
            </a:xfrm>
            <a:custGeom>
              <a:avLst/>
              <a:gdLst/>
              <a:ahLst/>
              <a:cxnLst/>
              <a:rect r="r" b="b" t="t" l="l"/>
              <a:pathLst>
                <a:path h="3774440" w="10906760">
                  <a:moveTo>
                    <a:pt x="0" y="159004"/>
                  </a:moveTo>
                  <a:cubicBezTo>
                    <a:pt x="0" y="71120"/>
                    <a:pt x="71501" y="0"/>
                    <a:pt x="159639" y="0"/>
                  </a:cubicBezTo>
                  <a:lnTo>
                    <a:pt x="10747121" y="0"/>
                  </a:lnTo>
                  <a:lnTo>
                    <a:pt x="10747121" y="12700"/>
                  </a:lnTo>
                  <a:lnTo>
                    <a:pt x="10747121" y="0"/>
                  </a:lnTo>
                  <a:cubicBezTo>
                    <a:pt x="10835259" y="0"/>
                    <a:pt x="10906760" y="71120"/>
                    <a:pt x="10906760" y="159004"/>
                  </a:cubicBezTo>
                  <a:lnTo>
                    <a:pt x="10894060" y="159004"/>
                  </a:lnTo>
                  <a:lnTo>
                    <a:pt x="10906760" y="159004"/>
                  </a:lnTo>
                  <a:lnTo>
                    <a:pt x="10906760" y="3615436"/>
                  </a:lnTo>
                  <a:lnTo>
                    <a:pt x="10894060" y="3615436"/>
                  </a:lnTo>
                  <a:lnTo>
                    <a:pt x="10906760" y="3615436"/>
                  </a:lnTo>
                  <a:cubicBezTo>
                    <a:pt x="10906760" y="3703320"/>
                    <a:pt x="10835259" y="3774440"/>
                    <a:pt x="10747121" y="3774440"/>
                  </a:cubicBezTo>
                  <a:lnTo>
                    <a:pt x="10747121" y="3761740"/>
                  </a:lnTo>
                  <a:lnTo>
                    <a:pt x="10747121" y="3774440"/>
                  </a:lnTo>
                  <a:lnTo>
                    <a:pt x="159639" y="3774440"/>
                  </a:lnTo>
                  <a:lnTo>
                    <a:pt x="159639" y="3761740"/>
                  </a:lnTo>
                  <a:lnTo>
                    <a:pt x="159639" y="3774440"/>
                  </a:lnTo>
                  <a:cubicBezTo>
                    <a:pt x="71501" y="3774440"/>
                    <a:pt x="0" y="3703320"/>
                    <a:pt x="0" y="361543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615436"/>
                  </a:lnTo>
                  <a:lnTo>
                    <a:pt x="12700" y="3615436"/>
                  </a:lnTo>
                  <a:lnTo>
                    <a:pt x="25400" y="3615436"/>
                  </a:lnTo>
                  <a:cubicBezTo>
                    <a:pt x="25400" y="3689223"/>
                    <a:pt x="85471" y="3749040"/>
                    <a:pt x="159639" y="3749040"/>
                  </a:cubicBezTo>
                  <a:lnTo>
                    <a:pt x="10747121" y="3749040"/>
                  </a:lnTo>
                  <a:cubicBezTo>
                    <a:pt x="10821289" y="3749040"/>
                    <a:pt x="10881360" y="3689223"/>
                    <a:pt x="10881360" y="3615436"/>
                  </a:cubicBezTo>
                  <a:lnTo>
                    <a:pt x="10881360" y="159004"/>
                  </a:lnTo>
                  <a:cubicBezTo>
                    <a:pt x="10881360" y="85217"/>
                    <a:pt x="10821289" y="25400"/>
                    <a:pt x="10747121" y="25400"/>
                  </a:cubicBezTo>
                  <a:lnTo>
                    <a:pt x="159639" y="25400"/>
                  </a:lnTo>
                  <a:lnTo>
                    <a:pt x="159639" y="12700"/>
                  </a:lnTo>
                  <a:lnTo>
                    <a:pt x="159639" y="25400"/>
                  </a:lnTo>
                  <a:cubicBezTo>
                    <a:pt x="85471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974455" y="5408295"/>
            <a:ext cx="128778" cy="2830830"/>
            <a:chOff x="0" y="0"/>
            <a:chExt cx="171704" cy="3774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146304" cy="3749040"/>
            </a:xfrm>
            <a:custGeom>
              <a:avLst/>
              <a:gdLst/>
              <a:ahLst/>
              <a:cxnLst/>
              <a:rect r="r" b="b" t="t" l="l"/>
              <a:pathLst>
                <a:path h="3749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749040"/>
                  </a:lnTo>
                  <a:lnTo>
                    <a:pt x="0" y="37490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3774440"/>
            </a:xfrm>
            <a:custGeom>
              <a:avLst/>
              <a:gdLst/>
              <a:ahLst/>
              <a:cxnLst/>
              <a:rect r="r" b="b" t="t" l="l"/>
              <a:pathLst>
                <a:path h="377444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3761740"/>
                  </a:lnTo>
                  <a:cubicBezTo>
                    <a:pt x="171704" y="3768725"/>
                    <a:pt x="165989" y="3774440"/>
                    <a:pt x="159004" y="3774440"/>
                  </a:cubicBezTo>
                  <a:lnTo>
                    <a:pt x="12700" y="3774440"/>
                  </a:lnTo>
                  <a:cubicBezTo>
                    <a:pt x="5715" y="3774440"/>
                    <a:pt x="0" y="3768725"/>
                    <a:pt x="0" y="37617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761740"/>
                  </a:lnTo>
                  <a:lnTo>
                    <a:pt x="12700" y="3761740"/>
                  </a:lnTo>
                  <a:lnTo>
                    <a:pt x="12700" y="3749040"/>
                  </a:lnTo>
                  <a:lnTo>
                    <a:pt x="159004" y="3749040"/>
                  </a:lnTo>
                  <a:lnTo>
                    <a:pt x="159004" y="3761740"/>
                  </a:lnTo>
                  <a:lnTo>
                    <a:pt x="146304" y="376174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26880" y="5760720"/>
            <a:ext cx="4800600" cy="378842"/>
            <a:chOff x="0" y="0"/>
            <a:chExt cx="6400800" cy="50512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00800" cy="505123"/>
            </a:xfrm>
            <a:custGeom>
              <a:avLst/>
              <a:gdLst/>
              <a:ahLst/>
              <a:cxnLst/>
              <a:rect r="r" b="b" t="t" l="l"/>
              <a:pathLst>
                <a:path h="505123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05123"/>
                  </a:lnTo>
                  <a:lnTo>
                    <a:pt x="0" y="5051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084" r="0" b="-18673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6400800" cy="514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MAKNA EVALUASI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3771" y="6168137"/>
            <a:ext cx="7205701" cy="1487984"/>
            <a:chOff x="0" y="0"/>
            <a:chExt cx="9607601" cy="198397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07601" cy="1983978"/>
            </a:xfrm>
            <a:custGeom>
              <a:avLst/>
              <a:gdLst/>
              <a:ahLst/>
              <a:cxnLst/>
              <a:rect r="r" b="b" t="t" l="l"/>
              <a:pathLst>
                <a:path h="1983978" w="9607601">
                  <a:moveTo>
                    <a:pt x="0" y="0"/>
                  </a:moveTo>
                  <a:lnTo>
                    <a:pt x="9607601" y="0"/>
                  </a:lnTo>
                  <a:lnTo>
                    <a:pt x="9607601" y="1983978"/>
                  </a:lnTo>
                  <a:lnTo>
                    <a:pt x="0" y="1983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06" r="66" b="-4038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9607601" cy="19839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Nilai ROC-AUC seluruh metode berada di atas 0.8, sehingga model sudah cukup baik membedakan kelas diabetes dan non-diabetes.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 dan MICE memiliki AUC sekitar 0.82, tetapi Mean tetap unggul pada Accuracy, Recall, dan F1-Score.</a:t>
              </a:r>
            </a:p>
            <a:p>
              <a:pPr algn="l" marL="345439" indent="-172720" lvl="1">
                <a:lnSpc>
                  <a:spcPts val="1919"/>
                </a:lnSpc>
                <a:buFont typeface="Arial"/>
                <a:buChar char="•"/>
              </a:pPr>
              <a:r>
                <a:rPr lang="en-US" b="true" sz="1599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Confusion matrix membantu melihat false negative, yaitu pasien positif yang gagal terdeteksi; pada data medis, kesalahan ini penting ditekan.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7213580" y="9710928"/>
            <a:ext cx="411480" cy="342900"/>
            <a:chOff x="0" y="0"/>
            <a:chExt cx="548640" cy="457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864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5486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73430" y="9710928"/>
            <a:ext cx="10972800" cy="315468"/>
            <a:chOff x="0" y="0"/>
            <a:chExt cx="14630400" cy="42062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63040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10" r="0" b="-61687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463040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Penambangan Data IF-32025 • Kelompok 05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324" y="-2521870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B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13728700"/>
                  </a:lnTo>
                  <a:cubicBezTo>
                    <a:pt x="24408764" y="13735686"/>
                    <a:pt x="24403050" y="13741400"/>
                    <a:pt x="24396064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064" y="13716000"/>
                  </a:lnTo>
                  <a:lnTo>
                    <a:pt x="24396064" y="13728700"/>
                  </a:lnTo>
                  <a:lnTo>
                    <a:pt x="24383364" y="13728700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7FB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-9525"/>
            <a:ext cx="18306593" cy="211074"/>
            <a:chOff x="0" y="0"/>
            <a:chExt cx="24408790" cy="281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3364" cy="256032"/>
            </a:xfrm>
            <a:custGeom>
              <a:avLst/>
              <a:gdLst/>
              <a:ahLst/>
              <a:cxnLst/>
              <a:rect r="r" b="b" t="t" l="l"/>
              <a:pathLst>
                <a:path h="25603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8764" cy="281432"/>
            </a:xfrm>
            <a:custGeom>
              <a:avLst/>
              <a:gdLst/>
              <a:ahLst/>
              <a:cxnLst/>
              <a:rect r="r" b="b" t="t" l="l"/>
              <a:pathLst>
                <a:path h="281432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268732"/>
                  </a:lnTo>
                  <a:cubicBezTo>
                    <a:pt x="24408764" y="275717"/>
                    <a:pt x="24403050" y="281432"/>
                    <a:pt x="24396064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24396064" y="256032"/>
                  </a:lnTo>
                  <a:lnTo>
                    <a:pt x="24396064" y="268732"/>
                  </a:lnTo>
                  <a:lnTo>
                    <a:pt x="24383364" y="268732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15235" y="-1518285"/>
            <a:ext cx="4682490" cy="4682490"/>
            <a:chOff x="0" y="0"/>
            <a:chExt cx="6243320" cy="624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  <a:lnTo>
                    <a:pt x="0" y="3108960"/>
                  </a:lnTo>
                  <a:close/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08960" y="0"/>
              <a:ext cx="3134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13436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736725" y="0"/>
                    <a:pt x="3134360" y="1397635"/>
                    <a:pt x="3134360" y="3121660"/>
                  </a:cubicBezTo>
                  <a:cubicBezTo>
                    <a:pt x="3134360" y="3128645"/>
                    <a:pt x="3128645" y="3134360"/>
                    <a:pt x="312166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3121660" y="3108960"/>
                  </a:lnTo>
                  <a:lnTo>
                    <a:pt x="3121660" y="3121660"/>
                  </a:lnTo>
                  <a:lnTo>
                    <a:pt x="3108960" y="3121660"/>
                  </a:lnTo>
                  <a:cubicBezTo>
                    <a:pt x="3108960" y="1411605"/>
                    <a:pt x="1722755" y="25400"/>
                    <a:pt x="1270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21660" y="0"/>
              <a:ext cx="3121660" cy="3121660"/>
            </a:xfrm>
            <a:custGeom>
              <a:avLst/>
              <a:gdLst/>
              <a:ahLst/>
              <a:cxnLst/>
              <a:rect r="r" b="b" t="t" l="l"/>
              <a:pathLst>
                <a:path h="3121660" w="312166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724025" y="0"/>
                    <a:pt x="3121660" y="1397635"/>
                    <a:pt x="3121660" y="3121660"/>
                  </a:cubicBezTo>
                  <a:lnTo>
                    <a:pt x="3096260" y="3121660"/>
                  </a:lnTo>
                  <a:cubicBezTo>
                    <a:pt x="3096260" y="1411605"/>
                    <a:pt x="1710055" y="25400"/>
                    <a:pt x="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655445" y="7945755"/>
            <a:ext cx="4408170" cy="4408170"/>
            <a:chOff x="0" y="0"/>
            <a:chExt cx="5877560" cy="5877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" y="576072"/>
            <a:ext cx="16459200" cy="576072"/>
            <a:chOff x="0" y="0"/>
            <a:chExt cx="21945600" cy="768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768096"/>
            </a:xfrm>
            <a:custGeom>
              <a:avLst/>
              <a:gdLst/>
              <a:ahLst/>
              <a:cxnLst/>
              <a:rect r="r" b="b" t="t" l="l"/>
              <a:pathLst>
                <a:path h="7680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19456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Implementasi Imputasi &amp; Pembahasan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8096" y="1179576"/>
            <a:ext cx="15773400" cy="384048"/>
            <a:chOff x="0" y="0"/>
            <a:chExt cx="2103120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31200" cy="512064"/>
            </a:xfrm>
            <a:custGeom>
              <a:avLst/>
              <a:gdLst/>
              <a:ahLst/>
              <a:cxnLst/>
              <a:rect r="r" b="b" t="t" l="l"/>
              <a:pathLst>
                <a:path h="51206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278" r="0" b="-7502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0312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Dampak Mean Imputation terhadap distribusi dan performa model.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2015" y="1773555"/>
            <a:ext cx="5436870" cy="3516630"/>
            <a:chOff x="0" y="0"/>
            <a:chExt cx="7249160" cy="4688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7223760" cy="4663440"/>
            </a:xfrm>
            <a:custGeom>
              <a:avLst/>
              <a:gdLst/>
              <a:ahLst/>
              <a:cxnLst/>
              <a:rect r="r" b="b" t="t" l="l"/>
              <a:pathLst>
                <a:path h="4663440" w="7223760">
                  <a:moveTo>
                    <a:pt x="0" y="146304"/>
                  </a:moveTo>
                  <a:cubicBezTo>
                    <a:pt x="0" y="65532"/>
                    <a:pt x="65659" y="0"/>
                    <a:pt x="146558" y="0"/>
                  </a:cubicBezTo>
                  <a:lnTo>
                    <a:pt x="7077202" y="0"/>
                  </a:lnTo>
                  <a:cubicBezTo>
                    <a:pt x="7158101" y="0"/>
                    <a:pt x="7223760" y="65532"/>
                    <a:pt x="7223760" y="146304"/>
                  </a:cubicBezTo>
                  <a:lnTo>
                    <a:pt x="7223760" y="4517136"/>
                  </a:lnTo>
                  <a:cubicBezTo>
                    <a:pt x="7223760" y="4597908"/>
                    <a:pt x="7158101" y="4663440"/>
                    <a:pt x="7077202" y="4663440"/>
                  </a:cubicBezTo>
                  <a:lnTo>
                    <a:pt x="146558" y="4663440"/>
                  </a:lnTo>
                  <a:cubicBezTo>
                    <a:pt x="65659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49160" cy="4688840"/>
            </a:xfrm>
            <a:custGeom>
              <a:avLst/>
              <a:gdLst/>
              <a:ahLst/>
              <a:cxnLst/>
              <a:rect r="r" b="b" t="t" l="l"/>
              <a:pathLst>
                <a:path h="4688840" w="7249160">
                  <a:moveTo>
                    <a:pt x="0" y="159004"/>
                  </a:moveTo>
                  <a:cubicBezTo>
                    <a:pt x="0" y="71120"/>
                    <a:pt x="71374" y="0"/>
                    <a:pt x="159258" y="0"/>
                  </a:cubicBezTo>
                  <a:lnTo>
                    <a:pt x="7089902" y="0"/>
                  </a:lnTo>
                  <a:lnTo>
                    <a:pt x="7089902" y="12700"/>
                  </a:lnTo>
                  <a:lnTo>
                    <a:pt x="7089902" y="0"/>
                  </a:lnTo>
                  <a:cubicBezTo>
                    <a:pt x="7177786" y="0"/>
                    <a:pt x="7249160" y="71120"/>
                    <a:pt x="7249160" y="159004"/>
                  </a:cubicBezTo>
                  <a:lnTo>
                    <a:pt x="7236460" y="159004"/>
                  </a:lnTo>
                  <a:lnTo>
                    <a:pt x="7249160" y="159004"/>
                  </a:lnTo>
                  <a:lnTo>
                    <a:pt x="7249160" y="4529836"/>
                  </a:lnTo>
                  <a:lnTo>
                    <a:pt x="7236460" y="4529836"/>
                  </a:lnTo>
                  <a:lnTo>
                    <a:pt x="7249160" y="4529836"/>
                  </a:lnTo>
                  <a:cubicBezTo>
                    <a:pt x="7249160" y="4617720"/>
                    <a:pt x="7177786" y="4688840"/>
                    <a:pt x="7089902" y="4688840"/>
                  </a:cubicBezTo>
                  <a:lnTo>
                    <a:pt x="7089902" y="4676140"/>
                  </a:lnTo>
                  <a:lnTo>
                    <a:pt x="7089902" y="4688840"/>
                  </a:lnTo>
                  <a:lnTo>
                    <a:pt x="159258" y="4688840"/>
                  </a:lnTo>
                  <a:lnTo>
                    <a:pt x="159258" y="4676140"/>
                  </a:lnTo>
                  <a:lnTo>
                    <a:pt x="159258" y="4688840"/>
                  </a:lnTo>
                  <a:cubicBezTo>
                    <a:pt x="71374" y="4688840"/>
                    <a:pt x="0" y="4617720"/>
                    <a:pt x="0" y="452983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4529836"/>
                  </a:lnTo>
                  <a:lnTo>
                    <a:pt x="12700" y="4529836"/>
                  </a:lnTo>
                  <a:lnTo>
                    <a:pt x="25400" y="4529836"/>
                  </a:lnTo>
                  <a:cubicBezTo>
                    <a:pt x="25400" y="4603623"/>
                    <a:pt x="85344" y="4663440"/>
                    <a:pt x="159258" y="4663440"/>
                  </a:cubicBezTo>
                  <a:lnTo>
                    <a:pt x="7089902" y="4663440"/>
                  </a:lnTo>
                  <a:cubicBezTo>
                    <a:pt x="7163816" y="4663440"/>
                    <a:pt x="7223760" y="4603623"/>
                    <a:pt x="7223760" y="4529836"/>
                  </a:cubicBezTo>
                  <a:lnTo>
                    <a:pt x="7223760" y="159004"/>
                  </a:lnTo>
                  <a:cubicBezTo>
                    <a:pt x="7223760" y="85217"/>
                    <a:pt x="7163816" y="25400"/>
                    <a:pt x="7089902" y="25400"/>
                  </a:cubicBezTo>
                  <a:lnTo>
                    <a:pt x="159258" y="25400"/>
                  </a:lnTo>
                  <a:lnTo>
                    <a:pt x="159258" y="12700"/>
                  </a:lnTo>
                  <a:lnTo>
                    <a:pt x="159258" y="25400"/>
                  </a:lnTo>
                  <a:cubicBezTo>
                    <a:pt x="85344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2497036"/>
            <a:ext cx="5143500" cy="1713062"/>
            <a:chOff x="0" y="0"/>
            <a:chExt cx="6858000" cy="2284082"/>
          </a:xfrm>
        </p:grpSpPr>
        <p:sp>
          <p:nvSpPr>
            <p:cNvPr name="Freeform 28" id="28" descr="/mnt/data/dm_nb_imgs/cell30_out02_11.png"/>
            <p:cNvSpPr/>
            <p:nvPr/>
          </p:nvSpPr>
          <p:spPr>
            <a:xfrm flipH="false" flipV="false" rot="0">
              <a:off x="0" y="0"/>
              <a:ext cx="6858000" cy="2284095"/>
            </a:xfrm>
            <a:custGeom>
              <a:avLst/>
              <a:gdLst/>
              <a:ahLst/>
              <a:cxnLst/>
              <a:rect r="r" b="b" t="t" l="l"/>
              <a:pathLst>
                <a:path h="2284095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284095"/>
                  </a:lnTo>
                  <a:lnTo>
                    <a:pt x="0" y="2284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56132" y="4855464"/>
            <a:ext cx="5088636" cy="246888"/>
            <a:chOff x="0" y="0"/>
            <a:chExt cx="6784848" cy="3291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84848" cy="329184"/>
            </a:xfrm>
            <a:custGeom>
              <a:avLst/>
              <a:gdLst/>
              <a:ahLst/>
              <a:cxnLst/>
              <a:rect r="r" b="b" t="t" l="l"/>
              <a:pathLst>
                <a:path h="329184" w="6784848">
                  <a:moveTo>
                    <a:pt x="0" y="0"/>
                  </a:moveTo>
                  <a:lnTo>
                    <a:pt x="6784848" y="0"/>
                  </a:lnTo>
                  <a:lnTo>
                    <a:pt x="6784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608" r="0" b="-3516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7848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SkinThickness sebelum &amp; sesudah Mean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82015" y="5682615"/>
            <a:ext cx="5436870" cy="2899410"/>
            <a:chOff x="0" y="0"/>
            <a:chExt cx="7249160" cy="3865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00" y="12700"/>
              <a:ext cx="72237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7223760">
                  <a:moveTo>
                    <a:pt x="0" y="146304"/>
                  </a:moveTo>
                  <a:cubicBezTo>
                    <a:pt x="0" y="65532"/>
                    <a:pt x="65659" y="0"/>
                    <a:pt x="146812" y="0"/>
                  </a:cubicBezTo>
                  <a:lnTo>
                    <a:pt x="7076948" y="0"/>
                  </a:lnTo>
                  <a:cubicBezTo>
                    <a:pt x="7157974" y="0"/>
                    <a:pt x="7223760" y="65532"/>
                    <a:pt x="7223760" y="146304"/>
                  </a:cubicBezTo>
                  <a:lnTo>
                    <a:pt x="7223760" y="3694176"/>
                  </a:lnTo>
                  <a:cubicBezTo>
                    <a:pt x="7223760" y="3774948"/>
                    <a:pt x="7158101" y="3840480"/>
                    <a:pt x="7076948" y="3840480"/>
                  </a:cubicBezTo>
                  <a:lnTo>
                    <a:pt x="146812" y="3840480"/>
                  </a:lnTo>
                  <a:cubicBezTo>
                    <a:pt x="65659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491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7249160">
                  <a:moveTo>
                    <a:pt x="0" y="159004"/>
                  </a:moveTo>
                  <a:cubicBezTo>
                    <a:pt x="0" y="71120"/>
                    <a:pt x="71374" y="0"/>
                    <a:pt x="159512" y="0"/>
                  </a:cubicBezTo>
                  <a:lnTo>
                    <a:pt x="7089648" y="0"/>
                  </a:lnTo>
                  <a:lnTo>
                    <a:pt x="7089648" y="12700"/>
                  </a:lnTo>
                  <a:lnTo>
                    <a:pt x="7089648" y="0"/>
                  </a:lnTo>
                  <a:cubicBezTo>
                    <a:pt x="7177659" y="0"/>
                    <a:pt x="7249160" y="71120"/>
                    <a:pt x="7249160" y="159004"/>
                  </a:cubicBezTo>
                  <a:lnTo>
                    <a:pt x="7236460" y="159004"/>
                  </a:lnTo>
                  <a:lnTo>
                    <a:pt x="7249160" y="159004"/>
                  </a:lnTo>
                  <a:lnTo>
                    <a:pt x="7249160" y="3706876"/>
                  </a:lnTo>
                  <a:lnTo>
                    <a:pt x="7236460" y="3706876"/>
                  </a:lnTo>
                  <a:lnTo>
                    <a:pt x="7249160" y="3706876"/>
                  </a:lnTo>
                  <a:cubicBezTo>
                    <a:pt x="7249160" y="3794760"/>
                    <a:pt x="7177786" y="3865880"/>
                    <a:pt x="7089648" y="3865880"/>
                  </a:cubicBezTo>
                  <a:lnTo>
                    <a:pt x="7089648" y="3853180"/>
                  </a:lnTo>
                  <a:lnTo>
                    <a:pt x="7089648" y="3865880"/>
                  </a:lnTo>
                  <a:lnTo>
                    <a:pt x="159512" y="3865880"/>
                  </a:lnTo>
                  <a:lnTo>
                    <a:pt x="159512" y="3853180"/>
                  </a:lnTo>
                  <a:lnTo>
                    <a:pt x="159512" y="3865880"/>
                  </a:lnTo>
                  <a:cubicBezTo>
                    <a:pt x="71374" y="3865880"/>
                    <a:pt x="0" y="3794760"/>
                    <a:pt x="0" y="370687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3706876"/>
                  </a:lnTo>
                  <a:lnTo>
                    <a:pt x="12700" y="3706876"/>
                  </a:lnTo>
                  <a:lnTo>
                    <a:pt x="25400" y="3706876"/>
                  </a:lnTo>
                  <a:cubicBezTo>
                    <a:pt x="25400" y="3780663"/>
                    <a:pt x="85344" y="3840480"/>
                    <a:pt x="159512" y="3840480"/>
                  </a:cubicBezTo>
                  <a:lnTo>
                    <a:pt x="7089648" y="3840480"/>
                  </a:lnTo>
                  <a:cubicBezTo>
                    <a:pt x="7163689" y="3840480"/>
                    <a:pt x="7223760" y="3780663"/>
                    <a:pt x="7223760" y="3706876"/>
                  </a:cubicBezTo>
                  <a:lnTo>
                    <a:pt x="7223760" y="159004"/>
                  </a:lnTo>
                  <a:cubicBezTo>
                    <a:pt x="7223760" y="85217"/>
                    <a:pt x="7163816" y="25400"/>
                    <a:pt x="7089648" y="25400"/>
                  </a:cubicBezTo>
                  <a:lnTo>
                    <a:pt x="159512" y="25400"/>
                  </a:lnTo>
                  <a:lnTo>
                    <a:pt x="159512" y="12700"/>
                  </a:lnTo>
                  <a:lnTo>
                    <a:pt x="159512" y="25400"/>
                  </a:lnTo>
                  <a:cubicBezTo>
                    <a:pt x="85344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28700" y="6097486"/>
            <a:ext cx="5143500" cy="1713062"/>
            <a:chOff x="0" y="0"/>
            <a:chExt cx="6858000" cy="2284082"/>
          </a:xfrm>
        </p:grpSpPr>
        <p:sp>
          <p:nvSpPr>
            <p:cNvPr name="Freeform 36" id="36" descr="/mnt/data/dm_nb_imgs/cell30_out03_12.png"/>
            <p:cNvSpPr/>
            <p:nvPr/>
          </p:nvSpPr>
          <p:spPr>
            <a:xfrm flipH="false" flipV="false" rot="0">
              <a:off x="0" y="0"/>
              <a:ext cx="6858000" cy="2284095"/>
            </a:xfrm>
            <a:custGeom>
              <a:avLst/>
              <a:gdLst/>
              <a:ahLst/>
              <a:cxnLst/>
              <a:rect r="r" b="b" t="t" l="l"/>
              <a:pathLst>
                <a:path h="2284095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284095"/>
                  </a:lnTo>
                  <a:lnTo>
                    <a:pt x="0" y="2284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56132" y="8147304"/>
            <a:ext cx="5088636" cy="246888"/>
            <a:chOff x="0" y="0"/>
            <a:chExt cx="6784848" cy="3291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84848" cy="329184"/>
            </a:xfrm>
            <a:custGeom>
              <a:avLst/>
              <a:gdLst/>
              <a:ahLst/>
              <a:cxnLst/>
              <a:rect r="r" b="b" t="t" l="l"/>
              <a:pathLst>
                <a:path h="329184" w="6784848">
                  <a:moveTo>
                    <a:pt x="0" y="0"/>
                  </a:moveTo>
                  <a:lnTo>
                    <a:pt x="6784848" y="0"/>
                  </a:lnTo>
                  <a:lnTo>
                    <a:pt x="6784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608" r="0" b="-3516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7848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Insulin sebelum &amp; sesudah Mean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779895" y="1773555"/>
            <a:ext cx="10237470" cy="6808470"/>
            <a:chOff x="0" y="0"/>
            <a:chExt cx="13649960" cy="9077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2700" y="12700"/>
              <a:ext cx="13624561" cy="9052561"/>
            </a:xfrm>
            <a:custGeom>
              <a:avLst/>
              <a:gdLst/>
              <a:ahLst/>
              <a:cxnLst/>
              <a:rect r="r" b="b" t="t" l="l"/>
              <a:pathLst>
                <a:path h="9052561" w="13624561">
                  <a:moveTo>
                    <a:pt x="0" y="146304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3478129" y="0"/>
                  </a:lnTo>
                  <a:cubicBezTo>
                    <a:pt x="13559028" y="0"/>
                    <a:pt x="13624561" y="65532"/>
                    <a:pt x="13624561" y="146304"/>
                  </a:cubicBezTo>
                  <a:lnTo>
                    <a:pt x="13624561" y="8906256"/>
                  </a:lnTo>
                  <a:cubicBezTo>
                    <a:pt x="13624561" y="8987028"/>
                    <a:pt x="13559028" y="9052561"/>
                    <a:pt x="13478129" y="9052561"/>
                  </a:cubicBezTo>
                  <a:lnTo>
                    <a:pt x="146431" y="9052561"/>
                  </a:lnTo>
                  <a:cubicBezTo>
                    <a:pt x="65532" y="9052560"/>
                    <a:pt x="0" y="8987028"/>
                    <a:pt x="0" y="89062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649961" cy="9077961"/>
            </a:xfrm>
            <a:custGeom>
              <a:avLst/>
              <a:gdLst/>
              <a:ahLst/>
              <a:cxnLst/>
              <a:rect r="r" b="b" t="t" l="l"/>
              <a:pathLst>
                <a:path h="9077961" w="13649961">
                  <a:moveTo>
                    <a:pt x="0" y="159004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3490829" y="0"/>
                  </a:lnTo>
                  <a:lnTo>
                    <a:pt x="13490829" y="12700"/>
                  </a:lnTo>
                  <a:lnTo>
                    <a:pt x="13490829" y="0"/>
                  </a:lnTo>
                  <a:cubicBezTo>
                    <a:pt x="13578714" y="0"/>
                    <a:pt x="13649961" y="71120"/>
                    <a:pt x="13649961" y="159004"/>
                  </a:cubicBezTo>
                  <a:lnTo>
                    <a:pt x="13637261" y="159004"/>
                  </a:lnTo>
                  <a:lnTo>
                    <a:pt x="13649961" y="159004"/>
                  </a:lnTo>
                  <a:lnTo>
                    <a:pt x="13649961" y="8918956"/>
                  </a:lnTo>
                  <a:lnTo>
                    <a:pt x="13637261" y="8918956"/>
                  </a:lnTo>
                  <a:lnTo>
                    <a:pt x="13649961" y="8918956"/>
                  </a:lnTo>
                  <a:cubicBezTo>
                    <a:pt x="13649961" y="9006713"/>
                    <a:pt x="13578714" y="9077961"/>
                    <a:pt x="13490829" y="9077961"/>
                  </a:cubicBezTo>
                  <a:lnTo>
                    <a:pt x="13490829" y="9065261"/>
                  </a:lnTo>
                  <a:lnTo>
                    <a:pt x="13490829" y="9077961"/>
                  </a:lnTo>
                  <a:lnTo>
                    <a:pt x="159131" y="9077961"/>
                  </a:lnTo>
                  <a:lnTo>
                    <a:pt x="159131" y="9065261"/>
                  </a:lnTo>
                  <a:lnTo>
                    <a:pt x="159131" y="9077961"/>
                  </a:lnTo>
                  <a:cubicBezTo>
                    <a:pt x="71247" y="9077960"/>
                    <a:pt x="0" y="9006840"/>
                    <a:pt x="0" y="891895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8918956"/>
                  </a:lnTo>
                  <a:lnTo>
                    <a:pt x="12700" y="8918956"/>
                  </a:lnTo>
                  <a:lnTo>
                    <a:pt x="25400" y="8918956"/>
                  </a:lnTo>
                  <a:cubicBezTo>
                    <a:pt x="25400" y="8992743"/>
                    <a:pt x="85217" y="9052561"/>
                    <a:pt x="159131" y="9052561"/>
                  </a:cubicBezTo>
                  <a:lnTo>
                    <a:pt x="13490829" y="9052561"/>
                  </a:lnTo>
                  <a:cubicBezTo>
                    <a:pt x="13564743" y="9052561"/>
                    <a:pt x="13624561" y="8992743"/>
                    <a:pt x="13624561" y="8918956"/>
                  </a:cubicBezTo>
                  <a:lnTo>
                    <a:pt x="13624561" y="159004"/>
                  </a:lnTo>
                  <a:cubicBezTo>
                    <a:pt x="13624561" y="85217"/>
                    <a:pt x="13564743" y="25400"/>
                    <a:pt x="13490829" y="25400"/>
                  </a:cubicBezTo>
                  <a:lnTo>
                    <a:pt x="159131" y="25400"/>
                  </a:lnTo>
                  <a:lnTo>
                    <a:pt x="159131" y="12700"/>
                  </a:lnTo>
                  <a:lnTo>
                    <a:pt x="159131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779895" y="1773555"/>
            <a:ext cx="128778" cy="6808470"/>
            <a:chOff x="0" y="0"/>
            <a:chExt cx="171704" cy="9077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2700" y="12700"/>
              <a:ext cx="146304" cy="9052560"/>
            </a:xfrm>
            <a:custGeom>
              <a:avLst/>
              <a:gdLst/>
              <a:ahLst/>
              <a:cxnLst/>
              <a:rect r="r" b="b" t="t" l="l"/>
              <a:pathLst>
                <a:path h="9052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9052560"/>
                  </a:lnTo>
                  <a:lnTo>
                    <a:pt x="0" y="9052560"/>
                  </a:lnTo>
                  <a:close/>
                </a:path>
              </a:pathLst>
            </a:custGeom>
            <a:solidFill>
              <a:srgbClr val="14B8A6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1704" cy="9077960"/>
            </a:xfrm>
            <a:custGeom>
              <a:avLst/>
              <a:gdLst/>
              <a:ahLst/>
              <a:cxnLst/>
              <a:rect r="r" b="b" t="t" l="l"/>
              <a:pathLst>
                <a:path h="907796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9065260"/>
                  </a:lnTo>
                  <a:cubicBezTo>
                    <a:pt x="171704" y="9072245"/>
                    <a:pt x="165989" y="9077960"/>
                    <a:pt x="159004" y="9077960"/>
                  </a:cubicBezTo>
                  <a:lnTo>
                    <a:pt x="12700" y="9077960"/>
                  </a:lnTo>
                  <a:cubicBezTo>
                    <a:pt x="5715" y="9077960"/>
                    <a:pt x="0" y="9072245"/>
                    <a:pt x="0" y="90652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065260"/>
                  </a:lnTo>
                  <a:lnTo>
                    <a:pt x="12700" y="9065260"/>
                  </a:lnTo>
                  <a:lnTo>
                    <a:pt x="12700" y="9052560"/>
                  </a:lnTo>
                  <a:lnTo>
                    <a:pt x="159004" y="9052560"/>
                  </a:lnTo>
                  <a:lnTo>
                    <a:pt x="159004" y="9065260"/>
                  </a:lnTo>
                  <a:lnTo>
                    <a:pt x="146304" y="906526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132320" y="2167128"/>
            <a:ext cx="4800600" cy="464027"/>
            <a:chOff x="0" y="0"/>
            <a:chExt cx="6400800" cy="61870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00800" cy="618703"/>
            </a:xfrm>
            <a:custGeom>
              <a:avLst/>
              <a:gdLst/>
              <a:ahLst/>
              <a:cxnLst/>
              <a:rect r="r" b="b" t="t" l="l"/>
              <a:pathLst>
                <a:path h="618703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18703"/>
                  </a:lnTo>
                  <a:lnTo>
                    <a:pt x="0" y="618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068" r="0" b="-13409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6400800" cy="609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PEMBAHASAN UTAMA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132320" y="2715768"/>
            <a:ext cx="9258300" cy="3634740"/>
            <a:chOff x="0" y="0"/>
            <a:chExt cx="12344400" cy="48463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344400" cy="4846320"/>
            </a:xfrm>
            <a:custGeom>
              <a:avLst/>
              <a:gdLst/>
              <a:ahLst/>
              <a:cxnLst/>
              <a:rect r="r" b="b" t="t" l="l"/>
              <a:pathLst>
                <a:path h="4846320" w="12344400">
                  <a:moveTo>
                    <a:pt x="0" y="0"/>
                  </a:moveTo>
                  <a:lnTo>
                    <a:pt x="12344400" y="0"/>
                  </a:lnTo>
                  <a:lnTo>
                    <a:pt x="12344400" y="4846320"/>
                  </a:lnTo>
                  <a:lnTo>
                    <a:pt x="0" y="4846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1" t="0" r="-37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2344400" cy="4855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Setelah imputasi Mean, fitur dengan missing value tinggi seperti SkinThickness dan Insulin menjadi lebih terpusat di sekitar nilai rata-rata.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Kondisi ini menunjukkan keterbatasan Mean karena dapat mengurangi variasi data. Namun pada eksperimen ini, efek tersebut tidak menurunkan performa model.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 menghasilkan Accuracy 0.7857, Recall 0.6296, dan F1-Score 0.6733, sehingga paling konsisten dibanding metode lain.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Baseline Drop NA kurang efektif karena menghapus banyak baris, sementara KNN dan MICE tidak otomatis lebih baik meskipun lebih kompleks.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Kesimpulan eksperimen: metode sederhana tetap bisa menjadi pilihan terbaik jika hasil evaluasi model menunjukkan performa yang lebih stabil.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191375" y="6950583"/>
            <a:ext cx="9071610" cy="1178814"/>
            <a:chOff x="0" y="0"/>
            <a:chExt cx="12095480" cy="1571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2700" y="16692"/>
              <a:ext cx="12070080" cy="1538367"/>
            </a:xfrm>
            <a:custGeom>
              <a:avLst/>
              <a:gdLst/>
              <a:ahLst/>
              <a:cxnLst/>
              <a:rect r="r" b="b" t="t" l="l"/>
              <a:pathLst>
                <a:path h="1538367" w="12070080">
                  <a:moveTo>
                    <a:pt x="0" y="192296"/>
                  </a:moveTo>
                  <a:cubicBezTo>
                    <a:pt x="0" y="86133"/>
                    <a:pt x="66802" y="0"/>
                    <a:pt x="149225" y="0"/>
                  </a:cubicBezTo>
                  <a:lnTo>
                    <a:pt x="11920855" y="0"/>
                  </a:lnTo>
                  <a:cubicBezTo>
                    <a:pt x="12003278" y="0"/>
                    <a:pt x="12070080" y="86133"/>
                    <a:pt x="12070080" y="192296"/>
                  </a:cubicBezTo>
                  <a:lnTo>
                    <a:pt x="12070080" y="1346072"/>
                  </a:lnTo>
                  <a:cubicBezTo>
                    <a:pt x="12070080" y="1452235"/>
                    <a:pt x="12003278" y="1538368"/>
                    <a:pt x="11920855" y="1538368"/>
                  </a:cubicBezTo>
                  <a:lnTo>
                    <a:pt x="149225" y="1538368"/>
                  </a:lnTo>
                  <a:cubicBezTo>
                    <a:pt x="66802" y="1538368"/>
                    <a:pt x="0" y="1452235"/>
                    <a:pt x="0" y="1346072"/>
                  </a:cubicBezTo>
                  <a:close/>
                </a:path>
              </a:pathLst>
            </a:custGeom>
            <a:solidFill>
              <a:srgbClr val="ECFDF3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095480" cy="1571752"/>
            </a:xfrm>
            <a:custGeom>
              <a:avLst/>
              <a:gdLst/>
              <a:ahLst/>
              <a:cxnLst/>
              <a:rect r="r" b="b" t="t" l="l"/>
              <a:pathLst>
                <a:path h="1571752" w="12095480">
                  <a:moveTo>
                    <a:pt x="0" y="208988"/>
                  </a:moveTo>
                  <a:cubicBezTo>
                    <a:pt x="0" y="93310"/>
                    <a:pt x="72644" y="0"/>
                    <a:pt x="161925" y="0"/>
                  </a:cubicBezTo>
                  <a:lnTo>
                    <a:pt x="11933555" y="0"/>
                  </a:lnTo>
                  <a:lnTo>
                    <a:pt x="11933555" y="16692"/>
                  </a:lnTo>
                  <a:lnTo>
                    <a:pt x="11933555" y="0"/>
                  </a:lnTo>
                  <a:cubicBezTo>
                    <a:pt x="12022710" y="0"/>
                    <a:pt x="12095480" y="93310"/>
                    <a:pt x="12095480" y="208988"/>
                  </a:cubicBezTo>
                  <a:lnTo>
                    <a:pt x="12082780" y="208988"/>
                  </a:lnTo>
                  <a:lnTo>
                    <a:pt x="12095480" y="208988"/>
                  </a:lnTo>
                  <a:lnTo>
                    <a:pt x="12095480" y="1362764"/>
                  </a:lnTo>
                  <a:lnTo>
                    <a:pt x="12082780" y="1362764"/>
                  </a:lnTo>
                  <a:lnTo>
                    <a:pt x="12095480" y="1362764"/>
                  </a:lnTo>
                  <a:cubicBezTo>
                    <a:pt x="12095480" y="1478442"/>
                    <a:pt x="12022837" y="1571752"/>
                    <a:pt x="11933555" y="1571752"/>
                  </a:cubicBezTo>
                  <a:lnTo>
                    <a:pt x="11933555" y="1555060"/>
                  </a:lnTo>
                  <a:lnTo>
                    <a:pt x="11933555" y="1571752"/>
                  </a:lnTo>
                  <a:lnTo>
                    <a:pt x="161925" y="1571752"/>
                  </a:lnTo>
                  <a:lnTo>
                    <a:pt x="161925" y="1555060"/>
                  </a:lnTo>
                  <a:lnTo>
                    <a:pt x="161925" y="1571752"/>
                  </a:lnTo>
                  <a:cubicBezTo>
                    <a:pt x="72644" y="1571752"/>
                    <a:pt x="0" y="1478442"/>
                    <a:pt x="0" y="1362764"/>
                  </a:cubicBezTo>
                  <a:lnTo>
                    <a:pt x="0" y="208988"/>
                  </a:lnTo>
                  <a:lnTo>
                    <a:pt x="12700" y="208988"/>
                  </a:lnTo>
                  <a:lnTo>
                    <a:pt x="0" y="208988"/>
                  </a:lnTo>
                  <a:moveTo>
                    <a:pt x="25400" y="208988"/>
                  </a:moveTo>
                  <a:lnTo>
                    <a:pt x="25400" y="1362764"/>
                  </a:lnTo>
                  <a:lnTo>
                    <a:pt x="12700" y="1362764"/>
                  </a:lnTo>
                  <a:lnTo>
                    <a:pt x="25400" y="1362764"/>
                  </a:lnTo>
                  <a:cubicBezTo>
                    <a:pt x="25400" y="1459412"/>
                    <a:pt x="86233" y="1538367"/>
                    <a:pt x="161925" y="1538367"/>
                  </a:cubicBezTo>
                  <a:lnTo>
                    <a:pt x="11933555" y="1538367"/>
                  </a:lnTo>
                  <a:cubicBezTo>
                    <a:pt x="12009120" y="1538367"/>
                    <a:pt x="12070080" y="1459412"/>
                    <a:pt x="12070080" y="1362764"/>
                  </a:cubicBezTo>
                  <a:lnTo>
                    <a:pt x="12070080" y="208988"/>
                  </a:lnTo>
                  <a:cubicBezTo>
                    <a:pt x="12070080" y="112340"/>
                    <a:pt x="12009247" y="33385"/>
                    <a:pt x="11933555" y="33385"/>
                  </a:cubicBezTo>
                  <a:lnTo>
                    <a:pt x="161925" y="33385"/>
                  </a:lnTo>
                  <a:lnTo>
                    <a:pt x="161925" y="16692"/>
                  </a:lnTo>
                  <a:lnTo>
                    <a:pt x="161925" y="33385"/>
                  </a:lnTo>
                  <a:cubicBezTo>
                    <a:pt x="86233" y="33385"/>
                    <a:pt x="25400" y="112340"/>
                    <a:pt x="25400" y="208988"/>
                  </a:cubicBezTo>
                  <a:close/>
                </a:path>
              </a:pathLst>
            </a:custGeom>
            <a:solidFill>
              <a:srgbClr val="BAF0D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612380" y="7226193"/>
            <a:ext cx="8229600" cy="578211"/>
            <a:chOff x="0" y="0"/>
            <a:chExt cx="10972800" cy="7709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0" cy="770948"/>
            </a:xfrm>
            <a:custGeom>
              <a:avLst/>
              <a:gdLst/>
              <a:ahLst/>
              <a:cxnLst/>
              <a:rect r="r" b="b" t="t" l="l"/>
              <a:pathLst>
                <a:path h="77094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0948"/>
                  </a:lnTo>
                  <a:lnTo>
                    <a:pt x="0" y="7709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234" r="0" b="-20342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0972800" cy="770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Rekomendasi: Mean Imputation digunakan sebagai metode imputasi utama untuk skenario dataset ini.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213580" y="9710928"/>
            <a:ext cx="411480" cy="342900"/>
            <a:chOff x="0" y="0"/>
            <a:chExt cx="548640" cy="457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864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486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73430" y="9710928"/>
            <a:ext cx="10972800" cy="315468"/>
            <a:chOff x="0" y="0"/>
            <a:chExt cx="14630400" cy="4206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63040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10" r="0" b="-61687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463040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Penambangan Data IF-32025 • Kelompok 05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1270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B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13728700"/>
                  </a:lnTo>
                  <a:cubicBezTo>
                    <a:pt x="24408764" y="13735686"/>
                    <a:pt x="24403050" y="13741400"/>
                    <a:pt x="24396064" y="13741400"/>
                  </a:cubicBezTo>
                  <a:lnTo>
                    <a:pt x="12700" y="13741400"/>
                  </a:lnTo>
                  <a:cubicBezTo>
                    <a:pt x="5715" y="13741400"/>
                    <a:pt x="0" y="13735686"/>
                    <a:pt x="0" y="13728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3728700"/>
                  </a:lnTo>
                  <a:lnTo>
                    <a:pt x="12700" y="13728700"/>
                  </a:lnTo>
                  <a:lnTo>
                    <a:pt x="12700" y="13716000"/>
                  </a:lnTo>
                  <a:lnTo>
                    <a:pt x="24396064" y="13716000"/>
                  </a:lnTo>
                  <a:lnTo>
                    <a:pt x="24396064" y="13728700"/>
                  </a:lnTo>
                  <a:lnTo>
                    <a:pt x="24383364" y="13728700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7FB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9525" y="-9525"/>
            <a:ext cx="18306593" cy="211074"/>
            <a:chOff x="0" y="0"/>
            <a:chExt cx="24408790" cy="2814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3364" cy="256032"/>
            </a:xfrm>
            <a:custGeom>
              <a:avLst/>
              <a:gdLst/>
              <a:ahLst/>
              <a:cxnLst/>
              <a:rect r="r" b="b" t="t" l="l"/>
              <a:pathLst>
                <a:path h="256032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256032"/>
                  </a:lnTo>
                  <a:lnTo>
                    <a:pt x="0" y="25603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8764" cy="281432"/>
            </a:xfrm>
            <a:custGeom>
              <a:avLst/>
              <a:gdLst/>
              <a:ahLst/>
              <a:cxnLst/>
              <a:rect r="r" b="b" t="t" l="l"/>
              <a:pathLst>
                <a:path h="281432" w="24408764">
                  <a:moveTo>
                    <a:pt x="12700" y="0"/>
                  </a:moveTo>
                  <a:lnTo>
                    <a:pt x="24396064" y="0"/>
                  </a:lnTo>
                  <a:cubicBezTo>
                    <a:pt x="24403050" y="0"/>
                    <a:pt x="24408764" y="5715"/>
                    <a:pt x="24408764" y="12700"/>
                  </a:cubicBezTo>
                  <a:lnTo>
                    <a:pt x="24408764" y="268732"/>
                  </a:lnTo>
                  <a:cubicBezTo>
                    <a:pt x="24408764" y="275717"/>
                    <a:pt x="24403050" y="281432"/>
                    <a:pt x="24396064" y="281432"/>
                  </a:cubicBezTo>
                  <a:lnTo>
                    <a:pt x="12700" y="281432"/>
                  </a:lnTo>
                  <a:cubicBezTo>
                    <a:pt x="5715" y="281432"/>
                    <a:pt x="0" y="275717"/>
                    <a:pt x="0" y="268732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8732"/>
                  </a:lnTo>
                  <a:lnTo>
                    <a:pt x="12700" y="268732"/>
                  </a:lnTo>
                  <a:lnTo>
                    <a:pt x="12700" y="256032"/>
                  </a:lnTo>
                  <a:lnTo>
                    <a:pt x="24396064" y="256032"/>
                  </a:lnTo>
                  <a:lnTo>
                    <a:pt x="24396064" y="268732"/>
                  </a:lnTo>
                  <a:lnTo>
                    <a:pt x="24383364" y="268732"/>
                  </a:lnTo>
                  <a:lnTo>
                    <a:pt x="24383364" y="12700"/>
                  </a:lnTo>
                  <a:lnTo>
                    <a:pt x="24396064" y="12700"/>
                  </a:lnTo>
                  <a:lnTo>
                    <a:pt x="2439606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15235" y="-1518285"/>
            <a:ext cx="4682490" cy="4682490"/>
            <a:chOff x="0" y="0"/>
            <a:chExt cx="6243320" cy="6243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  <a:lnTo>
                    <a:pt x="0" y="3108960"/>
                  </a:lnTo>
                  <a:close/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21660" y="1270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cubicBezTo>
                    <a:pt x="1717040" y="0"/>
                    <a:pt x="3108960" y="1391920"/>
                    <a:pt x="3108960" y="3108960"/>
                  </a:cubicBezTo>
                </a:path>
              </a:pathLst>
            </a:custGeom>
            <a:solidFill>
              <a:srgbClr val="BFE7FF">
                <a:alpha val="1568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108960" y="0"/>
              <a:ext cx="3134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313436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736725" y="0"/>
                    <a:pt x="3134360" y="1397635"/>
                    <a:pt x="3134360" y="3121660"/>
                  </a:cubicBezTo>
                  <a:cubicBezTo>
                    <a:pt x="3134360" y="3128645"/>
                    <a:pt x="3128645" y="3134360"/>
                    <a:pt x="3121660" y="3134360"/>
                  </a:cubicBezTo>
                  <a:lnTo>
                    <a:pt x="12700" y="3134360"/>
                  </a:lnTo>
                  <a:cubicBezTo>
                    <a:pt x="5715" y="3134360"/>
                    <a:pt x="0" y="3128645"/>
                    <a:pt x="0" y="312166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1660"/>
                  </a:lnTo>
                  <a:lnTo>
                    <a:pt x="12700" y="3121660"/>
                  </a:lnTo>
                  <a:lnTo>
                    <a:pt x="12700" y="3108960"/>
                  </a:lnTo>
                  <a:lnTo>
                    <a:pt x="3121660" y="3108960"/>
                  </a:lnTo>
                  <a:lnTo>
                    <a:pt x="3121660" y="3121660"/>
                  </a:lnTo>
                  <a:lnTo>
                    <a:pt x="3108960" y="3121660"/>
                  </a:lnTo>
                  <a:cubicBezTo>
                    <a:pt x="3108960" y="1411605"/>
                    <a:pt x="1722755" y="25400"/>
                    <a:pt x="1270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121660" y="0"/>
              <a:ext cx="3121660" cy="3121660"/>
            </a:xfrm>
            <a:custGeom>
              <a:avLst/>
              <a:gdLst/>
              <a:ahLst/>
              <a:cxnLst/>
              <a:rect r="r" b="b" t="t" l="l"/>
              <a:pathLst>
                <a:path h="3121660" w="312166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724025" y="0"/>
                    <a:pt x="3121660" y="1397635"/>
                    <a:pt x="3121660" y="3121660"/>
                  </a:cubicBezTo>
                  <a:lnTo>
                    <a:pt x="3096260" y="3121660"/>
                  </a:lnTo>
                  <a:cubicBezTo>
                    <a:pt x="3096260" y="1411605"/>
                    <a:pt x="1710055" y="25400"/>
                    <a:pt x="0" y="25400"/>
                  </a:cubicBezTo>
                  <a:close/>
                </a:path>
              </a:pathLst>
            </a:custGeom>
            <a:solidFill>
              <a:srgbClr val="BFE7FF">
                <a:alpha val="24706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-1655445" y="7945755"/>
            <a:ext cx="4408170" cy="4408170"/>
            <a:chOff x="0" y="0"/>
            <a:chExt cx="5877560" cy="5877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  <a:lnTo>
                    <a:pt x="0" y="2926080"/>
                  </a:lnTo>
                  <a:close/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938780" y="1270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cubicBezTo>
                    <a:pt x="1616075" y="0"/>
                    <a:pt x="2926080" y="1310005"/>
                    <a:pt x="2926080" y="2926080"/>
                  </a:cubicBezTo>
                </a:path>
              </a:pathLst>
            </a:custGeom>
            <a:solidFill>
              <a:srgbClr val="DDF8F2">
                <a:alpha val="1568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26080" y="0"/>
              <a:ext cx="29514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951480">
                  <a:moveTo>
                    <a:pt x="12700" y="0"/>
                  </a:moveTo>
                  <a:lnTo>
                    <a:pt x="12700" y="12700"/>
                  </a:lnTo>
                  <a:lnTo>
                    <a:pt x="12700" y="0"/>
                  </a:lnTo>
                  <a:cubicBezTo>
                    <a:pt x="1635760" y="0"/>
                    <a:pt x="2951480" y="1315720"/>
                    <a:pt x="2951480" y="2938780"/>
                  </a:cubicBezTo>
                  <a:cubicBezTo>
                    <a:pt x="2951480" y="2945765"/>
                    <a:pt x="2945765" y="2951480"/>
                    <a:pt x="2938780" y="2951480"/>
                  </a:cubicBezTo>
                  <a:lnTo>
                    <a:pt x="12700" y="2951480"/>
                  </a:lnTo>
                  <a:cubicBezTo>
                    <a:pt x="5715" y="2951480"/>
                    <a:pt x="0" y="2945765"/>
                    <a:pt x="0" y="2938780"/>
                  </a:cubicBezTo>
                  <a:lnTo>
                    <a:pt x="0" y="12700"/>
                  </a:lnTo>
                  <a:cubicBezTo>
                    <a:pt x="0" y="9271"/>
                    <a:pt x="1397" y="6096"/>
                    <a:pt x="3683" y="3683"/>
                  </a:cubicBezTo>
                  <a:cubicBezTo>
                    <a:pt x="5969" y="1270"/>
                    <a:pt x="9271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938780"/>
                  </a:lnTo>
                  <a:lnTo>
                    <a:pt x="12700" y="2938780"/>
                  </a:lnTo>
                  <a:lnTo>
                    <a:pt x="12700" y="2926080"/>
                  </a:lnTo>
                  <a:lnTo>
                    <a:pt x="2938780" y="2926080"/>
                  </a:lnTo>
                  <a:lnTo>
                    <a:pt x="2938780" y="2938780"/>
                  </a:lnTo>
                  <a:lnTo>
                    <a:pt x="2926080" y="2938780"/>
                  </a:lnTo>
                  <a:cubicBezTo>
                    <a:pt x="2926080" y="1329817"/>
                    <a:pt x="1621663" y="25400"/>
                    <a:pt x="1270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38780" y="0"/>
              <a:ext cx="2938780" cy="2938780"/>
            </a:xfrm>
            <a:custGeom>
              <a:avLst/>
              <a:gdLst/>
              <a:ahLst/>
              <a:cxnLst/>
              <a:rect r="r" b="b" t="t" l="l"/>
              <a:pathLst>
                <a:path h="2938780" w="2938780">
                  <a:moveTo>
                    <a:pt x="0" y="0"/>
                  </a:moveTo>
                  <a:lnTo>
                    <a:pt x="0" y="12700"/>
                  </a:lnTo>
                  <a:lnTo>
                    <a:pt x="0" y="0"/>
                  </a:lnTo>
                  <a:cubicBezTo>
                    <a:pt x="1623060" y="0"/>
                    <a:pt x="2938780" y="1315720"/>
                    <a:pt x="2938780" y="2938780"/>
                  </a:cubicBezTo>
                  <a:lnTo>
                    <a:pt x="2913380" y="2938780"/>
                  </a:lnTo>
                  <a:cubicBezTo>
                    <a:pt x="2913380" y="1329817"/>
                    <a:pt x="1608963" y="25400"/>
                    <a:pt x="0" y="25400"/>
                  </a:cubicBezTo>
                  <a:close/>
                </a:path>
              </a:pathLst>
            </a:custGeom>
            <a:solidFill>
              <a:srgbClr val="DDF8F2">
                <a:alpha val="3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1988820"/>
            <a:ext cx="6858000" cy="2373696"/>
            <a:chOff x="0" y="0"/>
            <a:chExt cx="9144000" cy="31649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3164929"/>
            </a:xfrm>
            <a:custGeom>
              <a:avLst/>
              <a:gdLst/>
              <a:ahLst/>
              <a:cxnLst/>
              <a:rect r="r" b="b" t="t" l="l"/>
              <a:pathLst>
                <a:path h="3164929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164929"/>
                  </a:lnTo>
                  <a:lnTo>
                    <a:pt x="0" y="31649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8" r="0" b="36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9144000" cy="31649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399"/>
                </a:lnSpc>
              </a:pPr>
              <a:r>
                <a:rPr lang="en-US" sz="6999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TERIMA</a:t>
              </a:r>
            </a:p>
            <a:p>
              <a:pPr algn="l">
                <a:lnSpc>
                  <a:spcPts val="8399"/>
                </a:lnSpc>
              </a:pPr>
              <a:r>
                <a:rPr lang="en-US" sz="6999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KASIH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9848" y="4416552"/>
            <a:ext cx="9326880" cy="960120"/>
            <a:chOff x="0" y="0"/>
            <a:chExt cx="12435840" cy="1280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4358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2435840" cy="1270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Perbandingan Metode Imputasi Missing Value</a:t>
              </a:r>
            </a:p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terhadap Kinerja Model Klasifikasi pada Dataset Diabetes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37595" y="2116455"/>
            <a:ext cx="5368290" cy="5368290"/>
            <a:chOff x="0" y="0"/>
            <a:chExt cx="7157720" cy="7157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7132320" cy="7132320"/>
            </a:xfrm>
            <a:custGeom>
              <a:avLst/>
              <a:gdLst/>
              <a:ahLst/>
              <a:cxnLst/>
              <a:rect r="r" b="b" t="t" l="l"/>
              <a:pathLst>
                <a:path h="713232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6986016"/>
                  </a:lnTo>
                  <a:cubicBezTo>
                    <a:pt x="7132320" y="7066788"/>
                    <a:pt x="7066788" y="7132320"/>
                    <a:pt x="6986016" y="7132320"/>
                  </a:cubicBezTo>
                  <a:lnTo>
                    <a:pt x="146304" y="7132320"/>
                  </a:lnTo>
                  <a:cubicBezTo>
                    <a:pt x="65532" y="7132320"/>
                    <a:pt x="0" y="7066788"/>
                    <a:pt x="0" y="69860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57720" cy="7157720"/>
            </a:xfrm>
            <a:custGeom>
              <a:avLst/>
              <a:gdLst/>
              <a:ahLst/>
              <a:cxnLst/>
              <a:rect r="r" b="b" t="t" l="l"/>
              <a:pathLst>
                <a:path h="7157720" w="7157720">
                  <a:moveTo>
                    <a:pt x="0" y="159004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998716" y="0"/>
                  </a:lnTo>
                  <a:lnTo>
                    <a:pt x="6998716" y="12700"/>
                  </a:lnTo>
                  <a:lnTo>
                    <a:pt x="6998716" y="0"/>
                  </a:lnTo>
                  <a:cubicBezTo>
                    <a:pt x="7086600" y="0"/>
                    <a:pt x="7157720" y="71120"/>
                    <a:pt x="7157720" y="159004"/>
                  </a:cubicBezTo>
                  <a:lnTo>
                    <a:pt x="7145020" y="159004"/>
                  </a:lnTo>
                  <a:lnTo>
                    <a:pt x="7157720" y="159004"/>
                  </a:lnTo>
                  <a:lnTo>
                    <a:pt x="7157720" y="6998716"/>
                  </a:lnTo>
                  <a:lnTo>
                    <a:pt x="7145020" y="6998716"/>
                  </a:lnTo>
                  <a:lnTo>
                    <a:pt x="7157720" y="6998716"/>
                  </a:lnTo>
                  <a:cubicBezTo>
                    <a:pt x="7157720" y="7086473"/>
                    <a:pt x="7086600" y="7157720"/>
                    <a:pt x="6998715" y="7157720"/>
                  </a:cubicBezTo>
                  <a:lnTo>
                    <a:pt x="6998715" y="7145020"/>
                  </a:lnTo>
                  <a:lnTo>
                    <a:pt x="6998715" y="7157720"/>
                  </a:lnTo>
                  <a:lnTo>
                    <a:pt x="159004" y="7157720"/>
                  </a:lnTo>
                  <a:lnTo>
                    <a:pt x="159004" y="7145020"/>
                  </a:lnTo>
                  <a:lnTo>
                    <a:pt x="159004" y="7157720"/>
                  </a:lnTo>
                  <a:cubicBezTo>
                    <a:pt x="71120" y="7157720"/>
                    <a:pt x="0" y="7086600"/>
                    <a:pt x="0" y="6998716"/>
                  </a:cubicBezTo>
                  <a:lnTo>
                    <a:pt x="0" y="159004"/>
                  </a:lnTo>
                  <a:lnTo>
                    <a:pt x="12700" y="159004"/>
                  </a:lnTo>
                  <a:lnTo>
                    <a:pt x="0" y="159004"/>
                  </a:lnTo>
                  <a:moveTo>
                    <a:pt x="25400" y="159004"/>
                  </a:moveTo>
                  <a:lnTo>
                    <a:pt x="25400" y="6998716"/>
                  </a:lnTo>
                  <a:lnTo>
                    <a:pt x="12700" y="6998716"/>
                  </a:lnTo>
                  <a:lnTo>
                    <a:pt x="25400" y="6998716"/>
                  </a:lnTo>
                  <a:cubicBezTo>
                    <a:pt x="25400" y="7072503"/>
                    <a:pt x="85217" y="7132320"/>
                    <a:pt x="159004" y="7132320"/>
                  </a:cubicBezTo>
                  <a:lnTo>
                    <a:pt x="6998716" y="7132320"/>
                  </a:lnTo>
                  <a:cubicBezTo>
                    <a:pt x="7072503" y="7132320"/>
                    <a:pt x="7132320" y="7072503"/>
                    <a:pt x="7132320" y="6998716"/>
                  </a:cubicBezTo>
                  <a:lnTo>
                    <a:pt x="7132320" y="159004"/>
                  </a:lnTo>
                  <a:cubicBezTo>
                    <a:pt x="7132320" y="85217"/>
                    <a:pt x="7072503" y="25400"/>
                    <a:pt x="6998716" y="25400"/>
                  </a:cubicBezTo>
                  <a:lnTo>
                    <a:pt x="159004" y="25400"/>
                  </a:lnTo>
                  <a:lnTo>
                    <a:pt x="159004" y="12700"/>
                  </a:lnTo>
                  <a:lnTo>
                    <a:pt x="159004" y="25400"/>
                  </a:lnTo>
                  <a:cubicBezTo>
                    <a:pt x="85217" y="25400"/>
                    <a:pt x="25400" y="85217"/>
                    <a:pt x="25400" y="159004"/>
                  </a:cubicBez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237595" y="2116455"/>
            <a:ext cx="128778" cy="5368290"/>
            <a:chOff x="0" y="0"/>
            <a:chExt cx="171704" cy="7157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146304" cy="7132320"/>
            </a:xfrm>
            <a:custGeom>
              <a:avLst/>
              <a:gdLst/>
              <a:ahLst/>
              <a:cxnLst/>
              <a:rect r="r" b="b" t="t" l="l"/>
              <a:pathLst>
                <a:path h="71323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132320"/>
                  </a:lnTo>
                  <a:lnTo>
                    <a:pt x="0" y="7132320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1704" cy="7157720"/>
            </a:xfrm>
            <a:custGeom>
              <a:avLst/>
              <a:gdLst/>
              <a:ahLst/>
              <a:cxnLst/>
              <a:rect r="r" b="b" t="t" l="l"/>
              <a:pathLst>
                <a:path h="7157720" w="171704">
                  <a:moveTo>
                    <a:pt x="12700" y="0"/>
                  </a:moveTo>
                  <a:lnTo>
                    <a:pt x="159004" y="0"/>
                  </a:lnTo>
                  <a:cubicBezTo>
                    <a:pt x="165989" y="0"/>
                    <a:pt x="171704" y="5715"/>
                    <a:pt x="171704" y="12700"/>
                  </a:cubicBezTo>
                  <a:lnTo>
                    <a:pt x="171704" y="7145020"/>
                  </a:lnTo>
                  <a:cubicBezTo>
                    <a:pt x="171704" y="7152005"/>
                    <a:pt x="165989" y="7157720"/>
                    <a:pt x="159004" y="7157720"/>
                  </a:cubicBezTo>
                  <a:lnTo>
                    <a:pt x="12700" y="7157720"/>
                  </a:lnTo>
                  <a:cubicBezTo>
                    <a:pt x="5715" y="7157720"/>
                    <a:pt x="0" y="7152005"/>
                    <a:pt x="0" y="71450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145020"/>
                  </a:lnTo>
                  <a:lnTo>
                    <a:pt x="12700" y="7145020"/>
                  </a:lnTo>
                  <a:lnTo>
                    <a:pt x="12700" y="7132320"/>
                  </a:lnTo>
                  <a:lnTo>
                    <a:pt x="159004" y="7132320"/>
                  </a:lnTo>
                  <a:lnTo>
                    <a:pt x="159004" y="7145020"/>
                  </a:lnTo>
                  <a:lnTo>
                    <a:pt x="146304" y="7145020"/>
                  </a:lnTo>
                  <a:lnTo>
                    <a:pt x="146304" y="12700"/>
                  </a:lnTo>
                  <a:lnTo>
                    <a:pt x="159004" y="12700"/>
                  </a:lnTo>
                  <a:lnTo>
                    <a:pt x="1590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746230" y="4231386"/>
            <a:ext cx="4251960" cy="464027"/>
            <a:chOff x="0" y="0"/>
            <a:chExt cx="5669280" cy="6187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69280" cy="618703"/>
            </a:xfrm>
            <a:custGeom>
              <a:avLst/>
              <a:gdLst/>
              <a:ahLst/>
              <a:cxnLst/>
              <a:rect r="r" b="b" t="t" l="l"/>
              <a:pathLst>
                <a:path h="618703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618703"/>
                  </a:lnTo>
                  <a:lnTo>
                    <a:pt x="0" y="618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162" r="0" b="-1199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5669280" cy="609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23C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Mining IF-32025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746230" y="4848606"/>
            <a:ext cx="4251960" cy="713232"/>
            <a:chOff x="0" y="0"/>
            <a:chExt cx="5669280" cy="9509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69280" cy="950976"/>
            </a:xfrm>
            <a:custGeom>
              <a:avLst/>
              <a:gdLst/>
              <a:ahLst/>
              <a:cxnLst/>
              <a:rect r="r" b="b" t="t" l="l"/>
              <a:pathLst>
                <a:path h="95097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160" r="0" b="-6616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66928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Kelompok 05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Semester 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060555" y="4763643"/>
            <a:ext cx="3585210" cy="19050"/>
            <a:chOff x="0" y="0"/>
            <a:chExt cx="4780280" cy="25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2700" y="0"/>
              <a:ext cx="4754880" cy="25400"/>
            </a:xfrm>
            <a:custGeom>
              <a:avLst/>
              <a:gdLst/>
              <a:ahLst/>
              <a:cxnLst/>
              <a:rect r="r" b="b" t="t" l="l"/>
              <a:pathLst>
                <a:path h="254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9E7F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73430" y="9710928"/>
            <a:ext cx="10972800" cy="315468"/>
            <a:chOff x="0" y="0"/>
            <a:chExt cx="14630400" cy="4206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0" cy="420624"/>
            </a:xfrm>
            <a:custGeom>
              <a:avLst/>
              <a:gdLst/>
              <a:ahLst/>
              <a:cxnLst/>
              <a:rect r="r" b="b" t="t" l="l"/>
              <a:pathLst>
                <a:path h="42062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8610" r="0" b="-61687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4630400" cy="4301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Penambangan Data IF-32025 • Kelompok 05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213580" y="9710928"/>
            <a:ext cx="411480" cy="342900"/>
            <a:chOff x="0" y="0"/>
            <a:chExt cx="548640" cy="457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864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4864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30"/>
                </a:lnSpc>
              </a:pPr>
              <a:r>
                <a:rPr lang="en-US" sz="127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DAHJ8jsZAyo</dc:identifier>
  <dcterms:modified xsi:type="dcterms:W3CDTF">2011-08-01T06:04:30Z</dcterms:modified>
  <cp:revision>1</cp:revision>
  <dc:title>Perbandingan Metode Imputasi Missing Value Dataset Diabetes</dc:title>
</cp:coreProperties>
</file>